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subtitle out loud as your first sentence. Do not introduce yourselves first — lead with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the dataset yet. The only message on this slide is: there is plenty of demand signal. Their number, not ours, and we recomputed it from the raw register rather than citing an analysis of it. Do not round to 'about a third' — the precision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problem statement and the most important slide for a government judge. Never open by criticising the municipality — they will resent it and the data does not support it. Say the phrase: the repair system works, the order is wrong. Trap: these are streetlight-only ward counts, not all-category. Do not mix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leap and the whole project rests on it. Say the two lines and pause. Then: darkness per segment is a quantity you can estimate; lamp inventory is an enumeration you cannot obtain — and BBMP does not have one either, their complaint records carry no coordinates and no pole IDs. Do not explain the inputs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no technical text here. Three decisions, one estimate. The duality line at the bottom is the strongest intellectual point in the deck and it costs one sentence: use footfall with the same sign in both and your router confidently sends a woman down an empty, brightly lit industrial road at one in the morning. Jane Jacobs, eyes on the street. Full architecture is in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Land on the number, pause, then volunteer the 1.9x floor BEFORE anyone asks for it. The last line is the thesis of the whole project — say it slowly. Do not recite all four stress tests unless challenged; they are in Appendix A. If pushed: 4.9x against the luckiest of 300 draws, 6.4x restricted to wards where we hold lamp labels, 5.4x with every lamp label deleted. The grievance file has no coordinates, so the baseline is Monte-Carlo'd over 300 draws — wards in complaint order, target inside the ward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 BBMP executive engineer would open on a Monday. Demonstrate, do not explain. Drag the budget slider so they see the ratio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to walk on ground we actually have data for. Then say the bypass finding slowly — it is the measured answer to 'why not just build a safer-route app', and it is why the queue is the hero and this screen is secondary. Full bypass statistics in Appendix B. Real geography if you want it: Haralur Road in Bellandur carries the widest confidence band in the corridor — no mapped lamps, almost no night bus service, zero streetlight complaints in the ward file. The router will not send you down it. The report screen sends you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pre-answers the hardest question we get — what does it do on day one with no data — before it is asked. If there is time: our first targeting rule asked about the streets we knew least, and measured, it lost to random, because those are streets no crew would ever be sent to. The rule that works asks about streets whose optimistic darkness estimate would put them in the repair queue if it turned out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question is about validation, not features — that is the author telling you where the marks are. Lead with the null, then the bug, then the corrected number, in that order. Do NOT hide the 0.03: it is what makes the 0.30 believable. One honesty note if asked about weights: the exposure blend leans structural at 0.75. On the broken numbers that looked like a finding. On the corrected numbers it is a choice, made because the problem statement names late-night commuters. Call it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a limitation is worth more than defending one. Left is what we measured rather than chose; right is what we get wrong. Say the right-hand column briskly — thirty seconds — and do not dwell. Tone is command of the material, not confession. Full evidence weights and the transition matrix are in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then the number, then stop talking. It reframes the missing data from a weakness into a call to action, and it is true. If asked what another week buys, answer with what you would try to LEARN, not with features: mine the crash PDFs to close the criterion leg, run stratified field counts, fit the transfer model across different urban form, and instrument the resolution loop so the system can ask 'closed, or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It exists so any number a judge asks about can be found in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either. It is the answer to 'how does the darkness model actually work' and to 'show me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0B0E1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40080" y="2606040"/>
            <a:ext cx="8229600" cy="1371600"/>
          </a:xfrm>
          <a:prstGeom prst="rect">
            <a:avLst/>
          </a:prstGeom>
          <a:noFill/>
          <a:ln/>
        </p:spPr>
        <p:txBody>
          <a:bodyPr wrap="square" lIns="0" tIns="0" rIns="0" bIns="0" rtlCol="0" anchor="ctr"/>
          <a:lstStyle/>
          <a:p>
            <a:pPr indent="0" marL="0">
              <a:buNone/>
            </a:pPr>
            <a:r>
              <a:rPr lang="en-US" sz="8800" b="1" spc="600" kern="0" dirty="0">
                <a:solidFill>
                  <a:srgbClr val="E8EBF0"/>
                </a:solidFill>
                <a:latin typeface="Arial" pitchFamily="34" charset="0"/>
                <a:ea typeface="Arial" pitchFamily="34" charset="-122"/>
                <a:cs typeface="Arial" pitchFamily="34" charset="-120"/>
              </a:rPr>
              <a:t>ROSHNI</a:t>
            </a:r>
            <a:endParaRPr lang="en-US" sz="8800" dirty="0"/>
          </a:p>
        </p:txBody>
      </p:sp>
      <p:sp>
        <p:nvSpPr>
          <p:cNvPr id="4" name="Text 1"/>
          <p:cNvSpPr/>
          <p:nvPr/>
        </p:nvSpPr>
        <p:spPr>
          <a:xfrm>
            <a:off x="640080" y="3986784"/>
            <a:ext cx="8778240" cy="457200"/>
          </a:xfrm>
          <a:prstGeom prst="rect">
            <a:avLst/>
          </a:prstGeom>
          <a:noFill/>
          <a:ln/>
        </p:spPr>
        <p:txBody>
          <a:bodyPr wrap="square" lIns="0" tIns="0" rIns="0" bIns="0" rtlCol="0" anchor="ctr"/>
          <a:lstStyle/>
          <a:p>
            <a:pPr indent="0" marL="0">
              <a:buNone/>
            </a:pPr>
            <a:r>
              <a:rPr lang="en-US" sz="2200" dirty="0">
                <a:solidFill>
                  <a:srgbClr val="F2A93B"/>
                </a:solidFill>
                <a:latin typeface="Arial" pitchFamily="34" charset="0"/>
                <a:ea typeface="Arial" pitchFamily="34" charset="-122"/>
                <a:cs typeface="Arial" pitchFamily="34" charset="-120"/>
              </a:rPr>
              <a:t>The streetlight repair queue, reordered by who is actually walking.</a:t>
            </a:r>
            <a:endParaRPr lang="en-US" sz="2200" dirty="0"/>
          </a:p>
        </p:txBody>
      </p:sp>
      <p:sp>
        <p:nvSpPr>
          <p:cNvPr id="5" name="Text 2"/>
          <p:cNvSpPr/>
          <p:nvPr/>
        </p:nvSpPr>
        <p:spPr>
          <a:xfrm>
            <a:off x="640080" y="6272784"/>
            <a:ext cx="9144000" cy="320040"/>
          </a:xfrm>
          <a:prstGeom prst="rect">
            <a:avLst/>
          </a:prstGeom>
          <a:noFill/>
          <a:ln/>
        </p:spPr>
        <p:txBody>
          <a:bodyPr wrap="square" lIns="0" tIns="0" rIns="0" bIns="0" rtlCol="0" anchor="ctr"/>
          <a:lstStyle/>
          <a:p>
            <a:pPr indent="0" marL="0">
              <a:buNone/>
            </a:pPr>
            <a:r>
              <a:rPr lang="en-US" sz="1300" dirty="0">
                <a:solidFill>
                  <a:srgbClr val="8A94A6"/>
                </a:solidFill>
                <a:latin typeface="Arial" pitchFamily="34" charset="0"/>
                <a:ea typeface="Arial" pitchFamily="34" charset="-122"/>
                <a:cs typeface="Arial" pitchFamily="34" charset="-120"/>
              </a:rPr>
              <a:t>Problem Statement 17   ·   Smart Cities: Night-Safety Dark-Zone Mapper   ·   Bengaluru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240" kern="0" dirty="0">
                <a:solidFill>
                  <a:srgbClr val="8A94A6"/>
                </a:solidFill>
                <a:latin typeface="Arial" pitchFamily="34" charset="0"/>
                <a:ea typeface="Arial" pitchFamily="34" charset="-122"/>
                <a:cs typeface="Arial" pitchFamily="34" charset="-120"/>
              </a:rPr>
              <a:t>THE CITY ALREADY KNOWS WHERE LIGHTS ARE REPORTED BROKEN</a:t>
            </a:r>
            <a:endParaRPr lang="en-US" sz="1200" dirty="0"/>
          </a:p>
        </p:txBody>
      </p:sp>
      <p:sp>
        <p:nvSpPr>
          <p:cNvPr id="4" name="Text 1"/>
          <p:cNvSpPr/>
          <p:nvPr/>
        </p:nvSpPr>
        <p:spPr>
          <a:xfrm>
            <a:off x="640080" y="914400"/>
            <a:ext cx="6766560" cy="2011680"/>
          </a:xfrm>
          <a:prstGeom prst="rect">
            <a:avLst/>
          </a:prstGeom>
          <a:noFill/>
          <a:ln/>
        </p:spPr>
        <p:txBody>
          <a:bodyPr wrap="none" lIns="0" tIns="0" rIns="0" bIns="0" rtlCol="0" anchor="b"/>
          <a:lstStyle/>
          <a:p>
            <a:pPr algn="l" indent="0" marL="0">
              <a:buNone/>
            </a:pPr>
            <a:r>
              <a:rPr lang="en-US" sz="12600" b="1" dirty="0">
                <a:solidFill>
                  <a:srgbClr val="F2A93B"/>
                </a:solidFill>
                <a:latin typeface="Arial" pitchFamily="34" charset="0"/>
                <a:ea typeface="Arial" pitchFamily="34" charset="-122"/>
                <a:cs typeface="Arial" pitchFamily="34" charset="-120"/>
              </a:rPr>
              <a:t>39,847</a:t>
            </a:r>
            <a:pPr algn="l" indent="0" marL="0">
              <a:buNone/>
            </a:pPr>
            <a:endParaRPr lang="en-US" sz="12600" dirty="0"/>
          </a:p>
        </p:txBody>
      </p:sp>
      <p:sp>
        <p:nvSpPr>
          <p:cNvPr id="5" name="Text 2"/>
          <p:cNvSpPr/>
          <p:nvPr/>
        </p:nvSpPr>
        <p:spPr>
          <a:xfrm>
            <a:off x="640080" y="3054096"/>
            <a:ext cx="4846320" cy="2651760"/>
          </a:xfrm>
          <a:prstGeom prst="rect">
            <a:avLst/>
          </a:prstGeom>
          <a:noFill/>
          <a:ln/>
        </p:spPr>
        <p:txBody>
          <a:bodyPr wrap="square" lIns="0" tIns="0" rIns="0" bIns="0" rtlCol="0" anchor="t"/>
          <a:lstStyle/>
          <a:p>
            <a:pPr indent="0" marL="0">
              <a:lnSpc>
                <a:spcPts val="2400"/>
              </a:lnSpc>
              <a:buNone/>
            </a:pPr>
            <a:r>
              <a:rPr lang="en-US" sz="1650" dirty="0">
                <a:solidFill>
                  <a:srgbClr val="E8EBF0"/>
                </a:solidFill>
                <a:latin typeface="Arial" pitchFamily="34" charset="0"/>
                <a:ea typeface="Arial" pitchFamily="34" charset="-122"/>
                <a:cs typeface="Arial" pitchFamily="34" charset="-120"/>
              </a:rPr>
              <a:t>streetlight complaints in five and a half months of 2025 — </a:t>
            </a:r>
            <a:pPr indent="0" marL="0">
              <a:lnSpc>
                <a:spcPts val="2400"/>
              </a:lnSpc>
              <a:buNone/>
            </a:pPr>
            <a:r>
              <a:rPr lang="en-US" sz="1650" b="1" dirty="0">
                <a:solidFill>
                  <a:srgbClr val="F2A93B"/>
                </a:solidFill>
                <a:latin typeface="Arial" pitchFamily="34" charset="0"/>
                <a:ea typeface="Arial" pitchFamily="34" charset="-122"/>
                <a:cs typeface="Arial" pitchFamily="34" charset="-120"/>
              </a:rPr>
              <a:t>31.4% of every civic complaint Bengaluru filed</a:t>
            </a:r>
            <a:pPr indent="0" marL="0">
              <a:lnSpc>
                <a:spcPts val="2400"/>
              </a:lnSpc>
              <a:buNone/>
            </a:pPr>
            <a:r>
              <a:rPr lang="en-US" sz="1650" dirty="0">
                <a:solidFill>
                  <a:srgbClr val="E8EBF0"/>
                </a:solidFill>
                <a:latin typeface="Arial" pitchFamily="34" charset="0"/>
                <a:ea typeface="Arial" pitchFamily="34" charset="-122"/>
                <a:cs typeface="Arial" pitchFamily="34" charset="-120"/>
              </a:rPr>
              <a:t>, and the largest single category in the city. Garbage is second, at 16,137.
</a:t>
            </a:r>
            <a:pPr indent="0" marL="0">
              <a:lnSpc>
                <a:spcPts val="2400"/>
              </a:lnSpc>
              <a:buNone/>
            </a:pPr>
            <a:r>
              <a:rPr lang="en-US" sz="1650" b="1" dirty="0">
                <a:solidFill>
                  <a:srgbClr val="E8EBF0"/>
                </a:solidFill>
                <a:latin typeface="Arial" pitchFamily="34" charset="0"/>
                <a:ea typeface="Arial" pitchFamily="34" charset="-122"/>
                <a:cs typeface="Arial" pitchFamily="34" charset="-120"/>
              </a:rPr>
              <a:t>There is no shortage of demand signal.</a:t>
            </a:r>
            <a:endParaRPr lang="en-US" sz="1650" dirty="0"/>
          </a:p>
        </p:txBody>
      </p:sp>
      <p:pic>
        <p:nvPicPr>
          <p:cNvPr id="6" name="Image 0" descr="assets/chart-categories.png">    </p:cNvPr>
          <p:cNvPicPr>
            <a:picLocks noChangeAspect="1"/>
          </p:cNvPicPr>
          <p:nvPr/>
        </p:nvPicPr>
        <p:blipFill>
          <a:blip r:embed="rId1"/>
          <a:stretch>
            <a:fillRect/>
          </a:stretch>
        </p:blipFill>
        <p:spPr>
          <a:xfrm>
            <a:off x="5971032" y="1975104"/>
            <a:ext cx="5577840" cy="3300984"/>
          </a:xfrm>
          <a:prstGeom prst="rect">
            <a:avLst/>
          </a:prstGeom>
        </p:spPr>
      </p:pic>
      <p:sp>
        <p:nvSpPr>
          <p:cNvPr id="7" name="Text 3"/>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BBMP grievance register, 1 Jan – 19 Jun 2025, via OpenCity. Recomputed from the raw CSV. n = 126,974.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300" b="1" dirty="0">
                <a:solidFill>
                  <a:srgbClr val="E8EBF0"/>
                </a:solidFill>
                <a:latin typeface="Arial" pitchFamily="34" charset="0"/>
                <a:ea typeface="Arial" pitchFamily="34" charset="-122"/>
                <a:cs typeface="Arial" pitchFamily="34" charset="-120"/>
              </a:rPr>
              <a:t>The repair system works. The order is wrong.</a:t>
            </a:r>
            <a:endParaRPr lang="en-US" sz="3300" dirty="0"/>
          </a:p>
        </p:txBody>
      </p:sp>
      <p:sp>
        <p:nvSpPr>
          <p:cNvPr id="4" name="Text 1"/>
          <p:cNvSpPr/>
          <p:nvPr/>
        </p:nvSpPr>
        <p:spPr>
          <a:xfrm>
            <a:off x="640080" y="1627632"/>
            <a:ext cx="5577840" cy="777240"/>
          </a:xfrm>
          <a:prstGeom prst="rect">
            <a:avLst/>
          </a:prstGeom>
          <a:noFill/>
          <a:ln/>
        </p:spPr>
        <p:txBody>
          <a:bodyPr wrap="none" lIns="0" tIns="0" rIns="0" bIns="0" rtlCol="0" anchor="b"/>
          <a:lstStyle/>
          <a:p>
            <a:pPr indent="0" marL="0">
              <a:buNone/>
            </a:pPr>
            <a:r>
              <a:rPr lang="en-US" sz="5200" b="1" dirty="0">
                <a:solidFill>
                  <a:srgbClr val="F2A93B"/>
                </a:solidFill>
                <a:latin typeface="Arial" pitchFamily="34" charset="0"/>
                <a:ea typeface="Arial" pitchFamily="34" charset="-122"/>
                <a:cs typeface="Arial" pitchFamily="34" charset="-120"/>
              </a:rPr>
              <a:t>96.4%</a:t>
            </a:r>
            <a:pPr indent="0" marL="0">
              <a:buNone/>
            </a:pPr>
            <a:r>
              <a:rPr lang="en-US" sz="1700" dirty="0">
                <a:solidFill>
                  <a:srgbClr val="E8EBF0"/>
                </a:solidFill>
                <a:latin typeface="Arial" pitchFamily="34" charset="0"/>
                <a:ea typeface="Arial" pitchFamily="34" charset="-122"/>
                <a:cs typeface="Arial" pitchFamily="34" charset="-120"/>
              </a:rPr>
              <a:t>  of electrical complaints closed</a:t>
            </a:r>
            <a:endParaRPr lang="en-US" sz="5200" dirty="0"/>
          </a:p>
        </p:txBody>
      </p:sp>
      <p:pic>
        <p:nvPicPr>
          <p:cNvPr id="5" name="Image 0" descr="assets/chart-closure.png">    </p:cNvPr>
          <p:cNvPicPr>
            <a:picLocks noChangeAspect="1"/>
          </p:cNvPicPr>
          <p:nvPr/>
        </p:nvPicPr>
        <p:blipFill>
          <a:blip r:embed="rId1"/>
          <a:stretch>
            <a:fillRect/>
          </a:stretch>
        </p:blipFill>
        <p:spPr>
          <a:xfrm>
            <a:off x="621792" y="2615184"/>
            <a:ext cx="5029200" cy="1975104"/>
          </a:xfrm>
          <a:prstGeom prst="rect">
            <a:avLst/>
          </a:prstGeom>
        </p:spPr>
      </p:pic>
      <p:sp>
        <p:nvSpPr>
          <p:cNvPr id="6" name="Text 2"/>
          <p:cNvSpPr/>
          <p:nvPr/>
        </p:nvSpPr>
        <p:spPr>
          <a:xfrm>
            <a:off x="640080" y="4828032"/>
            <a:ext cx="4937760" cy="1280160"/>
          </a:xfrm>
          <a:prstGeom prst="rect">
            <a:avLst/>
          </a:prstGeom>
          <a:noFill/>
          <a:ln/>
        </p:spPr>
        <p:txBody>
          <a:bodyPr wrap="square" lIns="0" tIns="0" rIns="0" bIns="0" rtlCol="0" anchor="t"/>
          <a:lstStyle/>
          <a:p>
            <a:pPr indent="0" marL="0">
              <a:lnSpc>
                <a:spcPts val="2200"/>
              </a:lnSpc>
              <a:buNone/>
            </a:pPr>
            <a:r>
              <a:rPr lang="en-US" sz="1550" dirty="0">
                <a:solidFill>
                  <a:srgbClr val="E8EBF0"/>
                </a:solidFill>
                <a:latin typeface="Arial" pitchFamily="34" charset="0"/>
                <a:ea typeface="Arial" pitchFamily="34" charset="-122"/>
                <a:cs typeface="Arial" pitchFamily="34" charset="-120"/>
              </a:rPr>
              <a:t>40,632 of 42,138. Road maintenance closes 58%. They are not slow and not under-resourced.
</a:t>
            </a:r>
            <a:pPr indent="0" marL="0">
              <a:lnSpc>
                <a:spcPts val="2200"/>
              </a:lnSpc>
              <a:buNone/>
            </a:pPr>
            <a:r>
              <a:rPr lang="en-US" sz="1550" b="1" dirty="0">
                <a:solidFill>
                  <a:srgbClr val="F2A93B"/>
                </a:solidFill>
                <a:latin typeface="Arial" pitchFamily="34" charset="0"/>
                <a:ea typeface="Arial" pitchFamily="34" charset="-122"/>
                <a:cs typeface="Arial" pitchFamily="34" charset="-120"/>
              </a:rPr>
              <a:t>A complaint tells you someone noticed. It does not tell you how many people are exposed.</a:t>
            </a:r>
            <a:endParaRPr lang="en-US" sz="1550" dirty="0"/>
          </a:p>
        </p:txBody>
      </p:sp>
      <p:sp>
        <p:nvSpPr>
          <p:cNvPr id="7" name="Shape 3"/>
          <p:cNvSpPr/>
          <p:nvPr/>
        </p:nvSpPr>
        <p:spPr>
          <a:xfrm>
            <a:off x="5943600" y="1627632"/>
            <a:ext cx="10973" cy="3968496"/>
          </a:xfrm>
          <a:prstGeom prst="rect">
            <a:avLst/>
          </a:prstGeom>
          <a:solidFill>
            <a:srgbClr val="252C3A"/>
          </a:solidFill>
          <a:ln w="12700">
            <a:solidFill>
              <a:srgbClr val="333333"/>
            </a:solidFill>
            <a:prstDash val="solid"/>
          </a:ln>
        </p:spPr>
      </p:sp>
      <p:sp>
        <p:nvSpPr>
          <p:cNvPr id="8" name="Text 4"/>
          <p:cNvSpPr/>
          <p:nvPr/>
        </p:nvSpPr>
        <p:spPr>
          <a:xfrm>
            <a:off x="6291072" y="1627632"/>
            <a:ext cx="5257800" cy="329184"/>
          </a:xfrm>
          <a:prstGeom prst="rect">
            <a:avLst/>
          </a:prstGeom>
          <a:noFill/>
          <a:ln/>
        </p:spPr>
        <p:txBody>
          <a:bodyPr wrap="square" lIns="0" tIns="0" rIns="0" bIns="0" rtlCol="0" anchor="ctr"/>
          <a:lstStyle/>
          <a:p>
            <a:pPr indent="0" marL="0">
              <a:buNone/>
            </a:pPr>
            <a:r>
              <a:rPr lang="en-US" sz="1600" b="1" dirty="0">
                <a:solidFill>
                  <a:srgbClr val="E8EBF0"/>
                </a:solidFill>
                <a:latin typeface="Arial" pitchFamily="34" charset="0"/>
                <a:ea typeface="Arial" pitchFamily="34" charset="-122"/>
                <a:cs typeface="Arial" pitchFamily="34" charset="-120"/>
              </a:rPr>
              <a:t>Complaining tracks who complains</a:t>
            </a:r>
            <a:endParaRPr lang="en-US" sz="1600" dirty="0"/>
          </a:p>
        </p:txBody>
      </p:sp>
      <p:pic>
        <p:nvPicPr>
          <p:cNvPr id="9" name="Image 1" descr="assets/chart-wards.png">    </p:cNvPr>
          <p:cNvPicPr>
            <a:picLocks noChangeAspect="1"/>
          </p:cNvPicPr>
          <p:nvPr/>
        </p:nvPicPr>
        <p:blipFill>
          <a:blip r:embed="rId2"/>
          <a:stretch>
            <a:fillRect/>
          </a:stretch>
        </p:blipFill>
        <p:spPr>
          <a:xfrm>
            <a:off x="6254496" y="2377440"/>
            <a:ext cx="5029200" cy="2743200"/>
          </a:xfrm>
          <a:prstGeom prst="rect">
            <a:avLst/>
          </a:prstGeom>
        </p:spPr>
      </p:pic>
      <p:sp>
        <p:nvSpPr>
          <p:cNvPr id="10" name="Text 5"/>
          <p:cNvSpPr/>
          <p:nvPr/>
        </p:nvSpPr>
        <p:spPr>
          <a:xfrm>
            <a:off x="6291072" y="5138928"/>
            <a:ext cx="5257800" cy="822960"/>
          </a:xfrm>
          <a:prstGeom prst="rect">
            <a:avLst/>
          </a:prstGeom>
          <a:noFill/>
          <a:ln/>
        </p:spPr>
        <p:txBody>
          <a:bodyPr wrap="square" lIns="0" tIns="0" rIns="0" bIns="0" rtlCol="0" anchor="ctr"/>
          <a:lstStyle/>
          <a:p>
            <a:pPr indent="0" marL="0">
              <a:lnSpc>
                <a:spcPts val="2000"/>
              </a:lnSpc>
              <a:buNone/>
            </a:pPr>
            <a:r>
              <a:rPr lang="en-US" sz="1400" dirty="0">
                <a:solidFill>
                  <a:srgbClr val="8A94A6"/>
                </a:solidFill>
                <a:latin typeface="Arial" pitchFamily="34" charset="0"/>
                <a:ea typeface="Arial" pitchFamily="34" charset="-122"/>
                <a:cs typeface="Arial" pitchFamily="34" charset="-120"/>
              </a:rPr>
              <a:t>Newer, peripheral, more car-owning wards file most. Older, denser, more-walked wards file fewer — not because their lights work.</a:t>
            </a:r>
            <a:endParaRPr lang="en-US" sz="1400" dirty="0"/>
          </a:p>
        </p:txBody>
      </p:sp>
      <p:sp>
        <p:nvSpPr>
          <p:cNvPr id="11" name="Text 6"/>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Same register. Left: Grievance Status field. Right: Sub Category = “Street Light Not Working”, grouped by Ward Name, 198 wards.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240" kern="0" dirty="0">
                <a:solidFill>
                  <a:srgbClr val="8A94A6"/>
                </a:solidFill>
                <a:latin typeface="Arial" pitchFamily="34" charset="0"/>
                <a:ea typeface="Arial" pitchFamily="34" charset="-122"/>
                <a:cs typeface="Arial" pitchFamily="34" charset="-120"/>
              </a:rPr>
              <a:t>SO WE CHANGED THE UNIT OF MEASUREMENT</a:t>
            </a:r>
            <a:endParaRPr lang="en-US" sz="1200" dirty="0"/>
          </a:p>
        </p:txBody>
      </p:sp>
      <p:sp>
        <p:nvSpPr>
          <p:cNvPr id="4" name="Text 1"/>
          <p:cNvSpPr/>
          <p:nvPr/>
        </p:nvSpPr>
        <p:spPr>
          <a:xfrm>
            <a:off x="640080" y="1572768"/>
            <a:ext cx="10908792" cy="676656"/>
          </a:xfrm>
          <a:prstGeom prst="rect">
            <a:avLst/>
          </a:prstGeom>
          <a:noFill/>
          <a:ln/>
        </p:spPr>
        <p:txBody>
          <a:bodyPr wrap="none" lIns="0" tIns="0" rIns="0" bIns="0" rtlCol="0" anchor="ctr"/>
          <a:lstStyle/>
          <a:p>
            <a:pPr indent="0" marL="0">
              <a:buNone/>
            </a:pPr>
            <a:r>
              <a:rPr lang="en-US" sz="3800" b="1" dirty="0">
                <a:solidFill>
                  <a:srgbClr val="8A94A6"/>
                </a:solidFill>
                <a:latin typeface="Arial" pitchFamily="34" charset="0"/>
                <a:ea typeface="Arial" pitchFamily="34" charset="-122"/>
                <a:cs typeface="Arial" pitchFamily="34" charset="-120"/>
              </a:rPr>
              <a:t>A lamp tells you what failed.</a:t>
            </a:r>
            <a:endParaRPr lang="en-US" sz="3800" dirty="0"/>
          </a:p>
        </p:txBody>
      </p:sp>
      <p:sp>
        <p:nvSpPr>
          <p:cNvPr id="5" name="Text 2"/>
          <p:cNvSpPr/>
          <p:nvPr/>
        </p:nvSpPr>
        <p:spPr>
          <a:xfrm>
            <a:off x="640080" y="2267712"/>
            <a:ext cx="10908792" cy="676656"/>
          </a:xfrm>
          <a:prstGeom prst="rect">
            <a:avLst/>
          </a:prstGeom>
          <a:noFill/>
          <a:ln/>
        </p:spPr>
        <p:txBody>
          <a:bodyPr wrap="none" lIns="0" tIns="0" rIns="0" bIns="0" rtlCol="0" anchor="ctr"/>
          <a:lstStyle/>
          <a:p>
            <a:pPr indent="0" marL="0">
              <a:buNone/>
            </a:pPr>
            <a:r>
              <a:rPr lang="en-US" sz="3800" b="1" dirty="0">
                <a:solidFill>
                  <a:srgbClr val="E8EBF0"/>
                </a:solidFill>
                <a:latin typeface="Arial" pitchFamily="34" charset="0"/>
                <a:ea typeface="Arial" pitchFamily="34" charset="-122"/>
                <a:cs typeface="Arial" pitchFamily="34" charset="-120"/>
              </a:rPr>
              <a:t>A road segment tells you who is exposed.</a:t>
            </a:r>
            <a:endParaRPr lang="en-US" sz="3800" dirty="0"/>
          </a:p>
        </p:txBody>
      </p:sp>
      <p:sp>
        <p:nvSpPr>
          <p:cNvPr id="6" name="Shape 3"/>
          <p:cNvSpPr/>
          <p:nvPr/>
        </p:nvSpPr>
        <p:spPr>
          <a:xfrm>
            <a:off x="640080" y="3200400"/>
            <a:ext cx="10908792" cy="10973"/>
          </a:xfrm>
          <a:prstGeom prst="rect">
            <a:avLst/>
          </a:prstGeom>
          <a:solidFill>
            <a:srgbClr val="252C3A"/>
          </a:solidFill>
          <a:ln w="12700">
            <a:solidFill>
              <a:srgbClr val="333333"/>
            </a:solidFill>
            <a:prstDash val="solid"/>
          </a:ln>
        </p:spPr>
      </p:sp>
      <p:sp>
        <p:nvSpPr>
          <p:cNvPr id="7" name="Text 4"/>
          <p:cNvSpPr/>
          <p:nvPr/>
        </p:nvSpPr>
        <p:spPr>
          <a:xfrm>
            <a:off x="640080" y="3456432"/>
            <a:ext cx="10881360" cy="457200"/>
          </a:xfrm>
          <a:prstGeom prst="rect">
            <a:avLst/>
          </a:prstGeom>
          <a:noFill/>
          <a:ln/>
        </p:spPr>
        <p:txBody>
          <a:bodyPr wrap="square" lIns="0" tIns="0" rIns="0" bIns="0" rtlCol="0" anchor="ctr"/>
          <a:lstStyle/>
          <a:p>
            <a:pPr indent="0" marL="0">
              <a:buNone/>
            </a:pPr>
            <a:r>
              <a:rPr lang="en-US" sz="2200" dirty="0">
                <a:solidFill>
                  <a:srgbClr val="E8EBF0"/>
                </a:solidFill>
                <a:latin typeface="Arial" pitchFamily="34" charset="0"/>
                <a:ea typeface="Arial" pitchFamily="34" charset="-122"/>
                <a:cs typeface="Arial" pitchFamily="34" charset="-120"/>
              </a:rPr>
              <a:t>For every 200-metre stretch of road, Roshni estimates </a:t>
            </a:r>
            <a:pPr indent="0" marL="0">
              <a:buNone/>
            </a:pPr>
            <a:r>
              <a:rPr lang="en-US" sz="2200" b="1" dirty="0">
                <a:solidFill>
                  <a:srgbClr val="F2A93B"/>
                </a:solidFill>
                <a:latin typeface="Arial" pitchFamily="34" charset="0"/>
                <a:ea typeface="Arial" pitchFamily="34" charset="-122"/>
                <a:cs typeface="Arial" pitchFamily="34" charset="-120"/>
              </a:rPr>
              <a:t>darkness × pedestrian exposure × confidence</a:t>
            </a:r>
            <a:pPr indent="0" marL="0">
              <a:buNone/>
            </a:pPr>
            <a:r>
              <a:rPr lang="en-US" sz="2200" dirty="0">
                <a:solidFill>
                  <a:srgbClr val="E8EBF0"/>
                </a:solidFill>
                <a:latin typeface="Arial" pitchFamily="34" charset="0"/>
                <a:ea typeface="Arial" pitchFamily="34" charset="-122"/>
                <a:cs typeface="Arial" pitchFamily="34" charset="-120"/>
              </a:rPr>
              <a:t>.</a:t>
            </a:r>
            <a:endParaRPr lang="en-US" sz="2200" dirty="0"/>
          </a:p>
        </p:txBody>
      </p:sp>
      <p:sp>
        <p:nvSpPr>
          <p:cNvPr id="8" name="Text 5"/>
          <p:cNvSpPr/>
          <p:nvPr/>
        </p:nvSpPr>
        <p:spPr>
          <a:xfrm>
            <a:off x="640080" y="4261104"/>
            <a:ext cx="10881360" cy="1554480"/>
          </a:xfrm>
          <a:prstGeom prst="rect">
            <a:avLst/>
          </a:prstGeom>
          <a:noFill/>
          <a:ln/>
        </p:spPr>
        <p:txBody>
          <a:bodyPr wrap="square" lIns="0" tIns="0" rIns="0" bIns="0" rtlCol="0" anchor="t"/>
          <a:lstStyle/>
          <a:p>
            <a:pPr indent="0" marL="0">
              <a:lnSpc>
                <a:spcPts val="2500"/>
              </a:lnSpc>
              <a:buNone/>
            </a:pPr>
            <a:r>
              <a:rPr lang="en-US" sz="1700" dirty="0">
                <a:solidFill>
                  <a:srgbClr val="E8EBF0"/>
                </a:solidFill>
                <a:latin typeface="Arial" pitchFamily="34" charset="0"/>
                <a:ea typeface="Arial" pitchFamily="34" charset="-122"/>
                <a:cs typeface="Arial" pitchFamily="34" charset="-120"/>
              </a:rPr>
              <a:t>Darkness per segment is a quantity you can </a:t>
            </a:r>
            <a:pPr indent="0" marL="0">
              <a:lnSpc>
                <a:spcPts val="2500"/>
              </a:lnSpc>
              <a:buNone/>
            </a:pPr>
            <a:r>
              <a:rPr lang="en-US" sz="1700" b="1" dirty="0">
                <a:solidFill>
                  <a:srgbClr val="E8EBF0"/>
                </a:solidFill>
                <a:latin typeface="Arial" pitchFamily="34" charset="0"/>
                <a:ea typeface="Arial" pitchFamily="34" charset="-122"/>
                <a:cs typeface="Arial" pitchFamily="34" charset="-120"/>
              </a:rPr>
              <a:t>estimate</a:t>
            </a:r>
            <a:pPr indent="0" marL="0">
              <a:lnSpc>
                <a:spcPts val="2500"/>
              </a:lnSpc>
              <a:buNone/>
            </a:pPr>
            <a:r>
              <a:rPr lang="en-US" sz="1700" dirty="0">
                <a:solidFill>
                  <a:srgbClr val="E8EBF0"/>
                </a:solidFill>
                <a:latin typeface="Arial" pitchFamily="34" charset="0"/>
                <a:ea typeface="Arial" pitchFamily="34" charset="-122"/>
                <a:cs typeface="Arial" pitchFamily="34" charset="-120"/>
              </a:rPr>
              <a:t>. Lamp inventory is an enumeration you cannot </a:t>
            </a:r>
            <a:pPr indent="0" marL="0">
              <a:lnSpc>
                <a:spcPts val="2500"/>
              </a:lnSpc>
              <a:buNone/>
            </a:pPr>
            <a:r>
              <a:rPr lang="en-US" sz="1700" b="1" dirty="0">
                <a:solidFill>
                  <a:srgbClr val="E8EBF0"/>
                </a:solidFill>
                <a:latin typeface="Arial" pitchFamily="34" charset="0"/>
                <a:ea typeface="Arial" pitchFamily="34" charset="-122"/>
                <a:cs typeface="Arial" pitchFamily="34" charset="-120"/>
              </a:rPr>
              <a:t>obtain</a:t>
            </a:r>
            <a:pPr indent="0" marL="0">
              <a:lnSpc>
                <a:spcPts val="2500"/>
              </a:lnSpc>
              <a:buNone/>
            </a:pPr>
            <a:r>
              <a:rPr lang="en-US" sz="1700" dirty="0">
                <a:solidFill>
                  <a:srgbClr val="E8EBF0"/>
                </a:solidFill>
                <a:latin typeface="Arial" pitchFamily="34" charset="0"/>
                <a:ea typeface="Arial" pitchFamily="34" charset="-122"/>
                <a:cs typeface="Arial" pitchFamily="34" charset="-120"/>
              </a:rPr>
              <a:t> — and BBMP does not have one either. Their complaint records carry no coordinates and no pole IDs, so on day zero we are at parity with the municipality and ahead of it the moment a report carries a GPS fix.</a:t>
            </a:r>
            <a:endParaRPr lang="en-US" sz="1700" dirty="0"/>
          </a:p>
        </p:txBody>
      </p:sp>
      <p:sp>
        <p:nvSpPr>
          <p:cNvPr id="9" name="Text 6"/>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11,029 segments · 1,180 km · 33 wards, across the locked ORR corridor.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One estimate. Three decisions.</a:t>
            </a:r>
            <a:endParaRPr lang="en-US" sz="3100" dirty="0"/>
          </a:p>
        </p:txBody>
      </p:sp>
      <p:sp>
        <p:nvSpPr>
          <p:cNvPr id="4" name="Shape 1"/>
          <p:cNvSpPr/>
          <p:nvPr/>
        </p:nvSpPr>
        <p:spPr>
          <a:xfrm>
            <a:off x="640080" y="1627632"/>
            <a:ext cx="3447288" cy="10973"/>
          </a:xfrm>
          <a:prstGeom prst="rect">
            <a:avLst/>
          </a:prstGeom>
          <a:solidFill>
            <a:srgbClr val="252C3A"/>
          </a:solidFill>
          <a:ln w="12700">
            <a:solidFill>
              <a:srgbClr val="333333"/>
            </a:solidFill>
            <a:prstDash val="solid"/>
          </a:ln>
        </p:spPr>
      </p:sp>
      <p:sp>
        <p:nvSpPr>
          <p:cNvPr id="5" name="Text 2"/>
          <p:cNvSpPr/>
          <p:nvPr/>
        </p:nvSpPr>
        <p:spPr>
          <a:xfrm>
            <a:off x="640080" y="1792224"/>
            <a:ext cx="3447288" cy="237744"/>
          </a:xfrm>
          <a:prstGeom prst="rect">
            <a:avLst/>
          </a:prstGeom>
          <a:noFill/>
          <a:ln/>
        </p:spPr>
        <p:txBody>
          <a:bodyPr wrap="square" lIns="0" tIns="0" rIns="0" bIns="0" rtlCol="0" anchor="ctr"/>
          <a:lstStyle/>
          <a:p>
            <a:pPr indent="0" marL="0">
              <a:buNone/>
            </a:pPr>
            <a:r>
              <a:rPr lang="en-US" sz="1050" b="1" spc="200" kern="0" dirty="0">
                <a:solidFill>
                  <a:srgbClr val="F2A93B"/>
                </a:solidFill>
                <a:latin typeface="Arial" pitchFamily="34" charset="0"/>
                <a:ea typeface="Arial" pitchFamily="34" charset="-122"/>
                <a:cs typeface="Arial" pitchFamily="34" charset="-120"/>
              </a:rPr>
              <a:t>THIS WEEK</a:t>
            </a:r>
            <a:endParaRPr lang="en-US" sz="1050" dirty="0"/>
          </a:p>
        </p:txBody>
      </p:sp>
      <p:sp>
        <p:nvSpPr>
          <p:cNvPr id="6" name="Text 3"/>
          <p:cNvSpPr/>
          <p:nvPr/>
        </p:nvSpPr>
        <p:spPr>
          <a:xfrm>
            <a:off x="640080" y="2084832"/>
            <a:ext cx="3401568" cy="731520"/>
          </a:xfrm>
          <a:prstGeom prst="rect">
            <a:avLst/>
          </a:prstGeom>
          <a:noFill/>
          <a:ln/>
        </p:spPr>
        <p:txBody>
          <a:bodyPr wrap="square" lIns="0" tIns="0" rIns="0" bIns="0" rtlCol="0" anchor="ctr"/>
          <a:lstStyle/>
          <a:p>
            <a:pPr indent="0" marL="0">
              <a:lnSpc>
                <a:spcPts val="2600"/>
              </a:lnSpc>
              <a:buNone/>
            </a:pPr>
            <a:r>
              <a:rPr lang="en-US" sz="1800" b="1" dirty="0">
                <a:solidFill>
                  <a:srgbClr val="F2A93B"/>
                </a:solidFill>
                <a:latin typeface="Arial" pitchFamily="34" charset="0"/>
                <a:ea typeface="Arial" pitchFamily="34" charset="-122"/>
                <a:cs typeface="Arial" pitchFamily="34" charset="-120"/>
              </a:rPr>
              <a:t>What should the city repair?</a:t>
            </a:r>
            <a:endParaRPr lang="en-US" sz="1800" dirty="0"/>
          </a:p>
        </p:txBody>
      </p:sp>
      <p:sp>
        <p:nvSpPr>
          <p:cNvPr id="7" name="Text 4"/>
          <p:cNvSpPr/>
          <p:nvPr/>
        </p:nvSpPr>
        <p:spPr>
          <a:xfrm>
            <a:off x="640080" y="2871216"/>
            <a:ext cx="3401568" cy="1097280"/>
          </a:xfrm>
          <a:prstGeom prst="rect">
            <a:avLst/>
          </a:prstGeom>
          <a:noFill/>
          <a:ln/>
        </p:spPr>
        <p:txBody>
          <a:bodyPr wrap="square" lIns="0" tIns="0" rIns="0" bIns="0" rtlCol="0" anchor="ctr"/>
          <a:lstStyle/>
          <a:p>
            <a:pPr indent="0" marL="0">
              <a:lnSpc>
                <a:spcPts val="1900"/>
              </a:lnSpc>
              <a:buNone/>
            </a:pPr>
            <a:r>
              <a:rPr lang="en-US" sz="1350" dirty="0">
                <a:solidFill>
                  <a:srgbClr val="B9C0CC"/>
                </a:solidFill>
                <a:latin typeface="Arial" pitchFamily="34" charset="0"/>
                <a:ea typeface="Arial" pitchFamily="34" charset="-122"/>
                <a:cs typeface="Arial" pitchFamily="34" charset="-120"/>
              </a:rPr>
              <a:t>A ranked worklist under a repair budget, scored by who is exposed rather than who complained.</a:t>
            </a:r>
            <a:endParaRPr lang="en-US" sz="1350" dirty="0"/>
          </a:p>
        </p:txBody>
      </p:sp>
      <p:sp>
        <p:nvSpPr>
          <p:cNvPr id="8" name="Text 5"/>
          <p:cNvSpPr/>
          <p:nvPr/>
        </p:nvSpPr>
        <p:spPr>
          <a:xfrm>
            <a:off x="640080" y="3913632"/>
            <a:ext cx="3401568" cy="274320"/>
          </a:xfrm>
          <a:prstGeom prst="rect">
            <a:avLst/>
          </a:prstGeom>
          <a:noFill/>
          <a:ln/>
        </p:spPr>
        <p:txBody>
          <a:bodyPr wrap="square" lIns="0" tIns="0" rIns="0" bIns="0" rtlCol="0" anchor="ctr"/>
          <a:lstStyle/>
          <a:p>
            <a:pPr indent="0" marL="0">
              <a:buNone/>
            </a:pPr>
            <a:r>
              <a:rPr lang="en-US" sz="1150" b="1" spc="120" kern="0" dirty="0">
                <a:solidFill>
                  <a:srgbClr val="F2A93B"/>
                </a:solidFill>
                <a:latin typeface="Arial" pitchFamily="34" charset="0"/>
                <a:ea typeface="Arial" pitchFamily="34" charset="-122"/>
                <a:cs typeface="Arial" pitchFamily="34" charset="-120"/>
              </a:rPr>
              <a:t>Municipal queue   ·   THE HERO</a:t>
            </a:r>
            <a:endParaRPr lang="en-US" sz="1150" dirty="0"/>
          </a:p>
        </p:txBody>
      </p:sp>
      <p:sp>
        <p:nvSpPr>
          <p:cNvPr id="9" name="Shape 6"/>
          <p:cNvSpPr/>
          <p:nvPr/>
        </p:nvSpPr>
        <p:spPr>
          <a:xfrm>
            <a:off x="4370832" y="1627632"/>
            <a:ext cx="3447288" cy="10973"/>
          </a:xfrm>
          <a:prstGeom prst="rect">
            <a:avLst/>
          </a:prstGeom>
          <a:solidFill>
            <a:srgbClr val="252C3A"/>
          </a:solidFill>
          <a:ln w="12700">
            <a:solidFill>
              <a:srgbClr val="333333"/>
            </a:solidFill>
            <a:prstDash val="solid"/>
          </a:ln>
        </p:spPr>
      </p:sp>
      <p:sp>
        <p:nvSpPr>
          <p:cNvPr id="10" name="Text 7"/>
          <p:cNvSpPr/>
          <p:nvPr/>
        </p:nvSpPr>
        <p:spPr>
          <a:xfrm>
            <a:off x="4370832" y="1792224"/>
            <a:ext cx="3447288" cy="237744"/>
          </a:xfrm>
          <a:prstGeom prst="rect">
            <a:avLst/>
          </a:prstGeom>
          <a:noFill/>
          <a:ln/>
        </p:spPr>
        <p:txBody>
          <a:bodyPr wrap="square" lIns="0" tIns="0" rIns="0" bIns="0" rtlCol="0" anchor="ctr"/>
          <a:lstStyle/>
          <a:p>
            <a:pPr indent="0" marL="0">
              <a:buNone/>
            </a:pPr>
            <a:r>
              <a:rPr lang="en-US" sz="1050" b="1" spc="200" kern="0" dirty="0">
                <a:solidFill>
                  <a:srgbClr val="8A94A6"/>
                </a:solidFill>
                <a:latin typeface="Arial" pitchFamily="34" charset="0"/>
                <a:ea typeface="Arial" pitchFamily="34" charset="-122"/>
                <a:cs typeface="Arial" pitchFamily="34" charset="-120"/>
              </a:rPr>
              <a:t>TONIGHT</a:t>
            </a:r>
            <a:endParaRPr lang="en-US" sz="1050" dirty="0"/>
          </a:p>
        </p:txBody>
      </p:sp>
      <p:sp>
        <p:nvSpPr>
          <p:cNvPr id="11" name="Text 8"/>
          <p:cNvSpPr/>
          <p:nvPr/>
        </p:nvSpPr>
        <p:spPr>
          <a:xfrm>
            <a:off x="4370832" y="2084832"/>
            <a:ext cx="3401568" cy="731520"/>
          </a:xfrm>
          <a:prstGeom prst="rect">
            <a:avLst/>
          </a:prstGeom>
          <a:noFill/>
          <a:ln/>
        </p:spPr>
        <p:txBody>
          <a:bodyPr wrap="square" lIns="0" tIns="0" rIns="0" bIns="0" rtlCol="0" anchor="ctr"/>
          <a:lstStyle/>
          <a:p>
            <a:pPr indent="0" marL="0">
              <a:lnSpc>
                <a:spcPts val="2600"/>
              </a:lnSpc>
              <a:buNone/>
            </a:pPr>
            <a:r>
              <a:rPr lang="en-US" sz="1800" b="1" dirty="0">
                <a:solidFill>
                  <a:srgbClr val="E8EBF0"/>
                </a:solidFill>
                <a:latin typeface="Arial" pitchFamily="34" charset="0"/>
                <a:ea typeface="Arial" pitchFamily="34" charset="-122"/>
                <a:cs typeface="Arial" pitchFamily="34" charset="-120"/>
              </a:rPr>
              <a:t>Where should I walk?</a:t>
            </a:r>
            <a:endParaRPr lang="en-US" sz="1800" dirty="0"/>
          </a:p>
        </p:txBody>
      </p:sp>
      <p:sp>
        <p:nvSpPr>
          <p:cNvPr id="12" name="Text 9"/>
          <p:cNvSpPr/>
          <p:nvPr/>
        </p:nvSpPr>
        <p:spPr>
          <a:xfrm>
            <a:off x="4370832" y="2871216"/>
            <a:ext cx="3401568" cy="1097280"/>
          </a:xfrm>
          <a:prstGeom prst="rect">
            <a:avLst/>
          </a:prstGeom>
          <a:noFill/>
          <a:ln/>
        </p:spPr>
        <p:txBody>
          <a:bodyPr wrap="square" lIns="0" tIns="0" rIns="0" bIns="0" rtlCol="0" anchor="ctr"/>
          <a:lstStyle/>
          <a:p>
            <a:pPr indent="0" marL="0">
              <a:lnSpc>
                <a:spcPts val="1900"/>
              </a:lnSpc>
              <a:buNone/>
            </a:pPr>
            <a:r>
              <a:rPr lang="en-US" sz="1350" dirty="0">
                <a:solidFill>
                  <a:srgbClr val="B9C0CC"/>
                </a:solidFill>
                <a:latin typeface="Arial" pitchFamily="34" charset="0"/>
                <a:ea typeface="Arial" pitchFamily="34" charset="-122"/>
                <a:cs typeface="Arial" pitchFamily="34" charset="-120"/>
              </a:rPr>
              <a:t>Safer and shortest route side by side, always both. It refuses to path through ground we have no data for.</a:t>
            </a:r>
            <a:endParaRPr lang="en-US" sz="1350" dirty="0"/>
          </a:p>
        </p:txBody>
      </p:sp>
      <p:sp>
        <p:nvSpPr>
          <p:cNvPr id="13" name="Text 10"/>
          <p:cNvSpPr/>
          <p:nvPr/>
        </p:nvSpPr>
        <p:spPr>
          <a:xfrm>
            <a:off x="4370832" y="3913632"/>
            <a:ext cx="3401568" cy="274320"/>
          </a:xfrm>
          <a:prstGeom prst="rect">
            <a:avLst/>
          </a:prstGeom>
          <a:noFill/>
          <a:ln/>
        </p:spPr>
        <p:txBody>
          <a:bodyPr wrap="square" lIns="0" tIns="0" rIns="0" bIns="0" rtlCol="0" anchor="ctr"/>
          <a:lstStyle/>
          <a:p>
            <a:pPr indent="0" marL="0">
              <a:buNone/>
            </a:pPr>
            <a:r>
              <a:rPr lang="en-US" sz="1150" b="1" spc="120" kern="0" dirty="0">
                <a:solidFill>
                  <a:srgbClr val="8A94A6"/>
                </a:solidFill>
                <a:latin typeface="Arial" pitchFamily="34" charset="0"/>
                <a:ea typeface="Arial" pitchFamily="34" charset="-122"/>
                <a:cs typeface="Arial" pitchFamily="34" charset="-120"/>
              </a:rPr>
              <a:t>Citizen route</a:t>
            </a:r>
            <a:endParaRPr lang="en-US" sz="1150" dirty="0"/>
          </a:p>
        </p:txBody>
      </p:sp>
      <p:sp>
        <p:nvSpPr>
          <p:cNvPr id="14" name="Shape 11"/>
          <p:cNvSpPr/>
          <p:nvPr/>
        </p:nvSpPr>
        <p:spPr>
          <a:xfrm>
            <a:off x="8101584" y="1627632"/>
            <a:ext cx="3447288" cy="10973"/>
          </a:xfrm>
          <a:prstGeom prst="rect">
            <a:avLst/>
          </a:prstGeom>
          <a:solidFill>
            <a:srgbClr val="252C3A"/>
          </a:solidFill>
          <a:ln w="12700">
            <a:solidFill>
              <a:srgbClr val="333333"/>
            </a:solidFill>
            <a:prstDash val="solid"/>
          </a:ln>
        </p:spPr>
      </p:sp>
      <p:sp>
        <p:nvSpPr>
          <p:cNvPr id="15" name="Text 12"/>
          <p:cNvSpPr/>
          <p:nvPr/>
        </p:nvSpPr>
        <p:spPr>
          <a:xfrm>
            <a:off x="8101584" y="1792224"/>
            <a:ext cx="3447288" cy="237744"/>
          </a:xfrm>
          <a:prstGeom prst="rect">
            <a:avLst/>
          </a:prstGeom>
          <a:noFill/>
          <a:ln/>
        </p:spPr>
        <p:txBody>
          <a:bodyPr wrap="square" lIns="0" tIns="0" rIns="0" bIns="0" rtlCol="0" anchor="ctr"/>
          <a:lstStyle/>
          <a:p>
            <a:pPr indent="0" marL="0">
              <a:buNone/>
            </a:pPr>
            <a:r>
              <a:rPr lang="en-US" sz="1050" b="1" spc="200" kern="0" dirty="0">
                <a:solidFill>
                  <a:srgbClr val="8A94A6"/>
                </a:solidFill>
                <a:latin typeface="Arial" pitchFamily="34" charset="0"/>
                <a:ea typeface="Arial" pitchFamily="34" charset="-122"/>
                <a:cs typeface="Arial" pitchFamily="34" charset="-120"/>
              </a:rPr>
              <a:t>NEXT</a:t>
            </a:r>
            <a:endParaRPr lang="en-US" sz="1050" dirty="0"/>
          </a:p>
        </p:txBody>
      </p:sp>
      <p:sp>
        <p:nvSpPr>
          <p:cNvPr id="16" name="Text 13"/>
          <p:cNvSpPr/>
          <p:nvPr/>
        </p:nvSpPr>
        <p:spPr>
          <a:xfrm>
            <a:off x="8101584" y="2084832"/>
            <a:ext cx="3401568" cy="731520"/>
          </a:xfrm>
          <a:prstGeom prst="rect">
            <a:avLst/>
          </a:prstGeom>
          <a:noFill/>
          <a:ln/>
        </p:spPr>
        <p:txBody>
          <a:bodyPr wrap="square" lIns="0" tIns="0" rIns="0" bIns="0" rtlCol="0" anchor="ctr"/>
          <a:lstStyle/>
          <a:p>
            <a:pPr indent="0" marL="0">
              <a:lnSpc>
                <a:spcPts val="2600"/>
              </a:lnSpc>
              <a:buNone/>
            </a:pPr>
            <a:r>
              <a:rPr lang="en-US" sz="1800" b="1" dirty="0">
                <a:solidFill>
                  <a:srgbClr val="E8EBF0"/>
                </a:solidFill>
                <a:latin typeface="Arial" pitchFamily="34" charset="0"/>
                <a:ea typeface="Arial" pitchFamily="34" charset="-122"/>
                <a:cs typeface="Arial" pitchFamily="34" charset="-120"/>
              </a:rPr>
              <a:t>Where is a report worth most?</a:t>
            </a:r>
            <a:endParaRPr lang="en-US" sz="1800" dirty="0"/>
          </a:p>
        </p:txBody>
      </p:sp>
      <p:sp>
        <p:nvSpPr>
          <p:cNvPr id="17" name="Text 14"/>
          <p:cNvSpPr/>
          <p:nvPr/>
        </p:nvSpPr>
        <p:spPr>
          <a:xfrm>
            <a:off x="8101584" y="2871216"/>
            <a:ext cx="3401568" cy="1097280"/>
          </a:xfrm>
          <a:prstGeom prst="rect">
            <a:avLst/>
          </a:prstGeom>
          <a:noFill/>
          <a:ln/>
        </p:spPr>
        <p:txBody>
          <a:bodyPr wrap="square" lIns="0" tIns="0" rIns="0" bIns="0" rtlCol="0" anchor="ctr"/>
          <a:lstStyle/>
          <a:p>
            <a:pPr indent="0" marL="0">
              <a:lnSpc>
                <a:spcPts val="1900"/>
              </a:lnSpc>
              <a:buNone/>
            </a:pPr>
            <a:r>
              <a:rPr lang="en-US" sz="1350" dirty="0">
                <a:solidFill>
                  <a:srgbClr val="B9C0CC"/>
                </a:solidFill>
                <a:latin typeface="Arial" pitchFamily="34" charset="0"/>
                <a:ea typeface="Arial" pitchFamily="34" charset="-122"/>
                <a:cs typeface="Arial" pitchFamily="34" charset="-120"/>
              </a:rPr>
              <a:t>The streets where a single answer would change a repair decision — high exposure, low confidence.</a:t>
            </a:r>
            <a:endParaRPr lang="en-US" sz="1350" dirty="0"/>
          </a:p>
        </p:txBody>
      </p:sp>
      <p:sp>
        <p:nvSpPr>
          <p:cNvPr id="18" name="Text 15"/>
          <p:cNvSpPr/>
          <p:nvPr/>
        </p:nvSpPr>
        <p:spPr>
          <a:xfrm>
            <a:off x="8101584" y="3913632"/>
            <a:ext cx="3401568" cy="274320"/>
          </a:xfrm>
          <a:prstGeom prst="rect">
            <a:avLst/>
          </a:prstGeom>
          <a:noFill/>
          <a:ln/>
        </p:spPr>
        <p:txBody>
          <a:bodyPr wrap="square" lIns="0" tIns="0" rIns="0" bIns="0" rtlCol="0" anchor="ctr"/>
          <a:lstStyle/>
          <a:p>
            <a:pPr indent="0" marL="0">
              <a:buNone/>
            </a:pPr>
            <a:r>
              <a:rPr lang="en-US" sz="1150" b="1" spc="120" kern="0" dirty="0">
                <a:solidFill>
                  <a:srgbClr val="8A94A6"/>
                </a:solidFill>
                <a:latin typeface="Arial" pitchFamily="34" charset="0"/>
                <a:ea typeface="Arial" pitchFamily="34" charset="-122"/>
                <a:cs typeface="Arial" pitchFamily="34" charset="-120"/>
              </a:rPr>
              <a:t>Citizen report</a:t>
            </a:r>
            <a:endParaRPr lang="en-US" sz="1150" dirty="0"/>
          </a:p>
        </p:txBody>
      </p:sp>
      <p:sp>
        <p:nvSpPr>
          <p:cNvPr id="19" name="Shape 16"/>
          <p:cNvSpPr/>
          <p:nvPr/>
        </p:nvSpPr>
        <p:spPr>
          <a:xfrm>
            <a:off x="640080" y="4407408"/>
            <a:ext cx="10908792" cy="10973"/>
          </a:xfrm>
          <a:prstGeom prst="rect">
            <a:avLst/>
          </a:prstGeom>
          <a:solidFill>
            <a:srgbClr val="252C3A"/>
          </a:solidFill>
          <a:ln w="12700">
            <a:solidFill>
              <a:srgbClr val="333333"/>
            </a:solidFill>
            <a:prstDash val="solid"/>
          </a:ln>
        </p:spPr>
      </p:sp>
      <p:sp>
        <p:nvSpPr>
          <p:cNvPr id="20" name="Text 17"/>
          <p:cNvSpPr/>
          <p:nvPr/>
        </p:nvSpPr>
        <p:spPr>
          <a:xfrm>
            <a:off x="640080" y="4663440"/>
            <a:ext cx="10881360" cy="1005840"/>
          </a:xfrm>
          <a:prstGeom prst="rect">
            <a:avLst/>
          </a:prstGeom>
          <a:noFill/>
          <a:ln/>
        </p:spPr>
        <p:txBody>
          <a:bodyPr wrap="square" lIns="0" tIns="0" rIns="0" bIns="0" rtlCol="0" anchor="ctr"/>
          <a:lstStyle/>
          <a:p>
            <a:pPr indent="0" marL="0">
              <a:lnSpc>
                <a:spcPts val="2200"/>
              </a:lnSpc>
              <a:buNone/>
            </a:pPr>
            <a:r>
              <a:rPr lang="en-US" sz="1550" b="1" dirty="0">
                <a:solidFill>
                  <a:srgbClr val="E8EBF0"/>
                </a:solidFill>
                <a:latin typeface="Arial" pitchFamily="34" charset="0"/>
                <a:ea typeface="Arial" pitchFamily="34" charset="-122"/>
                <a:cs typeface="Arial" pitchFamily="34" charset="-120"/>
              </a:rPr>
              <a:t>One variable, opposite signs.</a:t>
            </a:r>
            <a:pPr indent="0" marL="0">
              <a:lnSpc>
                <a:spcPts val="2200"/>
              </a:lnSpc>
              <a:buNone/>
            </a:pPr>
            <a:r>
              <a:rPr lang="en-US" sz="1550" dirty="0">
                <a:solidFill>
                  <a:srgbClr val="B9C0CC"/>
                </a:solidFill>
                <a:latin typeface="Arial" pitchFamily="34" charset="0"/>
                <a:ea typeface="Arial" pitchFamily="34" charset="-122"/>
                <a:cs typeface="Arial" pitchFamily="34" charset="-120"/>
              </a:rPr>
              <a:t>   Footfall is exposure in the repair queue — more people at risk on a dark street, so fix it first. It is protection in the router — eyes on the street, so prefer it. Use one sign in both and your router calls an empty, brightly lit industrial road safe at one in the morning.</a:t>
            </a:r>
            <a:endParaRPr lang="en-US" sz="1550" dirty="0"/>
          </a:p>
        </p:txBody>
      </p:sp>
      <p:sp>
        <p:nvSpPr>
          <p:cNvPr id="21" name="Text 18"/>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Jane Jacobs, The Death and Life of Great American Cities, 1961. Full pipeline in Appendix B.</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240" kern="0" dirty="0">
                <a:solidFill>
                  <a:srgbClr val="8A94A6"/>
                </a:solidFill>
                <a:latin typeface="Arial" pitchFamily="34" charset="0"/>
                <a:ea typeface="Arial" pitchFamily="34" charset="-122"/>
                <a:cs typeface="Arial" pitchFamily="34" charset="-120"/>
              </a:rPr>
              <a:t>SAME CREW. SAME BUDGET. DIFFERENT ORDER.</a:t>
            </a:r>
            <a:endParaRPr lang="en-US" sz="1200" dirty="0"/>
          </a:p>
        </p:txBody>
      </p:sp>
      <p:sp>
        <p:nvSpPr>
          <p:cNvPr id="4" name="Text 1"/>
          <p:cNvSpPr/>
          <p:nvPr/>
        </p:nvSpPr>
        <p:spPr>
          <a:xfrm>
            <a:off x="640080" y="914400"/>
            <a:ext cx="5486400" cy="2011680"/>
          </a:xfrm>
          <a:prstGeom prst="rect">
            <a:avLst/>
          </a:prstGeom>
          <a:noFill/>
          <a:ln/>
        </p:spPr>
        <p:txBody>
          <a:bodyPr wrap="none" lIns="0" tIns="0" rIns="0" bIns="0" rtlCol="0" anchor="b"/>
          <a:lstStyle/>
          <a:p>
            <a:pPr algn="l" indent="0" marL="0">
              <a:buNone/>
            </a:pPr>
            <a:r>
              <a:rPr lang="en-US" sz="14800" b="1" dirty="0">
                <a:solidFill>
                  <a:srgbClr val="F2A93B"/>
                </a:solidFill>
                <a:latin typeface="Arial" pitchFamily="34" charset="0"/>
                <a:ea typeface="Arial" pitchFamily="34" charset="-122"/>
                <a:cs typeface="Arial" pitchFamily="34" charset="-120"/>
              </a:rPr>
              <a:t>7.7</a:t>
            </a:r>
            <a:pPr algn="l" indent="0" marL="0">
              <a:buNone/>
            </a:pPr>
            <a:r>
              <a:rPr lang="en-US" sz="6500" b="1" dirty="0">
                <a:solidFill>
                  <a:srgbClr val="F2A93B"/>
                </a:solidFill>
                <a:latin typeface="Arial" pitchFamily="34" charset="0"/>
                <a:ea typeface="Arial" pitchFamily="34" charset="-122"/>
                <a:cs typeface="Arial" pitchFamily="34" charset="-120"/>
              </a:rPr>
              <a:t>×</a:t>
            </a:r>
            <a:endParaRPr lang="en-US" sz="14800" dirty="0"/>
          </a:p>
        </p:txBody>
      </p:sp>
      <p:sp>
        <p:nvSpPr>
          <p:cNvPr id="5" name="Text 2"/>
          <p:cNvSpPr/>
          <p:nvPr/>
        </p:nvSpPr>
        <p:spPr>
          <a:xfrm>
            <a:off x="640080" y="3072384"/>
            <a:ext cx="4937760" cy="2103120"/>
          </a:xfrm>
          <a:prstGeom prst="rect">
            <a:avLst/>
          </a:prstGeom>
          <a:noFill/>
          <a:ln/>
        </p:spPr>
        <p:txBody>
          <a:bodyPr wrap="square" lIns="0" tIns="0" rIns="0" bIns="0" rtlCol="0" anchor="t"/>
          <a:lstStyle/>
          <a:p>
            <a:pPr indent="0" marL="0">
              <a:lnSpc>
                <a:spcPts val="2400"/>
              </a:lnSpc>
              <a:buNone/>
            </a:pPr>
            <a:r>
              <a:rPr lang="en-US" sz="1650" dirty="0">
                <a:solidFill>
                  <a:srgbClr val="E8EBF0"/>
                </a:solidFill>
                <a:latin typeface="Arial" pitchFamily="34" charset="0"/>
                <a:ea typeface="Arial" pitchFamily="34" charset="-122"/>
                <a:cs typeface="Arial" pitchFamily="34" charset="-120"/>
              </a:rPr>
              <a:t>Under a 40-repair budget, Roshni's forty restore </a:t>
            </a:r>
            <a:pPr indent="0" marL="0">
              <a:lnSpc>
                <a:spcPts val="2400"/>
              </a:lnSpc>
              <a:buNone/>
            </a:pPr>
            <a:r>
              <a:rPr lang="en-US" sz="1650" b="1" dirty="0">
                <a:solidFill>
                  <a:srgbClr val="E8EBF0"/>
                </a:solidFill>
                <a:latin typeface="Arial" pitchFamily="34" charset="0"/>
                <a:ea typeface="Arial" pitchFamily="34" charset="-122"/>
                <a:cs typeface="Arial" pitchFamily="34" charset="-120"/>
              </a:rPr>
              <a:t>4,544 exposed pedestrian-kilometres against 588</a:t>
            </a:r>
            <a:pPr indent="0" marL="0">
              <a:lnSpc>
                <a:spcPts val="2400"/>
              </a:lnSpc>
              <a:buNone/>
            </a:pPr>
            <a:r>
              <a:rPr lang="en-US" sz="1650" dirty="0">
                <a:solidFill>
                  <a:srgbClr val="E8EBF0"/>
                </a:solidFill>
                <a:latin typeface="Arial" pitchFamily="34" charset="0"/>
                <a:ea typeface="Arial" pitchFamily="34" charset="-122"/>
                <a:cs typeface="Arial" pitchFamily="34" charset="-120"/>
              </a:rPr>
              <a:t> for the complaint queue's first forty.
</a:t>
            </a:r>
            <a:pPr indent="0" marL="0">
              <a:lnSpc>
                <a:spcPts val="2400"/>
              </a:lnSpc>
              <a:buNone/>
            </a:pPr>
            <a:r>
              <a:rPr lang="en-US" sz="1650" b="1" dirty="0">
                <a:solidFill>
                  <a:srgbClr val="F2A93B"/>
                </a:solidFill>
                <a:latin typeface="Arial" pitchFamily="34" charset="0"/>
                <a:ea typeface="Arial" pitchFamily="34" charset="-122"/>
                <a:cs typeface="Arial" pitchFamily="34" charset="-120"/>
              </a:rPr>
              <a:t>The gain is not from being cleverer inside a ward.</a:t>
            </a:r>
            <a:endParaRPr lang="en-US" sz="1650" dirty="0"/>
          </a:p>
          <a:p>
            <a:pPr indent="0" marL="0">
              <a:lnSpc>
                <a:spcPts val="2400"/>
              </a:lnSpc>
              <a:buNone/>
            </a:pPr>
            <a:r>
              <a:rPr lang="en-US" sz="1650" b="1" dirty="0">
                <a:solidFill>
                  <a:srgbClr val="F2A93B"/>
                </a:solidFill>
                <a:latin typeface="Arial" pitchFamily="34" charset="0"/>
                <a:ea typeface="Arial" pitchFamily="34" charset="-122"/>
                <a:cs typeface="Arial" pitchFamily="34" charset="-120"/>
              </a:rPr>
              <a:t>It is from visiting the right wards.</a:t>
            </a:r>
            <a:endParaRPr lang="en-US" sz="1650" dirty="0"/>
          </a:p>
        </p:txBody>
      </p:sp>
      <p:pic>
        <p:nvPicPr>
          <p:cNvPr id="6" name="Image 0" descr="assets/chart-counterfactual.png">    </p:cNvPr>
          <p:cNvPicPr>
            <a:picLocks noChangeAspect="1"/>
          </p:cNvPicPr>
          <p:nvPr/>
        </p:nvPicPr>
        <p:blipFill>
          <a:blip r:embed="rId1"/>
          <a:stretch>
            <a:fillRect/>
          </a:stretch>
        </p:blipFill>
        <p:spPr>
          <a:xfrm>
            <a:off x="5943600" y="1371600"/>
            <a:ext cx="5605272" cy="2057400"/>
          </a:xfrm>
          <a:prstGeom prst="rect">
            <a:avLst/>
          </a:prstGeom>
        </p:spPr>
      </p:pic>
      <p:sp>
        <p:nvSpPr>
          <p:cNvPr id="7" name="Shape 3"/>
          <p:cNvSpPr/>
          <p:nvPr/>
        </p:nvSpPr>
        <p:spPr>
          <a:xfrm>
            <a:off x="5943600" y="3712464"/>
            <a:ext cx="5605272" cy="10973"/>
          </a:xfrm>
          <a:prstGeom prst="rect">
            <a:avLst/>
          </a:prstGeom>
          <a:solidFill>
            <a:srgbClr val="252C3A"/>
          </a:solidFill>
          <a:ln w="12700">
            <a:solidFill>
              <a:srgbClr val="333333"/>
            </a:solidFill>
            <a:prstDash val="solid"/>
          </a:ln>
        </p:spPr>
      </p:sp>
      <p:sp>
        <p:nvSpPr>
          <p:cNvPr id="8" name="Text 4"/>
          <p:cNvSpPr/>
          <p:nvPr/>
        </p:nvSpPr>
        <p:spPr>
          <a:xfrm>
            <a:off x="5943600" y="3877056"/>
            <a:ext cx="5605272" cy="274320"/>
          </a:xfrm>
          <a:prstGeom prst="rect">
            <a:avLst/>
          </a:prstGeom>
          <a:noFill/>
          <a:ln/>
        </p:spPr>
        <p:txBody>
          <a:bodyPr wrap="square" lIns="0" tIns="0" rIns="0" bIns="0" rtlCol="0" anchor="ctr"/>
          <a:lstStyle/>
          <a:p>
            <a:pPr indent="0" marL="0">
              <a:buNone/>
            </a:pPr>
            <a:r>
              <a:rPr lang="en-US" sz="1200" b="1" spc="160" kern="0" dirty="0">
                <a:solidFill>
                  <a:srgbClr val="8A94A6"/>
                </a:solidFill>
                <a:latin typeface="Arial" pitchFamily="34" charset="0"/>
                <a:ea typeface="Arial" pitchFamily="34" charset="-122"/>
                <a:cs typeface="Arial" pitchFamily="34" charset="-120"/>
              </a:rPr>
              <a:t>And the floor, volunteered</a:t>
            </a:r>
            <a:endParaRPr lang="en-US" sz="1200" dirty="0"/>
          </a:p>
        </p:txBody>
      </p:sp>
      <p:sp>
        <p:nvSpPr>
          <p:cNvPr id="9" name="Text 5"/>
          <p:cNvSpPr/>
          <p:nvPr/>
        </p:nvSpPr>
        <p:spPr>
          <a:xfrm>
            <a:off x="5943600" y="4224528"/>
            <a:ext cx="5605272" cy="1097280"/>
          </a:xfrm>
          <a:prstGeom prst="rect">
            <a:avLst/>
          </a:prstGeom>
          <a:noFill/>
          <a:ln/>
        </p:spPr>
        <p:txBody>
          <a:bodyPr wrap="square" lIns="0" tIns="0" rIns="0" bIns="0" rtlCol="0" anchor="t"/>
          <a:lstStyle/>
          <a:p>
            <a:pPr indent="0" marL="0">
              <a:lnSpc>
                <a:spcPts val="2200"/>
              </a:lnSpc>
              <a:buNone/>
            </a:pPr>
            <a:r>
              <a:rPr lang="en-US" sz="3400" b="1" dirty="0">
                <a:solidFill>
                  <a:srgbClr val="F2A93B"/>
                </a:solidFill>
                <a:latin typeface="Arial" pitchFamily="34" charset="0"/>
                <a:ea typeface="Arial" pitchFamily="34" charset="-122"/>
                <a:cs typeface="Arial" pitchFamily="34" charset="-120"/>
              </a:rPr>
              <a:t>1.9×</a:t>
            </a:r>
            <a:pPr indent="0" marL="0">
              <a:lnSpc>
                <a:spcPts val="2200"/>
              </a:lnSpc>
              <a:buNone/>
            </a:pPr>
            <a:r>
              <a:rPr lang="en-US" sz="1500" dirty="0">
                <a:solidFill>
                  <a:srgbClr val="E8EBF0"/>
                </a:solidFill>
                <a:latin typeface="Arial" pitchFamily="34" charset="0"/>
                <a:ea typeface="Arial" pitchFamily="34" charset="-122"/>
                <a:cs typeface="Arial" pitchFamily="34" charset="-120"/>
              </a:rPr>
              <a:t>   against a steelman BBMP that somehow picks the single worst segment in every ward it visits — which a coordinate-free complaint log cannot do.</a:t>
            </a:r>
            <a:endParaRPr lang="en-US" sz="3400" dirty="0"/>
          </a:p>
        </p:txBody>
      </p:sp>
      <p:sp>
        <p:nvSpPr>
          <p:cNvPr id="10" name="Text 6"/>
          <p:cNvSpPr/>
          <p:nvPr/>
        </p:nvSpPr>
        <p:spPr>
          <a:xfrm>
            <a:off x="5943600" y="5358384"/>
            <a:ext cx="5605272" cy="731520"/>
          </a:xfrm>
          <a:prstGeom prst="rect">
            <a:avLst/>
          </a:prstGeom>
          <a:noFill/>
          <a:ln/>
        </p:spPr>
        <p:txBody>
          <a:bodyPr wrap="square" lIns="0" tIns="0" rIns="0" bIns="0" rtlCol="0" anchor="ctr"/>
          <a:lstStyle/>
          <a:p>
            <a:pPr indent="0" marL="0">
              <a:lnSpc>
                <a:spcPts val="1800"/>
              </a:lnSpc>
              <a:buNone/>
            </a:pPr>
            <a:r>
              <a:rPr lang="en-US" sz="1250" dirty="0">
                <a:solidFill>
                  <a:srgbClr val="8A94A6"/>
                </a:solidFill>
                <a:latin typeface="Arial" pitchFamily="34" charset="0"/>
                <a:ea typeface="Arial" pitchFamily="34" charset="-122"/>
                <a:cs typeface="Arial" pitchFamily="34" charset="-120"/>
              </a:rPr>
              <a:t>Three further stress tests — 4.9× against the luckiest of 300 draws, 6.4× restricted to wards where we hold lamp labels, 5.4× with every lamp label deleted — are in Appendix A.</a:t>
            </a:r>
            <a:endParaRPr lang="en-US" sz="1250" dirty="0"/>
          </a:p>
        </p:txBody>
      </p:sp>
      <p:sp>
        <p:nvSpPr>
          <p:cNvPr id="11" name="Text 7"/>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11,029 segments · 1,180 km · 33 wards · locked ORR demo bbox. Objective Σ exposure × P(dark) × length. 300 draws. out/stats.json.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800" b="1" dirty="0">
                <a:solidFill>
                  <a:srgbClr val="E8EBF0"/>
                </a:solidFill>
                <a:latin typeface="Arial" pitchFamily="34" charset="0"/>
                <a:ea typeface="Arial" pitchFamily="34" charset="-122"/>
                <a:cs typeface="Arial" pitchFamily="34" charset="-120"/>
              </a:rPr>
              <a:t>What the city sees</a:t>
            </a:r>
            <a:endParaRPr lang="en-US" sz="2800" dirty="0"/>
          </a:p>
        </p:txBody>
      </p:sp>
      <p:pic>
        <p:nvPicPr>
          <p:cNvPr id="4" name="Image 0" descr="assets/screen-queue.png">    </p:cNvPr>
          <p:cNvPicPr>
            <a:picLocks noChangeAspect="1"/>
          </p:cNvPicPr>
          <p:nvPr/>
        </p:nvPicPr>
        <p:blipFill>
          <a:blip r:embed="rId1"/>
          <a:stretch>
            <a:fillRect/>
          </a:stretch>
        </p:blipFill>
        <p:spPr>
          <a:xfrm>
            <a:off x="640080" y="1591056"/>
            <a:ext cx="10908792" cy="3959352"/>
          </a:xfrm>
          <a:prstGeom prst="rect">
            <a:avLst/>
          </a:prstGeom>
        </p:spPr>
      </p:pic>
      <p:sp>
        <p:nvSpPr>
          <p:cNvPr id="5" name="Text 1"/>
          <p:cNvSpPr/>
          <p:nvPr/>
        </p:nvSpPr>
        <p:spPr>
          <a:xfrm>
            <a:off x="640080" y="5779008"/>
            <a:ext cx="10908792" cy="274320"/>
          </a:xfrm>
          <a:prstGeom prst="rect">
            <a:avLst/>
          </a:prstGeom>
          <a:noFill/>
          <a:ln/>
        </p:spPr>
        <p:txBody>
          <a:bodyPr wrap="square" lIns="0" tIns="0" rIns="0" bIns="0" rtlCol="0" anchor="ctr"/>
          <a:lstStyle/>
          <a:p>
            <a:pPr indent="0" marL="0">
              <a:buNone/>
            </a:pPr>
            <a:r>
              <a:rPr lang="en-US" sz="1200" b="1" dirty="0">
                <a:solidFill>
                  <a:srgbClr val="F2A93B"/>
                </a:solidFill>
                <a:latin typeface="Arial" pitchFamily="34" charset="0"/>
                <a:ea typeface="Arial" pitchFamily="34" charset="-122"/>
                <a:cs typeface="Arial" pitchFamily="34" charset="-120"/>
              </a:rPr>
              <a:t>The ratio, live</a:t>
            </a:r>
            <a:pPr indent="0" marL="0">
              <a:buNone/>
            </a:pPr>
            <a:r>
              <a:rPr lang="en-US" sz="1200" dirty="0">
                <a:solidFill>
                  <a:srgbClr val="E8EBF0"/>
                </a:solidFill>
                <a:latin typeface="Arial" pitchFamily="34" charset="0"/>
                <a:ea typeface="Arial" pitchFamily="34" charset="-122"/>
                <a:cs typeface="Arial" pitchFamily="34" charset="-120"/>
              </a:rPr>
              <a:t>  — the budget slider recomputes in the browser.    </a:t>
            </a:r>
            <a:pPr indent="0" marL="0">
              <a:buNone/>
            </a:pPr>
            <a:r>
              <a:rPr lang="en-US" sz="1200" b="1" dirty="0">
                <a:solidFill>
                  <a:srgbClr val="E8EBF0"/>
                </a:solidFill>
                <a:latin typeface="Arial" pitchFamily="34" charset="0"/>
                <a:ea typeface="Arial" pitchFamily="34" charset="-122"/>
                <a:cs typeface="Arial" pitchFamily="34" charset="-120"/>
              </a:rPr>
              <a:t>Municipal priorities</a:t>
            </a:r>
            <a:pPr indent="0" marL="0">
              <a:buNone/>
            </a:pPr>
            <a:r>
              <a:rPr lang="en-US" sz="1200" dirty="0">
                <a:solidFill>
                  <a:srgbClr val="E8EBF0"/>
                </a:solidFill>
                <a:latin typeface="Arial" pitchFamily="34" charset="0"/>
                <a:ea typeface="Arial" pitchFamily="34" charset="-122"/>
                <a:cs typeface="Arial" pitchFamily="34" charset="-120"/>
              </a:rPr>
              <a:t>  — the municipality’s to set, not ours.    </a:t>
            </a:r>
            <a:pPr indent="0" marL="0">
              <a:buNone/>
            </a:pPr>
            <a:r>
              <a:rPr lang="en-US" sz="1200" b="1" dirty="0">
                <a:solidFill>
                  <a:srgbClr val="E8EBF0"/>
                </a:solidFill>
                <a:latin typeface="Arial" pitchFamily="34" charset="0"/>
                <a:ea typeface="Arial" pitchFamily="34" charset="-122"/>
                <a:cs typeface="Arial" pitchFamily="34" charset="-120"/>
              </a:rPr>
              <a:t>Confidence is marked</a:t>
            </a:r>
            <a:pPr indent="0" marL="0">
              <a:buNone/>
            </a:pPr>
            <a:r>
              <a:rPr lang="en-US" sz="1200" dirty="0">
                <a:solidFill>
                  <a:srgbClr val="E8EBF0"/>
                </a:solidFill>
                <a:latin typeface="Arial" pitchFamily="34" charset="0"/>
                <a:ea typeface="Arial" pitchFamily="34" charset="-122"/>
                <a:cs typeface="Arial" pitchFamily="34" charset="-120"/>
              </a:rPr>
              <a:t>  — low-confidence rows are hatched, not hidden.</a:t>
            </a:r>
            <a:endParaRPr lang="en-US" sz="1200" dirty="0"/>
          </a:p>
        </p:txBody>
      </p:sp>
      <p:sp>
        <p:nvSpPr>
          <p:cNvPr id="6" name="Text 2"/>
          <p:cNvSpPr/>
          <p:nvPr/>
        </p:nvSpPr>
        <p:spPr>
          <a:xfrm>
            <a:off x="640080" y="6272784"/>
            <a:ext cx="10908792" cy="274320"/>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Prototype, running client-side on the fixture export. No network call on the demo path.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800" b="1" dirty="0">
                <a:solidFill>
                  <a:srgbClr val="E8EBF0"/>
                </a:solidFill>
                <a:latin typeface="Arial" pitchFamily="34" charset="0"/>
                <a:ea typeface="Arial" pitchFamily="34" charset="-122"/>
                <a:cs typeface="Arial" pitchFamily="34" charset="-120"/>
              </a:rPr>
              <a:t>What a walker sees</a:t>
            </a:r>
            <a:endParaRPr lang="en-US" sz="2800" dirty="0"/>
          </a:p>
        </p:txBody>
      </p:sp>
      <p:pic>
        <p:nvPicPr>
          <p:cNvPr id="4" name="Image 0" descr="assets/screen-route.png">    </p:cNvPr>
          <p:cNvPicPr>
            <a:picLocks noChangeAspect="1"/>
          </p:cNvPicPr>
          <p:nvPr/>
        </p:nvPicPr>
        <p:blipFill>
          <a:blip r:embed="rId1"/>
          <a:stretch>
            <a:fillRect/>
          </a:stretch>
        </p:blipFill>
        <p:spPr>
          <a:xfrm>
            <a:off x="640080" y="1371600"/>
            <a:ext cx="3858768" cy="4681728"/>
          </a:xfrm>
          <a:prstGeom prst="rect">
            <a:avLst/>
          </a:prstGeom>
        </p:spPr>
      </p:pic>
      <p:sp>
        <p:nvSpPr>
          <p:cNvPr id="5" name="Shape 1"/>
          <p:cNvSpPr/>
          <p:nvPr/>
        </p:nvSpPr>
        <p:spPr>
          <a:xfrm>
            <a:off x="4773168" y="1371600"/>
            <a:ext cx="10973" cy="4681728"/>
          </a:xfrm>
          <a:prstGeom prst="rect">
            <a:avLst/>
          </a:prstGeom>
          <a:solidFill>
            <a:srgbClr val="252C3A"/>
          </a:solidFill>
          <a:ln w="12700">
            <a:solidFill>
              <a:srgbClr val="333333"/>
            </a:solidFill>
            <a:prstDash val="solid"/>
          </a:ln>
        </p:spPr>
      </p:sp>
      <p:sp>
        <p:nvSpPr>
          <p:cNvPr id="6" name="Text 2"/>
          <p:cNvSpPr/>
          <p:nvPr/>
        </p:nvSpPr>
        <p:spPr>
          <a:xfrm>
            <a:off x="5102352" y="1426464"/>
            <a:ext cx="3108960" cy="2194560"/>
          </a:xfrm>
          <a:prstGeom prst="rect">
            <a:avLst/>
          </a:prstGeom>
          <a:noFill/>
          <a:ln/>
        </p:spPr>
        <p:txBody>
          <a:bodyPr wrap="square" lIns="0" tIns="0" rIns="0" bIns="0" rtlCol="0" anchor="t"/>
          <a:lstStyle/>
          <a:p>
            <a:pPr indent="0" marL="0">
              <a:lnSpc>
                <a:spcPts val="2000"/>
              </a:lnSpc>
              <a:buNone/>
            </a:pPr>
            <a:r>
              <a:rPr lang="en-US" sz="1400" dirty="0">
                <a:solidFill>
                  <a:srgbClr val="E8EBF0"/>
                </a:solidFill>
                <a:latin typeface="Arial" pitchFamily="34" charset="0"/>
                <a:ea typeface="Arial" pitchFamily="34" charset="-122"/>
                <a:cs typeface="Arial" pitchFamily="34" charset="-120"/>
              </a:rPr>
              <a:t>Shortest:  1,575 m, and 63% of it crosses ground we are not confident about.
</a:t>
            </a:r>
            <a:pPr indent="0" marL="0">
              <a:lnSpc>
                <a:spcPts val="2000"/>
              </a:lnSpc>
              <a:buNone/>
            </a:pPr>
            <a:r>
              <a:rPr lang="en-US" sz="1400" dirty="0">
                <a:solidFill>
                  <a:srgbClr val="E8EBF0"/>
                </a:solidFill>
                <a:latin typeface="Arial" pitchFamily="34" charset="0"/>
                <a:ea typeface="Arial" pitchFamily="34" charset="-122"/>
                <a:cs typeface="Arial" pitchFamily="34" charset="-120"/>
              </a:rPr>
              <a:t>Safer:  2,021 m, 7% unknown — it routes around 18 low-confidence segments.
</a:t>
            </a:r>
            <a:pPr indent="0" marL="0">
              <a:lnSpc>
                <a:spcPts val="2000"/>
              </a:lnSpc>
              <a:buNone/>
            </a:pPr>
            <a:r>
              <a:rPr lang="en-US" sz="1400" b="1" dirty="0">
                <a:solidFill>
                  <a:srgbClr val="F2A93B"/>
                </a:solidFill>
                <a:latin typeface="Arial" pitchFamily="34" charset="0"/>
                <a:ea typeface="Arial" pitchFamily="34" charset="-122"/>
                <a:cs typeface="Arial" pitchFamily="34" charset="-120"/>
              </a:rPr>
              <a:t>Six minutes to walk on ground we actually have data for.</a:t>
            </a:r>
            <a:endParaRPr lang="en-US" sz="1400" dirty="0"/>
          </a:p>
        </p:txBody>
      </p:sp>
      <p:sp>
        <p:nvSpPr>
          <p:cNvPr id="7" name="Text 3"/>
          <p:cNvSpPr/>
          <p:nvPr/>
        </p:nvSpPr>
        <p:spPr>
          <a:xfrm>
            <a:off x="5102352" y="3877056"/>
            <a:ext cx="3108960" cy="1371600"/>
          </a:xfrm>
          <a:prstGeom prst="rect">
            <a:avLst/>
          </a:prstGeom>
          <a:noFill/>
          <a:ln/>
        </p:spPr>
        <p:txBody>
          <a:bodyPr wrap="square" lIns="0" tIns="0" rIns="0" bIns="0" rtlCol="0" anchor="ctr"/>
          <a:lstStyle/>
          <a:p>
            <a:pPr indent="0" marL="0">
              <a:lnSpc>
                <a:spcPts val="1900"/>
              </a:lnSpc>
              <a:buNone/>
            </a:pPr>
            <a:r>
              <a:rPr lang="en-US" sz="1250" dirty="0">
                <a:solidFill>
                  <a:srgbClr val="8A94A6"/>
                </a:solidFill>
                <a:latin typeface="Arial" pitchFamily="34" charset="0"/>
                <a:ea typeface="Arial" pitchFamily="34" charset="-122"/>
                <a:cs typeface="Arial" pitchFamily="34" charset="-120"/>
              </a:rPr>
              <a:t>The shortest route is always shown beside the safer one. We do not auto-select and we do not hide it — the choice is the walker’s, and we say plainly which stretches we have no data for.</a:t>
            </a:r>
            <a:endParaRPr lang="en-US" sz="1250" dirty="0"/>
          </a:p>
        </p:txBody>
      </p:sp>
      <p:sp>
        <p:nvSpPr>
          <p:cNvPr id="8" name="Shape 4"/>
          <p:cNvSpPr/>
          <p:nvPr/>
        </p:nvSpPr>
        <p:spPr>
          <a:xfrm>
            <a:off x="8467344" y="1371600"/>
            <a:ext cx="10973" cy="4681728"/>
          </a:xfrm>
          <a:prstGeom prst="rect">
            <a:avLst/>
          </a:prstGeom>
          <a:solidFill>
            <a:srgbClr val="252C3A"/>
          </a:solidFill>
          <a:ln w="12700">
            <a:solidFill>
              <a:srgbClr val="333333"/>
            </a:solidFill>
            <a:prstDash val="solid"/>
          </a:ln>
        </p:spPr>
      </p:sp>
      <p:sp>
        <p:nvSpPr>
          <p:cNvPr id="9" name="Text 5"/>
          <p:cNvSpPr/>
          <p:nvPr/>
        </p:nvSpPr>
        <p:spPr>
          <a:xfrm>
            <a:off x="8814816" y="1426464"/>
            <a:ext cx="2734056" cy="822960"/>
          </a:xfrm>
          <a:prstGeom prst="rect">
            <a:avLst/>
          </a:prstGeom>
          <a:noFill/>
          <a:ln/>
        </p:spPr>
        <p:txBody>
          <a:bodyPr wrap="square" lIns="0" tIns="0" rIns="0" bIns="0" rtlCol="0" anchor="ctr"/>
          <a:lstStyle/>
          <a:p>
            <a:pPr indent="0" marL="0">
              <a:lnSpc>
                <a:spcPts val="2600"/>
              </a:lnSpc>
              <a:buNone/>
            </a:pPr>
            <a:r>
              <a:rPr lang="en-US" sz="1900" b="1" dirty="0">
                <a:solidFill>
                  <a:srgbClr val="E8EBF0"/>
                </a:solidFill>
                <a:latin typeface="Arial" pitchFamily="34" charset="0"/>
                <a:ea typeface="Arial" pitchFamily="34" charset="-122"/>
                <a:cs typeface="Arial" pitchFamily="34" charset="-120"/>
              </a:rPr>
              <a:t>But routing cannot fix the worst streets</a:t>
            </a:r>
            <a:endParaRPr lang="en-US" sz="1900" dirty="0"/>
          </a:p>
        </p:txBody>
      </p:sp>
      <p:sp>
        <p:nvSpPr>
          <p:cNvPr id="10" name="Text 6"/>
          <p:cNvSpPr/>
          <p:nvPr/>
        </p:nvSpPr>
        <p:spPr>
          <a:xfrm>
            <a:off x="8814816" y="2340864"/>
            <a:ext cx="2734056" cy="822960"/>
          </a:xfrm>
          <a:prstGeom prst="rect">
            <a:avLst/>
          </a:prstGeom>
          <a:noFill/>
          <a:ln/>
        </p:spPr>
        <p:txBody>
          <a:bodyPr wrap="square" lIns="0" tIns="0" rIns="0" bIns="0" rtlCol="0" anchor="ctr"/>
          <a:lstStyle/>
          <a:p>
            <a:pPr indent="0" marL="0">
              <a:lnSpc>
                <a:spcPts val="1900"/>
              </a:lnSpc>
              <a:buNone/>
            </a:pPr>
            <a:r>
              <a:rPr lang="en-US" sz="1300" dirty="0">
                <a:solidFill>
                  <a:srgbClr val="8A94A6"/>
                </a:solidFill>
                <a:latin typeface="Arial" pitchFamily="34" charset="0"/>
                <a:ea typeface="Arial" pitchFamily="34" charset="-122"/>
                <a:cs typeface="Arial" pitchFamily="34" charset="-120"/>
              </a:rPr>
              <a:t>Delete each of the 25 worst segments and look for another way between its endpoints:</a:t>
            </a:r>
            <a:endParaRPr lang="en-US" sz="1300" dirty="0"/>
          </a:p>
        </p:txBody>
      </p:sp>
      <p:sp>
        <p:nvSpPr>
          <p:cNvPr id="11" name="Text 7"/>
          <p:cNvSpPr/>
          <p:nvPr/>
        </p:nvSpPr>
        <p:spPr>
          <a:xfrm>
            <a:off x="8814816" y="3310128"/>
            <a:ext cx="2734056" cy="658368"/>
          </a:xfrm>
          <a:prstGeom prst="rect">
            <a:avLst/>
          </a:prstGeom>
          <a:noFill/>
          <a:ln/>
        </p:spPr>
        <p:txBody>
          <a:bodyPr wrap="square" lIns="0" tIns="0" rIns="0" bIns="0" rtlCol="0" anchor="t"/>
          <a:lstStyle/>
          <a:p>
            <a:pPr indent="0" marL="0">
              <a:lnSpc>
                <a:spcPts val="1700"/>
              </a:lnSpc>
              <a:buNone/>
            </a:pPr>
            <a:r>
              <a:rPr lang="en-US" sz="2100" b="1" dirty="0">
                <a:solidFill>
                  <a:srgbClr val="F2A93B"/>
                </a:solidFill>
                <a:latin typeface="Arial" pitchFamily="34" charset="0"/>
                <a:ea typeface="Arial" pitchFamily="34" charset="-122"/>
                <a:cs typeface="Arial" pitchFamily="34" charset="-120"/>
              </a:rPr>
              <a:t>6</a:t>
            </a:r>
            <a:pPr indent="0" marL="0">
              <a:lnSpc>
                <a:spcPts val="1700"/>
              </a:lnSpc>
              <a:buNone/>
            </a:pPr>
            <a:r>
              <a:rPr lang="en-US" sz="1200" dirty="0">
                <a:solidFill>
                  <a:srgbClr val="E8EBF0"/>
                </a:solidFill>
                <a:latin typeface="Arial" pitchFamily="34" charset="0"/>
                <a:ea typeface="Arial" pitchFamily="34" charset="-122"/>
                <a:cs typeface="Arial" pitchFamily="34" charset="-120"/>
              </a:rPr>
              <a:t>   have no walkable alternative at all</a:t>
            </a:r>
            <a:endParaRPr lang="en-US" sz="2100" dirty="0"/>
          </a:p>
        </p:txBody>
      </p:sp>
      <p:sp>
        <p:nvSpPr>
          <p:cNvPr id="12" name="Text 8"/>
          <p:cNvSpPr/>
          <p:nvPr/>
        </p:nvSpPr>
        <p:spPr>
          <a:xfrm>
            <a:off x="8814816" y="4041648"/>
            <a:ext cx="2734056" cy="658368"/>
          </a:xfrm>
          <a:prstGeom prst="rect">
            <a:avLst/>
          </a:prstGeom>
          <a:noFill/>
          <a:ln/>
        </p:spPr>
        <p:txBody>
          <a:bodyPr wrap="square" lIns="0" tIns="0" rIns="0" bIns="0" rtlCol="0" anchor="t"/>
          <a:lstStyle/>
          <a:p>
            <a:pPr indent="0" marL="0">
              <a:lnSpc>
                <a:spcPts val="1700"/>
              </a:lnSpc>
              <a:buNone/>
            </a:pPr>
            <a:r>
              <a:rPr lang="en-US" sz="2100" b="1" dirty="0">
                <a:solidFill>
                  <a:srgbClr val="F2A93B"/>
                </a:solidFill>
                <a:latin typeface="Arial" pitchFamily="34" charset="0"/>
                <a:ea typeface="Arial" pitchFamily="34" charset="-122"/>
                <a:cs typeface="Arial" pitchFamily="34" charset="-120"/>
              </a:rPr>
              <a:t>19</a:t>
            </a:r>
            <a:pPr indent="0" marL="0">
              <a:lnSpc>
                <a:spcPts val="1700"/>
              </a:lnSpc>
              <a:buNone/>
            </a:pPr>
            <a:r>
              <a:rPr lang="en-US" sz="1200" dirty="0">
                <a:solidFill>
                  <a:srgbClr val="E8EBF0"/>
                </a:solidFill>
                <a:latin typeface="Arial" pitchFamily="34" charset="0"/>
                <a:ea typeface="Arial" pitchFamily="34" charset="-122"/>
                <a:cs typeface="Arial" pitchFamily="34" charset="-120"/>
              </a:rPr>
              <a:t>   have a bypass over 3× the segment’s length</a:t>
            </a:r>
            <a:endParaRPr lang="en-US" sz="2100" dirty="0"/>
          </a:p>
        </p:txBody>
      </p:sp>
      <p:sp>
        <p:nvSpPr>
          <p:cNvPr id="13" name="Text 9"/>
          <p:cNvSpPr/>
          <p:nvPr/>
        </p:nvSpPr>
        <p:spPr>
          <a:xfrm>
            <a:off x="8814816" y="4773168"/>
            <a:ext cx="2734056" cy="658368"/>
          </a:xfrm>
          <a:prstGeom prst="rect">
            <a:avLst/>
          </a:prstGeom>
          <a:noFill/>
          <a:ln/>
        </p:spPr>
        <p:txBody>
          <a:bodyPr wrap="square" lIns="0" tIns="0" rIns="0" bIns="0" rtlCol="0" anchor="t"/>
          <a:lstStyle/>
          <a:p>
            <a:pPr indent="0" marL="0">
              <a:lnSpc>
                <a:spcPts val="1700"/>
              </a:lnSpc>
              <a:buNone/>
            </a:pPr>
            <a:r>
              <a:rPr lang="en-US" sz="2100" b="1" dirty="0">
                <a:solidFill>
                  <a:srgbClr val="F2A93B"/>
                </a:solidFill>
                <a:latin typeface="Arial" pitchFamily="34" charset="0"/>
                <a:ea typeface="Arial" pitchFamily="34" charset="-122"/>
                <a:cs typeface="Arial" pitchFamily="34" charset="-120"/>
              </a:rPr>
              <a:t>17.9×</a:t>
            </a:r>
            <a:pPr indent="0" marL="0">
              <a:lnSpc>
                <a:spcPts val="1700"/>
              </a:lnSpc>
              <a:buNone/>
            </a:pPr>
            <a:r>
              <a:rPr lang="en-US" sz="1200" dirty="0">
                <a:solidFill>
                  <a:srgbClr val="E8EBF0"/>
                </a:solidFill>
                <a:latin typeface="Arial" pitchFamily="34" charset="0"/>
                <a:ea typeface="Arial" pitchFamily="34" charset="-122"/>
                <a:cs typeface="Arial" pitchFamily="34" charset="-120"/>
              </a:rPr>
              <a:t>   median bypass · worst 206.9×</a:t>
            </a:r>
            <a:endParaRPr lang="en-US" sz="2100" dirty="0"/>
          </a:p>
        </p:txBody>
      </p:sp>
      <p:sp>
        <p:nvSpPr>
          <p:cNvPr id="14" name="Text 10"/>
          <p:cNvSpPr/>
          <p:nvPr/>
        </p:nvSpPr>
        <p:spPr>
          <a:xfrm>
            <a:off x="8814816" y="5431536"/>
            <a:ext cx="2734056" cy="822960"/>
          </a:xfrm>
          <a:prstGeom prst="rect">
            <a:avLst/>
          </a:prstGeom>
          <a:noFill/>
          <a:ln/>
        </p:spPr>
        <p:txBody>
          <a:bodyPr wrap="square" lIns="0" tIns="0" rIns="0" bIns="0" rtlCol="0" anchor="ctr"/>
          <a:lstStyle/>
          <a:p>
            <a:pPr indent="0" marL="0">
              <a:lnSpc>
                <a:spcPts val="1800"/>
              </a:lnSpc>
              <a:buNone/>
            </a:pPr>
            <a:r>
              <a:rPr lang="en-US" sz="1300" b="1" dirty="0">
                <a:solidFill>
                  <a:srgbClr val="E8EBF0"/>
                </a:solidFill>
                <a:latin typeface="Arial" pitchFamily="34" charset="0"/>
                <a:ea typeface="Arial" pitchFamily="34" charset="-122"/>
                <a:cs typeface="Arial" pitchFamily="34" charset="-120"/>
              </a:rPr>
              <a:t>On the streets that most need fixing there is nowhere else to walk. Only repair solves them.</a:t>
            </a:r>
            <a:endParaRPr lang="en-US" sz="1300" dirty="0"/>
          </a:p>
        </p:txBody>
      </p:sp>
      <p:sp>
        <p:nvSpPr>
          <p:cNvPr id="15" name="Text 11"/>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out/routes.json, query 1. Bypass test over the 25 highest-priority segments in the corridor.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800" b="1" dirty="0">
                <a:solidFill>
                  <a:srgbClr val="E8EBF0"/>
                </a:solidFill>
                <a:latin typeface="Arial" pitchFamily="34" charset="0"/>
                <a:ea typeface="Arial" pitchFamily="34" charset="-122"/>
                <a:cs typeface="Arial" pitchFamily="34" charset="-120"/>
              </a:rPr>
              <a:t>What a reporter sees</a:t>
            </a:r>
            <a:endParaRPr lang="en-US" sz="2800" dirty="0"/>
          </a:p>
        </p:txBody>
      </p:sp>
      <p:pic>
        <p:nvPicPr>
          <p:cNvPr id="4" name="Image 0" descr="assets/screen-report.png">    </p:cNvPr>
          <p:cNvPicPr>
            <a:picLocks noChangeAspect="1"/>
          </p:cNvPicPr>
          <p:nvPr/>
        </p:nvPicPr>
        <p:blipFill>
          <a:blip r:embed="rId1"/>
          <a:stretch>
            <a:fillRect/>
          </a:stretch>
        </p:blipFill>
        <p:spPr>
          <a:xfrm>
            <a:off x="640080" y="1371600"/>
            <a:ext cx="3950208" cy="4681728"/>
          </a:xfrm>
          <a:prstGeom prst="rect">
            <a:avLst/>
          </a:prstGeom>
        </p:spPr>
      </p:pic>
      <p:sp>
        <p:nvSpPr>
          <p:cNvPr id="5" name="Shape 1"/>
          <p:cNvSpPr/>
          <p:nvPr/>
        </p:nvSpPr>
        <p:spPr>
          <a:xfrm>
            <a:off x="4846320" y="1371600"/>
            <a:ext cx="10973" cy="4681728"/>
          </a:xfrm>
          <a:prstGeom prst="rect">
            <a:avLst/>
          </a:prstGeom>
          <a:solidFill>
            <a:srgbClr val="252C3A"/>
          </a:solidFill>
          <a:ln w="12700">
            <a:solidFill>
              <a:srgbClr val="333333"/>
            </a:solidFill>
            <a:prstDash val="solid"/>
          </a:ln>
        </p:spPr>
      </p:sp>
      <p:sp>
        <p:nvSpPr>
          <p:cNvPr id="6" name="Text 2"/>
          <p:cNvSpPr/>
          <p:nvPr/>
        </p:nvSpPr>
        <p:spPr>
          <a:xfrm>
            <a:off x="5175504" y="1426464"/>
            <a:ext cx="2926080" cy="3108960"/>
          </a:xfrm>
          <a:prstGeom prst="rect">
            <a:avLst/>
          </a:prstGeom>
          <a:noFill/>
          <a:ln/>
        </p:spPr>
        <p:txBody>
          <a:bodyPr wrap="square" lIns="0" tIns="0" rIns="0" bIns="0" rtlCol="0" anchor="t"/>
          <a:lstStyle/>
          <a:p>
            <a:pPr indent="0" marL="0">
              <a:lnSpc>
                <a:spcPts val="2000"/>
              </a:lnSpc>
              <a:buNone/>
            </a:pPr>
            <a:r>
              <a:rPr lang="en-US" sz="1350" dirty="0">
                <a:solidFill>
                  <a:srgbClr val="E8EBF0"/>
                </a:solidFill>
                <a:latin typeface="Arial" pitchFamily="34" charset="0"/>
                <a:ea typeface="Arial" pitchFamily="34" charset="-122"/>
                <a:cs typeface="Arial" pitchFamily="34" charset="-120"/>
              </a:rPr>
              <a:t>The empty state is not “no reports yet.” It is </a:t>
            </a:r>
            <a:pPr indent="0" marL="0">
              <a:lnSpc>
                <a:spcPts val="2000"/>
              </a:lnSpc>
              <a:buNone/>
            </a:pPr>
            <a:r>
              <a:rPr lang="en-US" sz="1350" b="1" dirty="0">
                <a:solidFill>
                  <a:srgbClr val="F2A93B"/>
                </a:solidFill>
                <a:latin typeface="Arial" pitchFamily="34" charset="0"/>
                <a:ea typeface="Arial" pitchFamily="34" charset="-122"/>
                <a:cs typeface="Arial" pitchFamily="34" charset="-120"/>
              </a:rPr>
              <a:t>“streets worth checking tonight”</a:t>
            </a:r>
            <a:pPr indent="0" marL="0">
              <a:lnSpc>
                <a:spcPts val="2000"/>
              </a:lnSpc>
              <a:buNone/>
            </a:pPr>
            <a:r>
              <a:rPr lang="en-US" sz="1350" dirty="0">
                <a:solidFill>
                  <a:srgbClr val="E8EBF0"/>
                </a:solidFill>
                <a:latin typeface="Arial" pitchFamily="34" charset="0"/>
                <a:ea typeface="Arial" pitchFamily="34" charset="-122"/>
                <a:cs typeface="Arial" pitchFamily="34" charset="-120"/>
              </a:rPr>
              <a:t> — so the app directs reporting instead of waiting for it.
</a:t>
            </a:r>
            <a:pPr indent="0" marL="0">
              <a:lnSpc>
                <a:spcPts val="2000"/>
              </a:lnSpc>
              <a:buNone/>
            </a:pPr>
            <a:r>
              <a:rPr lang="en-US" sz="1350" b="1" dirty="0">
                <a:solidFill>
                  <a:srgbClr val="E8EBF0"/>
                </a:solidFill>
                <a:latin typeface="Arial" pitchFamily="34" charset="0"/>
                <a:ea typeface="Arial" pitchFamily="34" charset="-122"/>
                <a:cs typeface="Arial" pitchFamily="34" charset="-120"/>
              </a:rPr>
              <a:t>93.7% of our 11,029 segments have no lamp evidence at all</a:t>
            </a:r>
            <a:pPr indent="0" marL="0">
              <a:lnSpc>
                <a:spcPts val="2000"/>
              </a:lnSpc>
              <a:buNone/>
            </a:pPr>
            <a:r>
              <a:rPr lang="en-US" sz="1350" dirty="0">
                <a:solidFill>
                  <a:srgbClr val="E8EBF0"/>
                </a:solidFill>
                <a:latin typeface="Arial" pitchFamily="34" charset="0"/>
                <a:ea typeface="Arial" pitchFamily="34" charset="-122"/>
                <a:cs typeface="Arial" pitchFamily="34" charset="-120"/>
              </a:rPr>
              <a:t> and run on the ward prior alone. That is not a flaw we are hiding — it is why every segment carries a variance, and it is what this screen is for.</a:t>
            </a:r>
            <a:endParaRPr lang="en-US" sz="1350" dirty="0"/>
          </a:p>
        </p:txBody>
      </p:sp>
      <p:sp>
        <p:nvSpPr>
          <p:cNvPr id="7" name="Text 3"/>
          <p:cNvSpPr/>
          <p:nvPr/>
        </p:nvSpPr>
        <p:spPr>
          <a:xfrm>
            <a:off x="5175504" y="4443984"/>
            <a:ext cx="2926080" cy="1097280"/>
          </a:xfrm>
          <a:prstGeom prst="rect">
            <a:avLst/>
          </a:prstGeom>
          <a:noFill/>
          <a:ln/>
        </p:spPr>
        <p:txBody>
          <a:bodyPr wrap="square" lIns="0" tIns="0" rIns="0" bIns="0" rtlCol="0" anchor="ctr"/>
          <a:lstStyle/>
          <a:p>
            <a:pPr indent="0" marL="0">
              <a:lnSpc>
                <a:spcPts val="1800"/>
              </a:lnSpc>
              <a:buNone/>
            </a:pPr>
            <a:r>
              <a:rPr lang="en-US" sz="1250" dirty="0">
                <a:solidFill>
                  <a:srgbClr val="8A94A6"/>
                </a:solidFill>
                <a:latin typeface="Arial" pitchFamily="34" charset="0"/>
                <a:ea typeface="Arial" pitchFamily="34" charset="-122"/>
                <a:cs typeface="Arial" pitchFamily="34" charset="-120"/>
              </a:rPr>
              <a:t>A report is worth most exactly where we are least sure and most people walk.</a:t>
            </a:r>
            <a:endParaRPr lang="en-US" sz="1250" dirty="0"/>
          </a:p>
        </p:txBody>
      </p:sp>
      <p:sp>
        <p:nvSpPr>
          <p:cNvPr id="8" name="Shape 4"/>
          <p:cNvSpPr/>
          <p:nvPr/>
        </p:nvSpPr>
        <p:spPr>
          <a:xfrm>
            <a:off x="8357616" y="1371600"/>
            <a:ext cx="10973" cy="4681728"/>
          </a:xfrm>
          <a:prstGeom prst="rect">
            <a:avLst/>
          </a:prstGeom>
          <a:solidFill>
            <a:srgbClr val="252C3A"/>
          </a:solidFill>
          <a:ln w="12700">
            <a:solidFill>
              <a:srgbClr val="333333"/>
            </a:solidFill>
            <a:prstDash val="solid"/>
          </a:ln>
        </p:spPr>
      </p:sp>
      <p:pic>
        <p:nvPicPr>
          <p:cNvPr id="9" name="Image 1" descr="assets/chart-curve.png">    </p:cNvPr>
          <p:cNvPicPr>
            <a:picLocks noChangeAspect="1"/>
          </p:cNvPicPr>
          <p:nvPr/>
        </p:nvPicPr>
        <p:blipFill>
          <a:blip r:embed="rId2"/>
          <a:stretch>
            <a:fillRect/>
          </a:stretch>
        </p:blipFill>
        <p:spPr>
          <a:xfrm>
            <a:off x="8595360" y="1426464"/>
            <a:ext cx="2953512" cy="1755648"/>
          </a:xfrm>
          <a:prstGeom prst="rect">
            <a:avLst/>
          </a:prstGeom>
        </p:spPr>
      </p:pic>
      <p:sp>
        <p:nvSpPr>
          <p:cNvPr id="10" name="Text 5"/>
          <p:cNvSpPr/>
          <p:nvPr/>
        </p:nvSpPr>
        <p:spPr>
          <a:xfrm>
            <a:off x="8595360" y="3364992"/>
            <a:ext cx="2953512" cy="1828800"/>
          </a:xfrm>
          <a:prstGeom prst="rect">
            <a:avLst/>
          </a:prstGeom>
          <a:noFill/>
          <a:ln/>
        </p:spPr>
        <p:txBody>
          <a:bodyPr wrap="square" lIns="0" tIns="0" rIns="0" bIns="0" rtlCol="0" anchor="ctr"/>
          <a:lstStyle/>
          <a:p>
            <a:pPr indent="0" marL="0">
              <a:lnSpc>
                <a:spcPts val="1900"/>
              </a:lnSpc>
              <a:buNone/>
            </a:pPr>
            <a:r>
              <a:rPr lang="en-US" sz="1300" dirty="0">
                <a:solidFill>
                  <a:srgbClr val="E8EBF0"/>
                </a:solidFill>
                <a:latin typeface="Arial" pitchFamily="34" charset="0"/>
                <a:ea typeface="Arial" pitchFamily="34" charset="-122"/>
                <a:cs typeface="Arial" pitchFamily="34" charset="-120"/>
              </a:rPr>
              <a:t>With zero reports the prior-only ranking already captures </a:t>
            </a:r>
            <a:pPr indent="0" marL="0">
              <a:lnSpc>
                <a:spcPts val="1900"/>
              </a:lnSpc>
              <a:buNone/>
            </a:pPr>
            <a:r>
              <a:rPr lang="en-US" sz="1300" b="1" dirty="0">
                <a:solidFill>
                  <a:srgbClr val="F2A93B"/>
                </a:solidFill>
                <a:latin typeface="Arial" pitchFamily="34" charset="0"/>
                <a:ea typeface="Arial" pitchFamily="34" charset="-122"/>
                <a:cs typeface="Arial" pitchFamily="34" charset="-120"/>
              </a:rPr>
              <a:t>56%</a:t>
            </a:r>
            <a:pPr indent="0" marL="0">
              <a:lnSpc>
                <a:spcPts val="1900"/>
              </a:lnSpc>
              <a:buNone/>
            </a:pPr>
            <a:r>
              <a:rPr lang="en-US" sz="1300" dirty="0">
                <a:solidFill>
                  <a:srgbClr val="E8EBF0"/>
                </a:solidFill>
                <a:latin typeface="Arial" pitchFamily="34" charset="0"/>
                <a:ea typeface="Arial" pitchFamily="34" charset="-122"/>
                <a:cs typeface="Arial" pitchFamily="34" charset="-120"/>
              </a:rPr>
              <a:t> of what a perfectly-informed ranking would restore. 400 targeted reports takes it to </a:t>
            </a:r>
            <a:pPr indent="0" marL="0">
              <a:lnSpc>
                <a:spcPts val="1900"/>
              </a:lnSpc>
              <a:buNone/>
            </a:pPr>
            <a:r>
              <a:rPr lang="en-US" sz="1300" b="1" dirty="0">
                <a:solidFill>
                  <a:srgbClr val="F2A93B"/>
                </a:solidFill>
                <a:latin typeface="Arial" pitchFamily="34" charset="0"/>
                <a:ea typeface="Arial" pitchFamily="34" charset="-122"/>
                <a:cs typeface="Arial" pitchFamily="34" charset="-120"/>
              </a:rPr>
              <a:t>76%</a:t>
            </a:r>
            <a:pPr indent="0" marL="0">
              <a:lnSpc>
                <a:spcPts val="1900"/>
              </a:lnSpc>
              <a:buNone/>
            </a:pPr>
            <a:r>
              <a:rPr lang="en-US" sz="1300" dirty="0">
                <a:solidFill>
                  <a:srgbClr val="E8EBF0"/>
                </a:solidFill>
                <a:latin typeface="Arial" pitchFamily="34" charset="0"/>
                <a:ea typeface="Arial" pitchFamily="34" charset="-122"/>
                <a:cs typeface="Arial" pitchFamily="34" charset="-120"/>
              </a:rPr>
              <a:t>; 400 random reports reach only 63%.</a:t>
            </a:r>
            <a:endParaRPr lang="en-US" sz="1300" dirty="0"/>
          </a:p>
        </p:txBody>
      </p:sp>
      <p:sp>
        <p:nvSpPr>
          <p:cNvPr id="11" name="Text 6"/>
          <p:cNvSpPr/>
          <p:nvPr/>
        </p:nvSpPr>
        <p:spPr>
          <a:xfrm>
            <a:off x="8595360" y="5358384"/>
            <a:ext cx="2953512" cy="548640"/>
          </a:xfrm>
          <a:prstGeom prst="rect">
            <a:avLst/>
          </a:prstGeom>
          <a:noFill/>
          <a:ln/>
        </p:spPr>
        <p:txBody>
          <a:bodyPr wrap="square" lIns="0" tIns="0" rIns="0" bIns="0" rtlCol="0" anchor="ctr"/>
          <a:lstStyle/>
          <a:p>
            <a:pPr indent="0" marL="0">
              <a:lnSpc>
                <a:spcPts val="1600"/>
              </a:lnSpc>
              <a:buNone/>
            </a:pPr>
            <a:r>
              <a:rPr lang="en-US" sz="1150" i="1" dirty="0">
                <a:solidFill>
                  <a:srgbClr val="8A94A6"/>
                </a:solidFill>
                <a:latin typeface="Arial" pitchFamily="34" charset="0"/>
                <a:ea typeface="Arial" pitchFamily="34" charset="-122"/>
                <a:cs typeface="Arial" pitchFamily="34" charset="-120"/>
              </a:rPr>
              <a:t>Simulation, not a field trial — labelled as one in out/curve.json.</a:t>
            </a:r>
            <a:endParaRPr lang="en-US" sz="1150" dirty="0"/>
          </a:p>
        </p:txBody>
      </p:sp>
      <p:sp>
        <p:nvSpPr>
          <p:cNvPr id="12" name="Text 7"/>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690 of 11,029 segments carry any OSM lamp evidence. out/stats.json · out/curve.json.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900" b="1" dirty="0">
                <a:solidFill>
                  <a:srgbClr val="E8EBF0"/>
                </a:solidFill>
                <a:latin typeface="Arial" pitchFamily="34" charset="0"/>
                <a:ea typeface="Arial" pitchFamily="34" charset="-122"/>
                <a:cs typeface="Arial" pitchFamily="34" charset="-120"/>
              </a:rPr>
              <a:t>We got a null, distrusted it, and found our own bug</a:t>
            </a:r>
            <a:endParaRPr lang="en-US" sz="2900" dirty="0"/>
          </a:p>
        </p:txBody>
      </p:sp>
      <p:sp>
        <p:nvSpPr>
          <p:cNvPr id="4" name="Text 1"/>
          <p:cNvSpPr/>
          <p:nvPr/>
        </p:nvSpPr>
        <p:spPr>
          <a:xfrm>
            <a:off x="640080" y="1481328"/>
            <a:ext cx="10908792" cy="548640"/>
          </a:xfrm>
          <a:prstGeom prst="rect">
            <a:avLst/>
          </a:prstGeom>
          <a:noFill/>
          <a:ln/>
        </p:spPr>
        <p:txBody>
          <a:bodyPr wrap="square" lIns="0" tIns="0" rIns="0" bIns="0" rtlCol="0" anchor="ctr"/>
          <a:lstStyle/>
          <a:p>
            <a:pPr indent="0" marL="0">
              <a:lnSpc>
                <a:spcPts val="2000"/>
              </a:lnSpc>
              <a:buNone/>
            </a:pPr>
            <a:r>
              <a:rPr lang="en-US" sz="1450" dirty="0">
                <a:solidFill>
                  <a:srgbClr val="E8EBF0"/>
                </a:solidFill>
                <a:latin typeface="Arial" pitchFamily="34" charset="0"/>
                <a:ea typeface="Arial" pitchFamily="34" charset="-122"/>
                <a:cs typeface="Arial" pitchFamily="34" charset="-120"/>
              </a:rPr>
              <a:t>Validation needs a signal you did not use to build the estimate. </a:t>
            </a:r>
            <a:pPr indent="0" marL="0">
              <a:lnSpc>
                <a:spcPts val="2000"/>
              </a:lnSpc>
              <a:buNone/>
            </a:pPr>
            <a:r>
              <a:rPr lang="en-US" sz="1450" dirty="0">
                <a:solidFill>
                  <a:srgbClr val="8A94A6"/>
                </a:solidFill>
                <a:latin typeface="Arial" pitchFamily="34" charset="0"/>
                <a:ea typeface="Arial" pitchFamily="34" charset="-122"/>
                <a:cs typeface="Arial" pitchFamily="34" charset="-120"/>
              </a:rPr>
              <a:t>And you are validating an ordering, not a magnitude — “412 pedestrians an hour” is unfalsifiable; “these streets rank above those” is checkable.</a:t>
            </a:r>
            <a:endParaRPr lang="en-US" sz="1450" dirty="0"/>
          </a:p>
        </p:txBody>
      </p:sp>
      <p:pic>
        <p:nvPicPr>
          <p:cNvPr id="5" name="Image 0" descr="assets/chart-scatter.png">    </p:cNvPr>
          <p:cNvPicPr>
            <a:picLocks noChangeAspect="1"/>
          </p:cNvPicPr>
          <p:nvPr/>
        </p:nvPicPr>
        <p:blipFill>
          <a:blip r:embed="rId1"/>
          <a:stretch>
            <a:fillRect/>
          </a:stretch>
        </p:blipFill>
        <p:spPr>
          <a:xfrm>
            <a:off x="603504" y="2139696"/>
            <a:ext cx="5943600" cy="3913632"/>
          </a:xfrm>
          <a:prstGeom prst="rect">
            <a:avLst/>
          </a:prstGeom>
        </p:spPr>
      </p:pic>
      <p:sp>
        <p:nvSpPr>
          <p:cNvPr id="6" name="Shape 2"/>
          <p:cNvSpPr/>
          <p:nvPr/>
        </p:nvSpPr>
        <p:spPr>
          <a:xfrm>
            <a:off x="6528816" y="2139696"/>
            <a:ext cx="10973" cy="3913632"/>
          </a:xfrm>
          <a:prstGeom prst="rect">
            <a:avLst/>
          </a:prstGeom>
          <a:solidFill>
            <a:srgbClr val="252C3A"/>
          </a:solidFill>
          <a:ln w="12700">
            <a:solidFill>
              <a:srgbClr val="333333"/>
            </a:solidFill>
            <a:prstDash val="solid"/>
          </a:ln>
        </p:spPr>
      </p:sp>
      <p:sp>
        <p:nvSpPr>
          <p:cNvPr id="7" name="Text 3"/>
          <p:cNvSpPr/>
          <p:nvPr/>
        </p:nvSpPr>
        <p:spPr>
          <a:xfrm>
            <a:off x="6876288" y="2139696"/>
            <a:ext cx="4672584" cy="2651760"/>
          </a:xfrm>
          <a:prstGeom prst="rect">
            <a:avLst/>
          </a:prstGeom>
          <a:noFill/>
          <a:ln/>
        </p:spPr>
        <p:txBody>
          <a:bodyPr wrap="square" lIns="0" tIns="0" rIns="0" bIns="0" rtlCol="0" anchor="ctr"/>
          <a:lstStyle/>
          <a:p>
            <a:pPr indent="0" marL="0">
              <a:lnSpc>
                <a:spcPts val="1900"/>
              </a:lnSpc>
              <a:buNone/>
            </a:pPr>
            <a:r>
              <a:rPr lang="en-US" sz="1350" dirty="0">
                <a:solidFill>
                  <a:srgbClr val="8A94A6"/>
                </a:solidFill>
                <a:latin typeface="Arial" pitchFamily="34" charset="0"/>
                <a:ea typeface="Arial" pitchFamily="34" charset="-122"/>
                <a:cs typeface="Arial" pitchFamily="34" charset="-120"/>
              </a:rPr>
              <a:t>The first answer was ρ = 0.03. Two proxies that should have agreed didn’t. So we went looking, and found we were keying the walk graph on </a:t>
            </a:r>
            <a:pPr indent="0" marL="0">
              <a:lnSpc>
                <a:spcPts val="1900"/>
              </a:lnSpc>
              <a:buNone/>
            </a:pPr>
            <a:r>
              <a:rPr lang="en-US" sz="1350" b="1" dirty="0">
                <a:solidFill>
                  <a:srgbClr val="E8EBF0"/>
                </a:solidFill>
                <a:latin typeface="Arial" pitchFamily="34" charset="0"/>
                <a:ea typeface="Arial" pitchFamily="34" charset="-122"/>
                <a:cs typeface="Arial" pitchFamily="34" charset="-120"/>
              </a:rPr>
              <a:t>rounded coordinates</a:t>
            </a:r>
            <a:pPr indent="0" marL="0">
              <a:lnSpc>
                <a:spcPts val="1900"/>
              </a:lnSpc>
              <a:buNone/>
            </a:pPr>
            <a:r>
              <a:rPr lang="en-US" sz="1350" dirty="0">
                <a:solidFill>
                  <a:srgbClr val="8A94A6"/>
                </a:solidFill>
                <a:latin typeface="Arial" pitchFamily="34" charset="0"/>
                <a:ea typeface="Arial" pitchFamily="34" charset="-122"/>
                <a:cs typeface="Arial" pitchFamily="34" charset="-120"/>
              </a:rPr>
              <a:t> — junctions where two roads genuinely meet weren’t merging. The network had shattered, and the betweenness we were feeding the model was computed over 55% of the city.
</a:t>
            </a:r>
            <a:pPr indent="0" marL="0">
              <a:lnSpc>
                <a:spcPts val="1900"/>
              </a:lnSpc>
              <a:buNone/>
            </a:pPr>
            <a:r>
              <a:rPr lang="en-US" sz="1350" dirty="0">
                <a:solidFill>
                  <a:srgbClr val="E8EBF0"/>
                </a:solidFill>
                <a:latin typeface="Arial" pitchFamily="34" charset="0"/>
                <a:ea typeface="Arial" pitchFamily="34" charset="-122"/>
                <a:cs typeface="Arial" pitchFamily="34" charset="-120"/>
              </a:rPr>
              <a:t>Keyed it on OSM node ids and re-ran over eight times the area. 98.4% now connects, and two proxies built from completely unrelated inputs — night commerce, and pure network topology plus bus service — converge at ρ = 0.30.</a:t>
            </a:r>
            <a:endParaRPr lang="en-US" sz="1350" dirty="0"/>
          </a:p>
        </p:txBody>
      </p:sp>
      <p:sp>
        <p:nvSpPr>
          <p:cNvPr id="8" name="Shape 4"/>
          <p:cNvSpPr/>
          <p:nvPr/>
        </p:nvSpPr>
        <p:spPr>
          <a:xfrm>
            <a:off x="6876288" y="4901184"/>
            <a:ext cx="4672584" cy="10973"/>
          </a:xfrm>
          <a:prstGeom prst="rect">
            <a:avLst/>
          </a:prstGeom>
          <a:solidFill>
            <a:srgbClr val="252C3A"/>
          </a:solidFill>
          <a:ln w="12700">
            <a:solidFill>
              <a:srgbClr val="333333"/>
            </a:solidFill>
            <a:prstDash val="solid"/>
          </a:ln>
        </p:spPr>
      </p:sp>
      <p:sp>
        <p:nvSpPr>
          <p:cNvPr id="9" name="Text 5"/>
          <p:cNvSpPr/>
          <p:nvPr/>
        </p:nvSpPr>
        <p:spPr>
          <a:xfrm>
            <a:off x="6876288" y="5029200"/>
            <a:ext cx="3017520" cy="274320"/>
          </a:xfrm>
          <a:prstGeom prst="rect">
            <a:avLst/>
          </a:prstGeom>
          <a:noFill/>
          <a:ln/>
        </p:spPr>
        <p:txBody>
          <a:bodyPr wrap="square" lIns="0" tIns="0" rIns="0" bIns="0" rtlCol="0" anchor="ctr"/>
          <a:lstStyle/>
          <a:p>
            <a:pPr indent="0" marL="0">
              <a:buNone/>
            </a:pPr>
            <a:r>
              <a:rPr lang="en-US" sz="1200" dirty="0">
                <a:solidFill>
                  <a:srgbClr val="E8EBF0"/>
                </a:solidFill>
                <a:latin typeface="Arial" pitchFamily="34" charset="0"/>
                <a:ea typeface="Arial" pitchFamily="34" charset="-122"/>
                <a:cs typeface="Arial" pitchFamily="34" charset="-120"/>
              </a:rPr>
              <a:t>Convergent</a:t>
            </a:r>
            <a:endParaRPr lang="en-US" sz="1200" dirty="0"/>
          </a:p>
        </p:txBody>
      </p:sp>
      <p:sp>
        <p:nvSpPr>
          <p:cNvPr id="10" name="Text 6"/>
          <p:cNvSpPr/>
          <p:nvPr/>
        </p:nvSpPr>
        <p:spPr>
          <a:xfrm>
            <a:off x="9921240" y="5029200"/>
            <a:ext cx="1627632" cy="274320"/>
          </a:xfrm>
          <a:prstGeom prst="rect">
            <a:avLst/>
          </a:prstGeom>
          <a:noFill/>
          <a:ln/>
        </p:spPr>
        <p:txBody>
          <a:bodyPr wrap="square" lIns="0" tIns="0" rIns="0" bIns="0" rtlCol="0" anchor="ctr"/>
          <a:lstStyle/>
          <a:p>
            <a:pPr algn="r" indent="0" marL="0">
              <a:buNone/>
            </a:pPr>
            <a:r>
              <a:rPr lang="en-US" sz="1200" b="1" dirty="0">
                <a:solidFill>
                  <a:srgbClr val="F2A93B"/>
                </a:solidFill>
                <a:latin typeface="Arial" pitchFamily="34" charset="0"/>
                <a:ea typeface="Arial" pitchFamily="34" charset="-122"/>
                <a:cs typeface="Arial" pitchFamily="34" charset="-120"/>
              </a:rPr>
              <a:t>ρ +0.30, +0.44 vs night bus</a:t>
            </a:r>
            <a:endParaRPr lang="en-US" sz="1200" dirty="0"/>
          </a:p>
        </p:txBody>
      </p:sp>
      <p:sp>
        <p:nvSpPr>
          <p:cNvPr id="11" name="Text 7"/>
          <p:cNvSpPr/>
          <p:nvPr/>
        </p:nvSpPr>
        <p:spPr>
          <a:xfrm>
            <a:off x="6876288" y="5413248"/>
            <a:ext cx="3017520" cy="274320"/>
          </a:xfrm>
          <a:prstGeom prst="rect">
            <a:avLst/>
          </a:prstGeom>
          <a:noFill/>
          <a:ln/>
        </p:spPr>
        <p:txBody>
          <a:bodyPr wrap="square" lIns="0" tIns="0" rIns="0" bIns="0" rtlCol="0" anchor="ctr"/>
          <a:lstStyle/>
          <a:p>
            <a:pPr indent="0" marL="0">
              <a:buNone/>
            </a:pPr>
            <a:r>
              <a:rPr lang="en-US" sz="1200" dirty="0">
                <a:solidFill>
                  <a:srgbClr val="8A94A6"/>
                </a:solidFill>
                <a:latin typeface="Arial" pitchFamily="34" charset="0"/>
                <a:ea typeface="Arial" pitchFamily="34" charset="-122"/>
                <a:cs typeface="Arial" pitchFamily="34" charset="-120"/>
              </a:rPr>
              <a:t>Criterion — night pedestrian crashes</a:t>
            </a:r>
            <a:endParaRPr lang="en-US" sz="1200" dirty="0"/>
          </a:p>
        </p:txBody>
      </p:sp>
      <p:sp>
        <p:nvSpPr>
          <p:cNvPr id="12" name="Text 8"/>
          <p:cNvSpPr/>
          <p:nvPr/>
        </p:nvSpPr>
        <p:spPr>
          <a:xfrm>
            <a:off x="9921240" y="5413248"/>
            <a:ext cx="1627632"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not yet measured</a:t>
            </a:r>
            <a:endParaRPr lang="en-US" sz="1200" dirty="0"/>
          </a:p>
        </p:txBody>
      </p:sp>
      <p:sp>
        <p:nvSpPr>
          <p:cNvPr id="13" name="Text 9"/>
          <p:cNvSpPr/>
          <p:nvPr/>
        </p:nvSpPr>
        <p:spPr>
          <a:xfrm>
            <a:off x="6876288" y="5797296"/>
            <a:ext cx="3017520" cy="274320"/>
          </a:xfrm>
          <a:prstGeom prst="rect">
            <a:avLst/>
          </a:prstGeom>
          <a:noFill/>
          <a:ln/>
        </p:spPr>
        <p:txBody>
          <a:bodyPr wrap="square" lIns="0" tIns="0" rIns="0" bIns="0" rtlCol="0" anchor="ctr"/>
          <a:lstStyle/>
          <a:p>
            <a:pPr indent="0" marL="0">
              <a:buNone/>
            </a:pPr>
            <a:r>
              <a:rPr lang="en-US" sz="1200" dirty="0">
                <a:solidFill>
                  <a:srgbClr val="8A94A6"/>
                </a:solidFill>
                <a:latin typeface="Arial" pitchFamily="34" charset="0"/>
                <a:ea typeface="Arial" pitchFamily="34" charset="-122"/>
                <a:cs typeface="Arial" pitchFamily="34" charset="-120"/>
              </a:rPr>
              <a:t>Ground truth — stratified field counts</a:t>
            </a:r>
            <a:endParaRPr lang="en-US" sz="1200" dirty="0"/>
          </a:p>
        </p:txBody>
      </p:sp>
      <p:sp>
        <p:nvSpPr>
          <p:cNvPr id="14" name="Text 10"/>
          <p:cNvSpPr/>
          <p:nvPr/>
        </p:nvSpPr>
        <p:spPr>
          <a:xfrm>
            <a:off x="9921240" y="5797296"/>
            <a:ext cx="1627632"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not yet measured</a:t>
            </a:r>
            <a:endParaRPr lang="en-US" sz="1200" dirty="0"/>
          </a:p>
        </p:txBody>
      </p:sp>
      <p:sp>
        <p:nvSpPr>
          <p:cNvPr id="15" name="Text 11"/>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out/stats.json · data/pipeline.py · BMTC GTFS via Vonter/bmtc-gtfs. Scatter is all 11,029 segments.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Measured, not chosen — and honest about the rest</a:t>
            </a:r>
            <a:endParaRPr lang="en-US" sz="3100" dirty="0"/>
          </a:p>
        </p:txBody>
      </p:sp>
      <p:sp>
        <p:nvSpPr>
          <p:cNvPr id="4" name="Text 1"/>
          <p:cNvSpPr/>
          <p:nvPr/>
        </p:nvSpPr>
        <p:spPr>
          <a:xfrm>
            <a:off x="640080" y="1627632"/>
            <a:ext cx="5120640" cy="256032"/>
          </a:xfrm>
          <a:prstGeom prst="rect">
            <a:avLst/>
          </a:prstGeom>
          <a:noFill/>
          <a:ln/>
        </p:spPr>
        <p:txBody>
          <a:bodyPr wrap="square" lIns="0" tIns="0" rIns="0" bIns="0" rtlCol="0" anchor="ctr"/>
          <a:lstStyle/>
          <a:p>
            <a:pPr indent="0" marL="0">
              <a:buNone/>
            </a:pPr>
            <a:r>
              <a:rPr lang="en-US" sz="1100" b="1" spc="200" kern="0" dirty="0">
                <a:solidFill>
                  <a:srgbClr val="F2A93B"/>
                </a:solidFill>
                <a:latin typeface="Arial" pitchFamily="34" charset="0"/>
                <a:ea typeface="Arial" pitchFamily="34" charset="-122"/>
                <a:cs typeface="Arial" pitchFamily="34" charset="-120"/>
              </a:rPr>
              <a:t>WHAT WE MEASURED</a:t>
            </a:r>
            <a:endParaRPr lang="en-US" sz="1100" dirty="0"/>
          </a:p>
        </p:txBody>
      </p:sp>
      <p:sp>
        <p:nvSpPr>
          <p:cNvPr id="5" name="Shape 2"/>
          <p:cNvSpPr/>
          <p:nvPr/>
        </p:nvSpPr>
        <p:spPr>
          <a:xfrm>
            <a:off x="640080" y="1920240"/>
            <a:ext cx="5120640" cy="10973"/>
          </a:xfrm>
          <a:prstGeom prst="rect">
            <a:avLst/>
          </a:prstGeom>
          <a:solidFill>
            <a:srgbClr val="252C3A"/>
          </a:solidFill>
          <a:ln w="12700">
            <a:solidFill>
              <a:srgbClr val="333333"/>
            </a:solidFill>
            <a:prstDash val="solid"/>
          </a:ln>
        </p:spPr>
      </p:sp>
      <p:sp>
        <p:nvSpPr>
          <p:cNvPr id="6" name="Text 3"/>
          <p:cNvSpPr/>
          <p:nvPr/>
        </p:nvSpPr>
        <p:spPr>
          <a:xfrm>
            <a:off x="640080" y="2103120"/>
            <a:ext cx="5120640" cy="274320"/>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The prior is calibrated, not picked</a:t>
            </a:r>
            <a:endParaRPr lang="en-US" sz="1450" dirty="0"/>
          </a:p>
        </p:txBody>
      </p:sp>
      <p:sp>
        <p:nvSpPr>
          <p:cNvPr id="7" name="Text 4"/>
          <p:cNvSpPr/>
          <p:nvPr/>
        </p:nvSpPr>
        <p:spPr>
          <a:xfrm>
            <a:off x="640080" y="2395728"/>
            <a:ext cx="5120640" cy="914400"/>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A citizen audit coded 469 Vasanthanagar lamps on two dates 15 days apart: 45.9% of dead lamps were repaired, 4.0% of working lamps died. That is a measured equilibrium of 8.0% dead — so the prior comes from a failure rate we can point at.</a:t>
            </a:r>
            <a:endParaRPr lang="en-US" sz="1250" dirty="0"/>
          </a:p>
        </p:txBody>
      </p:sp>
      <p:sp>
        <p:nvSpPr>
          <p:cNvPr id="8" name="Text 5"/>
          <p:cNvSpPr/>
          <p:nvPr/>
        </p:nvSpPr>
        <p:spPr>
          <a:xfrm>
            <a:off x="640080" y="3401568"/>
            <a:ext cx="5120640" cy="274320"/>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Two disjoint proxies agree</a:t>
            </a:r>
            <a:endParaRPr lang="en-US" sz="1450" dirty="0"/>
          </a:p>
        </p:txBody>
      </p:sp>
      <p:sp>
        <p:nvSpPr>
          <p:cNvPr id="9" name="Text 6"/>
          <p:cNvSpPr/>
          <p:nvPr/>
        </p:nvSpPr>
        <p:spPr>
          <a:xfrm>
            <a:off x="640080" y="3694176"/>
            <a:ext cx="5120640" cy="914400"/>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ρ = +0.30 between night commerce and pure network topology, and +0.44 against night bus departures. Unrelated proxies do not agree at 0.30 by accident.</a:t>
            </a:r>
            <a:endParaRPr lang="en-US" sz="1250" dirty="0"/>
          </a:p>
        </p:txBody>
      </p:sp>
      <p:sp>
        <p:nvSpPr>
          <p:cNvPr id="10" name="Text 7"/>
          <p:cNvSpPr/>
          <p:nvPr/>
        </p:nvSpPr>
        <p:spPr>
          <a:xfrm>
            <a:off x="640080" y="4700016"/>
            <a:ext cx="5120640" cy="274320"/>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The win survives deleting our own best data</a:t>
            </a:r>
            <a:endParaRPr lang="en-US" sz="1450" dirty="0"/>
          </a:p>
        </p:txBody>
      </p:sp>
      <p:sp>
        <p:nvSpPr>
          <p:cNvPr id="11" name="Text 8"/>
          <p:cNvSpPr/>
          <p:nvPr/>
        </p:nvSpPr>
        <p:spPr>
          <a:xfrm>
            <a:off x="640080" y="4992624"/>
            <a:ext cx="5120640" cy="914400"/>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Restricted to the wards where we hold lamp labels: 6.4×. With every lamp label deleted and the ranking built on ward prior and exposure alone: 5.4×.</a:t>
            </a:r>
            <a:endParaRPr lang="en-US" sz="1250" dirty="0"/>
          </a:p>
        </p:txBody>
      </p:sp>
      <p:sp>
        <p:nvSpPr>
          <p:cNvPr id="12" name="Shape 9"/>
          <p:cNvSpPr/>
          <p:nvPr/>
        </p:nvSpPr>
        <p:spPr>
          <a:xfrm>
            <a:off x="5943600" y="1627632"/>
            <a:ext cx="10973" cy="3968496"/>
          </a:xfrm>
          <a:prstGeom prst="rect">
            <a:avLst/>
          </a:prstGeom>
          <a:solidFill>
            <a:srgbClr val="252C3A"/>
          </a:solidFill>
          <a:ln w="12700">
            <a:solidFill>
              <a:srgbClr val="333333"/>
            </a:solidFill>
            <a:prstDash val="solid"/>
          </a:ln>
        </p:spPr>
      </p:sp>
      <p:sp>
        <p:nvSpPr>
          <p:cNvPr id="13" name="Text 10"/>
          <p:cNvSpPr/>
          <p:nvPr/>
        </p:nvSpPr>
        <p:spPr>
          <a:xfrm>
            <a:off x="6428232" y="1627632"/>
            <a:ext cx="5120640" cy="256032"/>
          </a:xfrm>
          <a:prstGeom prst="rect">
            <a:avLst/>
          </a:prstGeom>
          <a:noFill/>
          <a:ln/>
        </p:spPr>
        <p:txBody>
          <a:bodyPr wrap="square" lIns="0" tIns="0" rIns="0" bIns="0" rtlCol="0" anchor="ctr"/>
          <a:lstStyle/>
          <a:p>
            <a:pPr indent="0" marL="0">
              <a:buNone/>
            </a:pPr>
            <a:r>
              <a:rPr lang="en-US" sz="1100" b="1" spc="200" kern="0" dirty="0">
                <a:solidFill>
                  <a:srgbClr val="8A94A6"/>
                </a:solidFill>
                <a:latin typeface="Arial" pitchFamily="34" charset="0"/>
                <a:ea typeface="Arial" pitchFamily="34" charset="-122"/>
                <a:cs typeface="Arial" pitchFamily="34" charset="-120"/>
              </a:rPr>
              <a:t>WHAT WE GET WRONG</a:t>
            </a:r>
            <a:endParaRPr lang="en-US" sz="1100" dirty="0"/>
          </a:p>
        </p:txBody>
      </p:sp>
      <p:sp>
        <p:nvSpPr>
          <p:cNvPr id="14" name="Shape 11"/>
          <p:cNvSpPr/>
          <p:nvPr/>
        </p:nvSpPr>
        <p:spPr>
          <a:xfrm>
            <a:off x="6428232" y="1920240"/>
            <a:ext cx="5120640" cy="10973"/>
          </a:xfrm>
          <a:prstGeom prst="rect">
            <a:avLst/>
          </a:prstGeom>
          <a:solidFill>
            <a:srgbClr val="252C3A"/>
          </a:solidFill>
          <a:ln w="12700">
            <a:solidFill>
              <a:srgbClr val="333333"/>
            </a:solidFill>
            <a:prstDash val="solid"/>
          </a:ln>
        </p:spPr>
      </p:sp>
      <p:sp>
        <p:nvSpPr>
          <p:cNvPr id="15" name="Text 12"/>
          <p:cNvSpPr/>
          <p:nvPr/>
        </p:nvSpPr>
        <p:spPr>
          <a:xfrm>
            <a:off x="6428232" y="2103120"/>
            <a:ext cx="5120640" cy="274320"/>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93.7% of segments run on a ward prior alone</a:t>
            </a:r>
            <a:endParaRPr lang="en-US" sz="1450" dirty="0"/>
          </a:p>
        </p:txBody>
      </p:sp>
      <p:sp>
        <p:nvSpPr>
          <p:cNvPr id="16" name="Text 13"/>
          <p:cNvSpPr/>
          <p:nvPr/>
        </p:nvSpPr>
        <p:spPr>
          <a:xfrm>
            <a:off x="6428232" y="2395728"/>
            <a:ext cx="5120640" cy="914400"/>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690 of 11,029 carry any lamp evidence. Every other one carries a confidence band that says so — the router avoids the least-certain fifth, the report screen targets it. But most of the map is an estimate.</a:t>
            </a:r>
            <a:endParaRPr lang="en-US" sz="1250" dirty="0"/>
          </a:p>
        </p:txBody>
      </p:sp>
      <p:sp>
        <p:nvSpPr>
          <p:cNvPr id="17" name="Text 14"/>
          <p:cNvSpPr/>
          <p:nvPr/>
        </p:nvSpPr>
        <p:spPr>
          <a:xfrm>
            <a:off x="6428232" y="3401568"/>
            <a:ext cx="5120640" cy="274320"/>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Our labelled lamps are geographically concentrated</a:t>
            </a:r>
            <a:endParaRPr lang="en-US" sz="1450" dirty="0"/>
          </a:p>
        </p:txBody>
      </p:sp>
      <p:sp>
        <p:nvSpPr>
          <p:cNvPr id="18" name="Text 15"/>
          <p:cNvSpPr/>
          <p:nvPr/>
        </p:nvSpPr>
        <p:spPr>
          <a:xfrm>
            <a:off x="6428232" y="3694176"/>
            <a:ext cx="5120640" cy="914400"/>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OSM’s working tags come from citizen surveys, and those surveys walked some wards and not others. 657 broken to 471 working is a property of who went mapping, not Bengaluru’s outage rate.</a:t>
            </a:r>
            <a:endParaRPr lang="en-US" sz="1250" dirty="0"/>
          </a:p>
        </p:txBody>
      </p:sp>
      <p:sp>
        <p:nvSpPr>
          <p:cNvPr id="19" name="Text 16"/>
          <p:cNvSpPr/>
          <p:nvPr/>
        </p:nvSpPr>
        <p:spPr>
          <a:xfrm>
            <a:off x="6428232" y="4700016"/>
            <a:ext cx="5120640" cy="274320"/>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Two inputs we simply do not have</a:t>
            </a:r>
            <a:endParaRPr lang="en-US" sz="1450" dirty="0"/>
          </a:p>
        </p:txBody>
      </p:sp>
      <p:sp>
        <p:nvSpPr>
          <p:cNvPr id="20" name="Text 17"/>
          <p:cNvSpPr/>
          <p:nvPr/>
        </p:nvSpPr>
        <p:spPr>
          <a:xfrm>
            <a:off x="6428232" y="4992624"/>
            <a:ext cx="5120640" cy="914400"/>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OSM records opening_hours for 6.7% of POIs here, so we weight night activity by POI class instead. And tree canopy is a large effect on how lit a Bengaluru street feels, with no data at all.</a:t>
            </a:r>
            <a:endParaRPr lang="en-US" sz="1250" dirty="0"/>
          </a:p>
        </p:txBody>
      </p:sp>
      <p:sp>
        <p:nvSpPr>
          <p:cNvPr id="21" name="Text 18"/>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Vasanthanagar citizen audit, 469 lamps, OpenCity. Everything else out/stats.json. Evidence weights and the transition matrix in Appendix B.</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The data exists. It’s one approval away.</a:t>
            </a:r>
            <a:endParaRPr lang="en-US" sz="3100" dirty="0"/>
          </a:p>
        </p:txBody>
      </p:sp>
      <p:sp>
        <p:nvSpPr>
          <p:cNvPr id="4" name="Text 1"/>
          <p:cNvSpPr/>
          <p:nvPr/>
        </p:nvSpPr>
        <p:spPr>
          <a:xfrm>
            <a:off x="640080" y="1627632"/>
            <a:ext cx="6766560" cy="640080"/>
          </a:xfrm>
          <a:prstGeom prst="rect">
            <a:avLst/>
          </a:prstGeom>
          <a:noFill/>
          <a:ln/>
        </p:spPr>
        <p:txBody>
          <a:bodyPr wrap="square" lIns="0" tIns="0" rIns="0" bIns="0" rtlCol="0" anchor="ctr"/>
          <a:lstStyle/>
          <a:p>
            <a:pPr indent="0" marL="0">
              <a:lnSpc>
                <a:spcPts val="2100"/>
              </a:lnSpc>
              <a:buNone/>
            </a:pPr>
            <a:r>
              <a:rPr lang="en-US" sz="1500" dirty="0">
                <a:solidFill>
                  <a:srgbClr val="B9C0CC"/>
                </a:solidFill>
                <a:latin typeface="Arial" pitchFamily="34" charset="0"/>
                <a:ea typeface="Arial" pitchFamily="34" charset="-122"/>
                <a:cs typeface="Arial" pitchFamily="34" charset="-120"/>
              </a:rPr>
              <a:t>93 Indian cities publish streetlight counts through MoHUA’s Smart Cities portal. Zero publish coordinates — the D24 template is a KPI return, not an asset register.</a:t>
            </a:r>
            <a:endParaRPr lang="en-US" sz="1500" dirty="0"/>
          </a:p>
        </p:txBody>
      </p:sp>
      <p:sp>
        <p:nvSpPr>
          <p:cNvPr id="5" name="Text 2"/>
          <p:cNvSpPr/>
          <p:nvPr/>
        </p:nvSpPr>
        <p:spPr>
          <a:xfrm>
            <a:off x="640080" y="2395728"/>
            <a:ext cx="6766560" cy="731520"/>
          </a:xfrm>
          <a:prstGeom prst="rect">
            <a:avLst/>
          </a:prstGeom>
          <a:noFill/>
          <a:ln/>
        </p:spPr>
        <p:txBody>
          <a:bodyPr wrap="square" lIns="0" tIns="0" rIns="0" bIns="0" rtlCol="0" anchor="ctr"/>
          <a:lstStyle/>
          <a:p>
            <a:pPr indent="0" marL="0">
              <a:lnSpc>
                <a:spcPts val="2100"/>
              </a:lnSpc>
              <a:buNone/>
            </a:pPr>
            <a:r>
              <a:rPr lang="en-US" sz="1500" dirty="0">
                <a:solidFill>
                  <a:srgbClr val="B9C0CC"/>
                </a:solidFill>
                <a:latin typeface="Arial" pitchFamily="34" charset="0"/>
                <a:ea typeface="Arial" pitchFamily="34" charset="-122"/>
                <a:cs typeface="Arial" pitchFamily="34" charset="-120"/>
              </a:rPr>
              <a:t>The pole-level geometry is on IUDX, for our city, published by the Electronics City Industrial Township Authority, </a:t>
            </a:r>
            <a:pPr indent="0" marL="0">
              <a:lnSpc>
                <a:spcPts val="2100"/>
              </a:lnSpc>
              <a:buNone/>
            </a:pPr>
            <a:r>
              <a:rPr lang="en-US" sz="1500" b="1" dirty="0">
                <a:solidFill>
                  <a:srgbClr val="E8EBF0"/>
                </a:solidFill>
                <a:latin typeface="Arial" pitchFamily="34" charset="0"/>
                <a:ea typeface="Arial" pitchFamily="34" charset="-122"/>
                <a:cs typeface="Arial" pitchFamily="34" charset="-120"/>
              </a:rPr>
              <a:t>marked Private</a:t>
            </a:r>
            <a:pPr indent="0" marL="0">
              <a:lnSpc>
                <a:spcPts val="2100"/>
              </a:lnSpc>
              <a:buNone/>
            </a:pPr>
            <a:r>
              <a:rPr lang="en-US" sz="1500" dirty="0">
                <a:solidFill>
                  <a:srgbClr val="B9C0CC"/>
                </a:solidFill>
                <a:latin typeface="Arial" pitchFamily="34" charset="0"/>
                <a:ea typeface="Arial" pitchFamily="34" charset="-122"/>
                <a:cs typeface="Arial" pitchFamily="34" charset="-120"/>
              </a:rPr>
              <a:t> — behind a Request Resource button. The sample record is public:</a:t>
            </a:r>
            <a:endParaRPr lang="en-US" sz="1500" dirty="0"/>
          </a:p>
        </p:txBody>
      </p:sp>
      <p:sp>
        <p:nvSpPr>
          <p:cNvPr id="6" name="Text 3"/>
          <p:cNvSpPr/>
          <p:nvPr/>
        </p:nvSpPr>
        <p:spPr>
          <a:xfrm>
            <a:off x="640080" y="3255264"/>
            <a:ext cx="6766560" cy="658368"/>
          </a:xfrm>
          <a:prstGeom prst="rect">
            <a:avLst/>
          </a:prstGeom>
          <a:solidFill>
            <a:srgbClr val="141A24"/>
          </a:solidFill>
          <a:ln/>
        </p:spPr>
        <p:txBody>
          <a:bodyPr wrap="square" lIns="0" tIns="0" rIns="0" bIns="0" rtlCol="0" anchor="t"/>
          <a:lstStyle/>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{"deviceID": "L0302",</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"location": {"type": "Point", "coordinates": [77.666046, 12.841758]}}</a:t>
            </a:r>
            <a:endParaRPr lang="en-US" sz="1250" dirty="0"/>
          </a:p>
        </p:txBody>
      </p:sp>
      <p:sp>
        <p:nvSpPr>
          <p:cNvPr id="7" name="Text 4"/>
          <p:cNvSpPr/>
          <p:nvPr/>
        </p:nvSpPr>
        <p:spPr>
          <a:xfrm>
            <a:off x="640080" y="4133088"/>
            <a:ext cx="6766560" cy="1188720"/>
          </a:xfrm>
          <a:prstGeom prst="rect">
            <a:avLst/>
          </a:prstGeom>
          <a:noFill/>
          <a:ln/>
        </p:spPr>
        <p:txBody>
          <a:bodyPr wrap="square" lIns="0" tIns="0" rIns="0" bIns="0" rtlCol="0" anchor="ctr"/>
          <a:lstStyle/>
          <a:p>
            <a:pPr indent="0" marL="0">
              <a:lnSpc>
                <a:spcPts val="2000"/>
              </a:lnSpc>
              <a:buNone/>
            </a:pPr>
            <a:r>
              <a:rPr lang="en-US" sz="1400" dirty="0">
                <a:solidFill>
                  <a:srgbClr val="B9C0CC"/>
                </a:solidFill>
                <a:latin typeface="Arial" pitchFamily="34" charset="0"/>
                <a:ea typeface="Arial" pitchFamily="34" charset="-122"/>
                <a:cs typeface="Arial" pitchFamily="34" charset="-120"/>
              </a:rPr>
              <a:t>Roshni’s lamp record is that record, copied verbatim. </a:t>
            </a:r>
            <a:pPr indent="0" marL="0">
              <a:lnSpc>
                <a:spcPts val="2000"/>
              </a:lnSpc>
              <a:buNone/>
            </a:pPr>
            <a:r>
              <a:rPr lang="en-US" sz="1400" b="1" dirty="0">
                <a:solidFill>
                  <a:srgbClr val="E8EBF0"/>
                </a:solidFill>
                <a:latin typeface="Arial" pitchFamily="34" charset="0"/>
                <a:ea typeface="Arial" pitchFamily="34" charset="-122"/>
                <a:cs typeface="Arial" pitchFamily="34" charset="-120"/>
              </a:rPr>
              <a:t>“We plug into the municipal feed the day access is granted” is a schema fact, not a promise.</a:t>
            </a:r>
            <a:pPr indent="0" marL="0">
              <a:lnSpc>
                <a:spcPts val="2000"/>
              </a:lnSpc>
              <a:buNone/>
            </a:pPr>
            <a:r>
              <a:rPr lang="en-US" sz="1400" dirty="0">
                <a:solidFill>
                  <a:srgbClr val="B9C0CC"/>
                </a:solidFill>
                <a:latin typeface="Arial" pitchFamily="34" charset="0"/>
                <a:ea typeface="Arial" pitchFamily="34" charset="-122"/>
                <a:cs typeface="Arial" pitchFamily="34" charset="-120"/>
              </a:rPr>
              <a:t> When it opens, the prior is replaced by measurement and the bands collapse — and the queue, the exposure model and all three screens are unchanged.</a:t>
            </a:r>
            <a:endParaRPr lang="en-US" sz="1400" dirty="0"/>
          </a:p>
        </p:txBody>
      </p:sp>
      <p:sp>
        <p:nvSpPr>
          <p:cNvPr id="8" name="Shape 5"/>
          <p:cNvSpPr/>
          <p:nvPr/>
        </p:nvSpPr>
        <p:spPr>
          <a:xfrm>
            <a:off x="7973568" y="1627632"/>
            <a:ext cx="10973" cy="3968496"/>
          </a:xfrm>
          <a:prstGeom prst="rect">
            <a:avLst/>
          </a:prstGeom>
          <a:solidFill>
            <a:srgbClr val="252C3A"/>
          </a:solidFill>
          <a:ln w="12700">
            <a:solidFill>
              <a:srgbClr val="333333"/>
            </a:solidFill>
            <a:prstDash val="solid"/>
          </a:ln>
        </p:spPr>
      </p:sp>
      <p:sp>
        <p:nvSpPr>
          <p:cNvPr id="9" name="Text 6"/>
          <p:cNvSpPr/>
          <p:nvPr/>
        </p:nvSpPr>
        <p:spPr>
          <a:xfrm>
            <a:off x="8321040" y="1627632"/>
            <a:ext cx="3227832" cy="274320"/>
          </a:xfrm>
          <a:prstGeom prst="rect">
            <a:avLst/>
          </a:prstGeom>
          <a:noFill/>
          <a:ln/>
        </p:spPr>
        <p:txBody>
          <a:bodyPr wrap="square" lIns="0" tIns="0" rIns="0" bIns="0" rtlCol="0" anchor="ctr"/>
          <a:lstStyle/>
          <a:p>
            <a:pPr indent="0" marL="0">
              <a:buNone/>
            </a:pPr>
            <a:r>
              <a:rPr lang="en-US" sz="1100" b="1" spc="220" kern="0" dirty="0">
                <a:solidFill>
                  <a:srgbClr val="8A94A6"/>
                </a:solidFill>
                <a:latin typeface="Arial" pitchFamily="34" charset="0"/>
                <a:ea typeface="Arial" pitchFamily="34" charset="-122"/>
                <a:cs typeface="Arial" pitchFamily="34" charset="-120"/>
              </a:rPr>
              <a:t>THE ASK</a:t>
            </a:r>
            <a:endParaRPr lang="en-US" sz="1100" dirty="0"/>
          </a:p>
        </p:txBody>
      </p:sp>
      <p:sp>
        <p:nvSpPr>
          <p:cNvPr id="10" name="Text 7"/>
          <p:cNvSpPr/>
          <p:nvPr/>
        </p:nvSpPr>
        <p:spPr>
          <a:xfrm>
            <a:off x="8321040" y="2029968"/>
            <a:ext cx="3227832" cy="914400"/>
          </a:xfrm>
          <a:prstGeom prst="rect">
            <a:avLst/>
          </a:prstGeom>
          <a:noFill/>
          <a:ln/>
        </p:spPr>
        <p:txBody>
          <a:bodyPr wrap="square" lIns="0" tIns="0" rIns="0" bIns="0" rtlCol="0" anchor="ctr"/>
          <a:lstStyle/>
          <a:p>
            <a:pPr indent="0" marL="0">
              <a:lnSpc>
                <a:spcPts val="2600"/>
              </a:lnSpc>
              <a:buNone/>
            </a:pPr>
            <a:r>
              <a:rPr lang="en-US" sz="2000" b="1" dirty="0">
                <a:solidFill>
                  <a:srgbClr val="F2A93B"/>
                </a:solidFill>
                <a:latin typeface="Arial" pitchFamily="34" charset="0"/>
                <a:ea typeface="Arial" pitchFamily="34" charset="-122"/>
                <a:cs typeface="Arial" pitchFamily="34" charset="-120"/>
              </a:rPr>
              <a:t>Approve the IUDX request.</a:t>
            </a:r>
            <a:endParaRPr lang="en-US" sz="2000" dirty="0"/>
          </a:p>
        </p:txBody>
      </p:sp>
      <p:sp>
        <p:nvSpPr>
          <p:cNvPr id="11" name="Text 8"/>
          <p:cNvSpPr/>
          <p:nvPr/>
        </p:nvSpPr>
        <p:spPr>
          <a:xfrm>
            <a:off x="8321040" y="3108960"/>
            <a:ext cx="3227832" cy="822960"/>
          </a:xfrm>
          <a:prstGeom prst="rect">
            <a:avLst/>
          </a:prstGeom>
          <a:noFill/>
          <a:ln/>
        </p:spPr>
        <p:txBody>
          <a:bodyPr wrap="square" lIns="0" tIns="0" rIns="0" bIns="0" rtlCol="0" anchor="ctr"/>
          <a:lstStyle/>
          <a:p>
            <a:pPr indent="0" marL="0">
              <a:lnSpc>
                <a:spcPts val="2000"/>
              </a:lnSpc>
              <a:buNone/>
            </a:pPr>
            <a:r>
              <a:rPr lang="en-US" sz="1400" dirty="0">
                <a:solidFill>
                  <a:srgbClr val="B9C0CC"/>
                </a:solidFill>
                <a:latin typeface="Arial" pitchFamily="34" charset="0"/>
                <a:ea typeface="Arial" pitchFamily="34" charset="-122"/>
                <a:cs typeface="Arial" pitchFamily="34" charset="-120"/>
              </a:rPr>
              <a:t>We are not asking anyone to survey anything new. The register already exists.</a:t>
            </a:r>
            <a:endParaRPr lang="en-US" sz="1400" dirty="0"/>
          </a:p>
        </p:txBody>
      </p:sp>
      <p:sp>
        <p:nvSpPr>
          <p:cNvPr id="12" name="Shape 9"/>
          <p:cNvSpPr/>
          <p:nvPr/>
        </p:nvSpPr>
        <p:spPr>
          <a:xfrm>
            <a:off x="8321040" y="4261104"/>
            <a:ext cx="3227832" cy="10973"/>
          </a:xfrm>
          <a:prstGeom prst="rect">
            <a:avLst/>
          </a:prstGeom>
          <a:solidFill>
            <a:srgbClr val="252C3A"/>
          </a:solidFill>
          <a:ln w="12700">
            <a:solidFill>
              <a:srgbClr val="333333"/>
            </a:solidFill>
            <a:prstDash val="solid"/>
          </a:ln>
        </p:spPr>
      </p:sp>
      <p:sp>
        <p:nvSpPr>
          <p:cNvPr id="13" name="Text 10"/>
          <p:cNvSpPr/>
          <p:nvPr/>
        </p:nvSpPr>
        <p:spPr>
          <a:xfrm>
            <a:off x="8321040" y="4425696"/>
            <a:ext cx="3227832" cy="914400"/>
          </a:xfrm>
          <a:prstGeom prst="rect">
            <a:avLst/>
          </a:prstGeom>
          <a:noFill/>
          <a:ln/>
        </p:spPr>
        <p:txBody>
          <a:bodyPr wrap="none" lIns="0" tIns="0" rIns="0" bIns="0" rtlCol="0" anchor="b"/>
          <a:lstStyle/>
          <a:p>
            <a:pPr indent="0" marL="0">
              <a:buNone/>
            </a:pPr>
            <a:r>
              <a:rPr lang="en-US" sz="6200" b="1" dirty="0">
                <a:solidFill>
                  <a:srgbClr val="F2A93B"/>
                </a:solidFill>
                <a:latin typeface="Arial" pitchFamily="34" charset="0"/>
                <a:ea typeface="Arial" pitchFamily="34" charset="-122"/>
                <a:cs typeface="Arial" pitchFamily="34" charset="-120"/>
              </a:rPr>
              <a:t>7.7</a:t>
            </a:r>
            <a:pPr indent="0" marL="0">
              <a:buNone/>
            </a:pPr>
            <a:r>
              <a:rPr lang="en-US" sz="2800" b="1" dirty="0">
                <a:solidFill>
                  <a:srgbClr val="F2A93B"/>
                </a:solidFill>
                <a:latin typeface="Arial" pitchFamily="34" charset="0"/>
                <a:ea typeface="Arial" pitchFamily="34" charset="-122"/>
                <a:cs typeface="Arial" pitchFamily="34" charset="-120"/>
              </a:rPr>
              <a:t>×</a:t>
            </a:r>
            <a:endParaRPr lang="en-US" sz="6200" dirty="0"/>
          </a:p>
        </p:txBody>
      </p:sp>
      <p:sp>
        <p:nvSpPr>
          <p:cNvPr id="14" name="Text 11"/>
          <p:cNvSpPr/>
          <p:nvPr/>
        </p:nvSpPr>
        <p:spPr>
          <a:xfrm>
            <a:off x="8321040" y="5376672"/>
            <a:ext cx="3227832" cy="365760"/>
          </a:xfrm>
          <a:prstGeom prst="rect">
            <a:avLst/>
          </a:prstGeom>
          <a:noFill/>
          <a:ln/>
        </p:spPr>
        <p:txBody>
          <a:bodyPr wrap="square" lIns="0" tIns="0" rIns="0" bIns="0" rtlCol="0" anchor="ctr"/>
          <a:lstStyle/>
          <a:p>
            <a:pPr indent="0" marL="0">
              <a:lnSpc>
                <a:spcPts val="1800"/>
              </a:lnSpc>
              <a:buNone/>
            </a:pPr>
            <a:r>
              <a:rPr lang="en-US" sz="1300" dirty="0">
                <a:solidFill>
                  <a:srgbClr val="8A94A6"/>
                </a:solidFill>
                <a:latin typeface="Arial" pitchFamily="34" charset="0"/>
                <a:ea typeface="Arial" pitchFamily="34" charset="-122"/>
                <a:cs typeface="Arial" pitchFamily="34" charset="-120"/>
              </a:rPr>
              <a:t>Same crew. Same budget. Different order.</a:t>
            </a:r>
            <a:endParaRPr lang="en-US" sz="1300" dirty="0"/>
          </a:p>
        </p:txBody>
      </p:sp>
      <p:sp>
        <p:nvSpPr>
          <p:cNvPr id="15" name="Text 12"/>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IUDX dataset 9b27c09f-1ec6-4acd-89f0-a27f23184017 · catalogue.cos.iudx.org.in.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600" b="1" dirty="0">
                <a:solidFill>
                  <a:srgbClr val="E8EBF0"/>
                </a:solidFill>
                <a:latin typeface="Arial" pitchFamily="34" charset="0"/>
                <a:ea typeface="Arial" pitchFamily="34" charset="-122"/>
                <a:cs typeface="Arial" pitchFamily="34" charset="-120"/>
              </a:rPr>
              <a:t>Appendix A — every number, and where it came from</a:t>
            </a:r>
            <a:endParaRPr lang="en-US" sz="2600" dirty="0"/>
          </a:p>
        </p:txBody>
      </p:sp>
      <p:sp>
        <p:nvSpPr>
          <p:cNvPr id="4" name="Shape 1"/>
          <p:cNvSpPr/>
          <p:nvPr/>
        </p:nvSpPr>
        <p:spPr>
          <a:xfrm>
            <a:off x="640080" y="1554480"/>
            <a:ext cx="5212080" cy="10973"/>
          </a:xfrm>
          <a:prstGeom prst="rect">
            <a:avLst/>
          </a:prstGeom>
          <a:solidFill>
            <a:srgbClr val="252C3A"/>
          </a:solidFill>
          <a:ln w="12700">
            <a:solidFill>
              <a:srgbClr val="333333"/>
            </a:solidFill>
            <a:prstDash val="solid"/>
          </a:ln>
        </p:spPr>
      </p:sp>
      <p:sp>
        <p:nvSpPr>
          <p:cNvPr id="5" name="Text 2"/>
          <p:cNvSpPr/>
          <p:nvPr/>
        </p:nvSpPr>
        <p:spPr>
          <a:xfrm>
            <a:off x="640080" y="1655064"/>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126,974</a:t>
            </a:r>
            <a:endParaRPr lang="en-US" sz="1400" dirty="0"/>
          </a:p>
        </p:txBody>
      </p:sp>
      <p:sp>
        <p:nvSpPr>
          <p:cNvPr id="6" name="Text 3"/>
          <p:cNvSpPr/>
          <p:nvPr/>
        </p:nvSpPr>
        <p:spPr>
          <a:xfrm>
            <a:off x="2651760" y="1682496"/>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civic complaints, 1 Jan – 19 Jun 2025</a:t>
            </a:r>
            <a:endParaRPr lang="en-US" sz="1250" dirty="0"/>
          </a:p>
        </p:txBody>
      </p:sp>
      <p:sp>
        <p:nvSpPr>
          <p:cNvPr id="7" name="Shape 4"/>
          <p:cNvSpPr/>
          <p:nvPr/>
        </p:nvSpPr>
        <p:spPr>
          <a:xfrm>
            <a:off x="640080" y="2121408"/>
            <a:ext cx="5212080" cy="10973"/>
          </a:xfrm>
          <a:prstGeom prst="rect">
            <a:avLst/>
          </a:prstGeom>
          <a:solidFill>
            <a:srgbClr val="252C3A"/>
          </a:solidFill>
          <a:ln w="12700">
            <a:solidFill>
              <a:srgbClr val="333333"/>
            </a:solidFill>
            <a:prstDash val="solid"/>
          </a:ln>
        </p:spPr>
      </p:sp>
      <p:sp>
        <p:nvSpPr>
          <p:cNvPr id="8" name="Text 5"/>
          <p:cNvSpPr/>
          <p:nvPr/>
        </p:nvSpPr>
        <p:spPr>
          <a:xfrm>
            <a:off x="640080" y="2221992"/>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39,847 · 31.4%</a:t>
            </a:r>
            <a:endParaRPr lang="en-US" sz="1400" dirty="0"/>
          </a:p>
        </p:txBody>
      </p:sp>
      <p:sp>
        <p:nvSpPr>
          <p:cNvPr id="9" name="Text 6"/>
          <p:cNvSpPr/>
          <p:nvPr/>
        </p:nvSpPr>
        <p:spPr>
          <a:xfrm>
            <a:off x="2651760" y="2249424"/>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of them “Street Light Not Working”</a:t>
            </a:r>
            <a:endParaRPr lang="en-US" sz="1250" dirty="0"/>
          </a:p>
        </p:txBody>
      </p:sp>
      <p:sp>
        <p:nvSpPr>
          <p:cNvPr id="10" name="Shape 7"/>
          <p:cNvSpPr/>
          <p:nvPr/>
        </p:nvSpPr>
        <p:spPr>
          <a:xfrm>
            <a:off x="640080" y="2688336"/>
            <a:ext cx="5212080" cy="10973"/>
          </a:xfrm>
          <a:prstGeom prst="rect">
            <a:avLst/>
          </a:prstGeom>
          <a:solidFill>
            <a:srgbClr val="252C3A"/>
          </a:solidFill>
          <a:ln w="12700">
            <a:solidFill>
              <a:srgbClr val="333333"/>
            </a:solidFill>
            <a:prstDash val="solid"/>
          </a:ln>
        </p:spPr>
      </p:sp>
      <p:sp>
        <p:nvSpPr>
          <p:cNvPr id="11" name="Text 8"/>
          <p:cNvSpPr/>
          <p:nvPr/>
        </p:nvSpPr>
        <p:spPr>
          <a:xfrm>
            <a:off x="640080" y="2788920"/>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96.4%</a:t>
            </a:r>
            <a:endParaRPr lang="en-US" sz="1400" dirty="0"/>
          </a:p>
        </p:txBody>
      </p:sp>
      <p:sp>
        <p:nvSpPr>
          <p:cNvPr id="12" name="Text 9"/>
          <p:cNvSpPr/>
          <p:nvPr/>
        </p:nvSpPr>
        <p:spPr>
          <a:xfrm>
            <a:off x="2651760" y="2816352"/>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electrical closure rate (40,632 / 42,138)</a:t>
            </a:r>
            <a:endParaRPr lang="en-US" sz="1250" dirty="0"/>
          </a:p>
        </p:txBody>
      </p:sp>
      <p:sp>
        <p:nvSpPr>
          <p:cNvPr id="13" name="Shape 10"/>
          <p:cNvSpPr/>
          <p:nvPr/>
        </p:nvSpPr>
        <p:spPr>
          <a:xfrm>
            <a:off x="640080" y="3255264"/>
            <a:ext cx="5212080" cy="10973"/>
          </a:xfrm>
          <a:prstGeom prst="rect">
            <a:avLst/>
          </a:prstGeom>
          <a:solidFill>
            <a:srgbClr val="252C3A"/>
          </a:solidFill>
          <a:ln w="12700">
            <a:solidFill>
              <a:srgbClr val="333333"/>
            </a:solidFill>
            <a:prstDash val="solid"/>
          </a:ln>
        </p:spPr>
      </p:sp>
      <p:sp>
        <p:nvSpPr>
          <p:cNvPr id="14" name="Text 11"/>
          <p:cNvSpPr/>
          <p:nvPr/>
        </p:nvSpPr>
        <p:spPr>
          <a:xfrm>
            <a:off x="640080" y="3355848"/>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58.0%</a:t>
            </a:r>
            <a:endParaRPr lang="en-US" sz="1400" dirty="0"/>
          </a:p>
        </p:txBody>
      </p:sp>
      <p:sp>
        <p:nvSpPr>
          <p:cNvPr id="15" name="Text 12"/>
          <p:cNvSpPr/>
          <p:nvPr/>
        </p:nvSpPr>
        <p:spPr>
          <a:xfrm>
            <a:off x="2651760" y="3383280"/>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road-maintenance closure rate</a:t>
            </a:r>
            <a:endParaRPr lang="en-US" sz="1250" dirty="0"/>
          </a:p>
        </p:txBody>
      </p:sp>
      <p:sp>
        <p:nvSpPr>
          <p:cNvPr id="16" name="Shape 13"/>
          <p:cNvSpPr/>
          <p:nvPr/>
        </p:nvSpPr>
        <p:spPr>
          <a:xfrm>
            <a:off x="640080" y="3822192"/>
            <a:ext cx="5212080" cy="10973"/>
          </a:xfrm>
          <a:prstGeom prst="rect">
            <a:avLst/>
          </a:prstGeom>
          <a:solidFill>
            <a:srgbClr val="252C3A"/>
          </a:solidFill>
          <a:ln w="12700">
            <a:solidFill>
              <a:srgbClr val="333333"/>
            </a:solidFill>
            <a:prstDash val="solid"/>
          </a:ln>
        </p:spPr>
      </p:sp>
      <p:sp>
        <p:nvSpPr>
          <p:cNvPr id="17" name="Text 14"/>
          <p:cNvSpPr/>
          <p:nvPr/>
        </p:nvSpPr>
        <p:spPr>
          <a:xfrm>
            <a:off x="640080" y="3922776"/>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421,113</a:t>
            </a:r>
            <a:endParaRPr lang="en-US" sz="1400" dirty="0"/>
          </a:p>
        </p:txBody>
      </p:sp>
      <p:sp>
        <p:nvSpPr>
          <p:cNvPr id="18" name="Text 15"/>
          <p:cNvSpPr/>
          <p:nvPr/>
        </p:nvSpPr>
        <p:spPr>
          <a:xfrm>
            <a:off x="2651760" y="3950208"/>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streetlights across 198 BBMP wards</a:t>
            </a:r>
            <a:endParaRPr lang="en-US" sz="1250" dirty="0"/>
          </a:p>
        </p:txBody>
      </p:sp>
      <p:sp>
        <p:nvSpPr>
          <p:cNvPr id="19" name="Shape 16"/>
          <p:cNvSpPr/>
          <p:nvPr/>
        </p:nvSpPr>
        <p:spPr>
          <a:xfrm>
            <a:off x="640080" y="4389120"/>
            <a:ext cx="5212080" cy="10973"/>
          </a:xfrm>
          <a:prstGeom prst="rect">
            <a:avLst/>
          </a:prstGeom>
          <a:solidFill>
            <a:srgbClr val="252C3A"/>
          </a:solidFill>
          <a:ln w="12700">
            <a:solidFill>
              <a:srgbClr val="333333"/>
            </a:solidFill>
            <a:prstDash val="solid"/>
          </a:ln>
        </p:spPr>
      </p:sp>
      <p:sp>
        <p:nvSpPr>
          <p:cNvPr id="20" name="Text 17"/>
          <p:cNvSpPr/>
          <p:nvPr/>
        </p:nvSpPr>
        <p:spPr>
          <a:xfrm>
            <a:off x="640080" y="4489704"/>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11,029</a:t>
            </a:r>
            <a:endParaRPr lang="en-US" sz="1400" dirty="0"/>
          </a:p>
        </p:txBody>
      </p:sp>
      <p:sp>
        <p:nvSpPr>
          <p:cNvPr id="21" name="Text 18"/>
          <p:cNvSpPr/>
          <p:nvPr/>
        </p:nvSpPr>
        <p:spPr>
          <a:xfrm>
            <a:off x="2651760" y="4517136"/>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segments scored · 1,180 km · 33 wards</a:t>
            </a:r>
            <a:endParaRPr lang="en-US" sz="1250" dirty="0"/>
          </a:p>
        </p:txBody>
      </p:sp>
      <p:sp>
        <p:nvSpPr>
          <p:cNvPr id="22" name="Shape 19"/>
          <p:cNvSpPr/>
          <p:nvPr/>
        </p:nvSpPr>
        <p:spPr>
          <a:xfrm>
            <a:off x="640080" y="4956048"/>
            <a:ext cx="5212080" cy="10973"/>
          </a:xfrm>
          <a:prstGeom prst="rect">
            <a:avLst/>
          </a:prstGeom>
          <a:solidFill>
            <a:srgbClr val="252C3A"/>
          </a:solidFill>
          <a:ln w="12700">
            <a:solidFill>
              <a:srgbClr val="333333"/>
            </a:solidFill>
            <a:prstDash val="solid"/>
          </a:ln>
        </p:spPr>
      </p:sp>
      <p:sp>
        <p:nvSpPr>
          <p:cNvPr id="23" name="Text 20"/>
          <p:cNvSpPr/>
          <p:nvPr/>
        </p:nvSpPr>
        <p:spPr>
          <a:xfrm>
            <a:off x="640080" y="5056632"/>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95,557</a:t>
            </a:r>
            <a:endParaRPr lang="en-US" sz="1400" dirty="0"/>
          </a:p>
        </p:txBody>
      </p:sp>
      <p:sp>
        <p:nvSpPr>
          <p:cNvPr id="24" name="Text 21"/>
          <p:cNvSpPr/>
          <p:nvPr/>
        </p:nvSpPr>
        <p:spPr>
          <a:xfrm>
            <a:off x="2651760" y="5084064"/>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walk-graph nodes · 98.4% one component</a:t>
            </a:r>
            <a:endParaRPr lang="en-US" sz="1250" dirty="0"/>
          </a:p>
        </p:txBody>
      </p:sp>
      <p:sp>
        <p:nvSpPr>
          <p:cNvPr id="25" name="Shape 22"/>
          <p:cNvSpPr/>
          <p:nvPr/>
        </p:nvSpPr>
        <p:spPr>
          <a:xfrm>
            <a:off x="640080" y="5522976"/>
            <a:ext cx="5212080" cy="10973"/>
          </a:xfrm>
          <a:prstGeom prst="rect">
            <a:avLst/>
          </a:prstGeom>
          <a:solidFill>
            <a:srgbClr val="252C3A"/>
          </a:solidFill>
          <a:ln w="12700">
            <a:solidFill>
              <a:srgbClr val="333333"/>
            </a:solidFill>
            <a:prstDash val="solid"/>
          </a:ln>
        </p:spPr>
      </p:sp>
      <p:sp>
        <p:nvSpPr>
          <p:cNvPr id="26" name="Shape 23"/>
          <p:cNvSpPr/>
          <p:nvPr/>
        </p:nvSpPr>
        <p:spPr>
          <a:xfrm>
            <a:off x="6345936" y="1554480"/>
            <a:ext cx="5212080" cy="10973"/>
          </a:xfrm>
          <a:prstGeom prst="rect">
            <a:avLst/>
          </a:prstGeom>
          <a:solidFill>
            <a:srgbClr val="252C3A"/>
          </a:solidFill>
          <a:ln w="12700">
            <a:solidFill>
              <a:srgbClr val="333333"/>
            </a:solidFill>
            <a:prstDash val="solid"/>
          </a:ln>
        </p:spPr>
      </p:sp>
      <p:sp>
        <p:nvSpPr>
          <p:cNvPr id="27" name="Text 24"/>
          <p:cNvSpPr/>
          <p:nvPr/>
        </p:nvSpPr>
        <p:spPr>
          <a:xfrm>
            <a:off x="6345936" y="1655064"/>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1,508 / 1,128</a:t>
            </a:r>
            <a:endParaRPr lang="en-US" sz="1400" dirty="0"/>
          </a:p>
        </p:txBody>
      </p:sp>
      <p:sp>
        <p:nvSpPr>
          <p:cNvPr id="28" name="Text 25"/>
          <p:cNvSpPr/>
          <p:nvPr/>
        </p:nvSpPr>
        <p:spPr>
          <a:xfrm>
            <a:off x="8357616" y="1682496"/>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lamps in snapshot / labelled working=yes|no</a:t>
            </a:r>
            <a:endParaRPr lang="en-US" sz="1250" dirty="0"/>
          </a:p>
        </p:txBody>
      </p:sp>
      <p:sp>
        <p:nvSpPr>
          <p:cNvPr id="29" name="Shape 26"/>
          <p:cNvSpPr/>
          <p:nvPr/>
        </p:nvSpPr>
        <p:spPr>
          <a:xfrm>
            <a:off x="6345936" y="2121408"/>
            <a:ext cx="5212080" cy="10973"/>
          </a:xfrm>
          <a:prstGeom prst="rect">
            <a:avLst/>
          </a:prstGeom>
          <a:solidFill>
            <a:srgbClr val="252C3A"/>
          </a:solidFill>
          <a:ln w="12700">
            <a:solidFill>
              <a:srgbClr val="333333"/>
            </a:solidFill>
            <a:prstDash val="solid"/>
          </a:ln>
        </p:spPr>
      </p:sp>
      <p:sp>
        <p:nvSpPr>
          <p:cNvPr id="30" name="Text 27"/>
          <p:cNvSpPr/>
          <p:nvPr/>
        </p:nvSpPr>
        <p:spPr>
          <a:xfrm>
            <a:off x="6345936" y="2221992"/>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690 · 6.3%</a:t>
            </a:r>
            <a:endParaRPr lang="en-US" sz="1400" dirty="0"/>
          </a:p>
        </p:txBody>
      </p:sp>
      <p:sp>
        <p:nvSpPr>
          <p:cNvPr id="31" name="Text 28"/>
          <p:cNvSpPr/>
          <p:nvPr/>
        </p:nvSpPr>
        <p:spPr>
          <a:xfrm>
            <a:off x="8357616" y="2249424"/>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segments with any lamp evidence</a:t>
            </a:r>
            <a:endParaRPr lang="en-US" sz="1250" dirty="0"/>
          </a:p>
        </p:txBody>
      </p:sp>
      <p:sp>
        <p:nvSpPr>
          <p:cNvPr id="32" name="Shape 29"/>
          <p:cNvSpPr/>
          <p:nvPr/>
        </p:nvSpPr>
        <p:spPr>
          <a:xfrm>
            <a:off x="6345936" y="2688336"/>
            <a:ext cx="5212080" cy="10973"/>
          </a:xfrm>
          <a:prstGeom prst="rect">
            <a:avLst/>
          </a:prstGeom>
          <a:solidFill>
            <a:srgbClr val="252C3A"/>
          </a:solidFill>
          <a:ln w="12700">
            <a:solidFill>
              <a:srgbClr val="333333"/>
            </a:solidFill>
            <a:prstDash val="solid"/>
          </a:ln>
        </p:spPr>
      </p:sp>
      <p:sp>
        <p:nvSpPr>
          <p:cNvPr id="33" name="Text 30"/>
          <p:cNvSpPr/>
          <p:nvPr/>
        </p:nvSpPr>
        <p:spPr>
          <a:xfrm>
            <a:off x="6345936" y="2788920"/>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27.6%</a:t>
            </a:r>
            <a:endParaRPr lang="en-US" sz="1400" dirty="0"/>
          </a:p>
        </p:txBody>
      </p:sp>
      <p:sp>
        <p:nvSpPr>
          <p:cNvPr id="34" name="Text 31"/>
          <p:cNvSpPr/>
          <p:nvPr/>
        </p:nvSpPr>
        <p:spPr>
          <a:xfrm>
            <a:off x="8357616" y="2816352"/>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mean P(dark) across all segments</a:t>
            </a:r>
            <a:endParaRPr lang="en-US" sz="1250" dirty="0"/>
          </a:p>
        </p:txBody>
      </p:sp>
      <p:sp>
        <p:nvSpPr>
          <p:cNvPr id="35" name="Shape 32"/>
          <p:cNvSpPr/>
          <p:nvPr/>
        </p:nvSpPr>
        <p:spPr>
          <a:xfrm>
            <a:off x="6345936" y="3255264"/>
            <a:ext cx="5212080" cy="10973"/>
          </a:xfrm>
          <a:prstGeom prst="rect">
            <a:avLst/>
          </a:prstGeom>
          <a:solidFill>
            <a:srgbClr val="252C3A"/>
          </a:solidFill>
          <a:ln w="12700">
            <a:solidFill>
              <a:srgbClr val="333333"/>
            </a:solidFill>
            <a:prstDash val="solid"/>
          </a:ln>
        </p:spPr>
      </p:sp>
      <p:sp>
        <p:nvSpPr>
          <p:cNvPr id="36" name="Text 33"/>
          <p:cNvSpPr/>
          <p:nvPr/>
        </p:nvSpPr>
        <p:spPr>
          <a:xfrm>
            <a:off x="6345936" y="3355848"/>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ρ +0.30 / +0.44</a:t>
            </a:r>
            <a:endParaRPr lang="en-US" sz="1400" dirty="0"/>
          </a:p>
        </p:txBody>
      </p:sp>
      <p:sp>
        <p:nvSpPr>
          <p:cNvPr id="37" name="Text 34"/>
          <p:cNvSpPr/>
          <p:nvPr/>
        </p:nvSpPr>
        <p:spPr>
          <a:xfrm>
            <a:off x="8357616" y="3383280"/>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activity vs structural / vs night bus</a:t>
            </a:r>
            <a:endParaRPr lang="en-US" sz="1250" dirty="0"/>
          </a:p>
        </p:txBody>
      </p:sp>
      <p:sp>
        <p:nvSpPr>
          <p:cNvPr id="38" name="Shape 35"/>
          <p:cNvSpPr/>
          <p:nvPr/>
        </p:nvSpPr>
        <p:spPr>
          <a:xfrm>
            <a:off x="6345936" y="3822192"/>
            <a:ext cx="5212080" cy="10973"/>
          </a:xfrm>
          <a:prstGeom prst="rect">
            <a:avLst/>
          </a:prstGeom>
          <a:solidFill>
            <a:srgbClr val="252C3A"/>
          </a:solidFill>
          <a:ln w="12700">
            <a:solidFill>
              <a:srgbClr val="333333"/>
            </a:solidFill>
            <a:prstDash val="solid"/>
          </a:ln>
        </p:spPr>
      </p:sp>
      <p:sp>
        <p:nvSpPr>
          <p:cNvPr id="39" name="Text 36"/>
          <p:cNvSpPr/>
          <p:nvPr/>
        </p:nvSpPr>
        <p:spPr>
          <a:xfrm>
            <a:off x="6345936" y="3922776"/>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405 · 6,187</a:t>
            </a:r>
            <a:endParaRPr lang="en-US" sz="1400" dirty="0"/>
          </a:p>
        </p:txBody>
      </p:sp>
      <p:sp>
        <p:nvSpPr>
          <p:cNvPr id="40" name="Text 37"/>
          <p:cNvSpPr/>
          <p:nvPr/>
        </p:nvSpPr>
        <p:spPr>
          <a:xfrm>
            <a:off x="8357616" y="3950208"/>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BMTC stops / departures after 21:00</a:t>
            </a:r>
            <a:endParaRPr lang="en-US" sz="1250" dirty="0"/>
          </a:p>
        </p:txBody>
      </p:sp>
      <p:sp>
        <p:nvSpPr>
          <p:cNvPr id="41" name="Shape 38"/>
          <p:cNvSpPr/>
          <p:nvPr/>
        </p:nvSpPr>
        <p:spPr>
          <a:xfrm>
            <a:off x="6345936" y="4389120"/>
            <a:ext cx="5212080" cy="10973"/>
          </a:xfrm>
          <a:prstGeom prst="rect">
            <a:avLst/>
          </a:prstGeom>
          <a:solidFill>
            <a:srgbClr val="252C3A"/>
          </a:solidFill>
          <a:ln w="12700">
            <a:solidFill>
              <a:srgbClr val="333333"/>
            </a:solidFill>
            <a:prstDash val="solid"/>
          </a:ln>
        </p:spPr>
      </p:sp>
      <p:sp>
        <p:nvSpPr>
          <p:cNvPr id="42" name="Text 39"/>
          <p:cNvSpPr/>
          <p:nvPr/>
        </p:nvSpPr>
        <p:spPr>
          <a:xfrm>
            <a:off x="6345936" y="4489704"/>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3,417 / 9,199</a:t>
            </a:r>
            <a:endParaRPr lang="en-US" sz="1400" dirty="0"/>
          </a:p>
        </p:txBody>
      </p:sp>
      <p:sp>
        <p:nvSpPr>
          <p:cNvPr id="43" name="Text 40"/>
          <p:cNvSpPr/>
          <p:nvPr/>
        </p:nvSpPr>
        <p:spPr>
          <a:xfrm>
            <a:off x="8357616" y="4517136"/>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night-active POIs of all POIs</a:t>
            </a:r>
            <a:endParaRPr lang="en-US" sz="1250" dirty="0"/>
          </a:p>
        </p:txBody>
      </p:sp>
      <p:sp>
        <p:nvSpPr>
          <p:cNvPr id="44" name="Shape 41"/>
          <p:cNvSpPr/>
          <p:nvPr/>
        </p:nvSpPr>
        <p:spPr>
          <a:xfrm>
            <a:off x="6345936" y="4956048"/>
            <a:ext cx="5212080" cy="10973"/>
          </a:xfrm>
          <a:prstGeom prst="rect">
            <a:avLst/>
          </a:prstGeom>
          <a:solidFill>
            <a:srgbClr val="252C3A"/>
          </a:solidFill>
          <a:ln w="12700">
            <a:solidFill>
              <a:srgbClr val="333333"/>
            </a:solidFill>
            <a:prstDash val="solid"/>
          </a:ln>
        </p:spPr>
      </p:sp>
      <p:sp>
        <p:nvSpPr>
          <p:cNvPr id="45" name="Text 42"/>
          <p:cNvSpPr/>
          <p:nvPr/>
        </p:nvSpPr>
        <p:spPr>
          <a:xfrm>
            <a:off x="6345936" y="5056632"/>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17.9×</a:t>
            </a:r>
            <a:endParaRPr lang="en-US" sz="1400" dirty="0"/>
          </a:p>
        </p:txBody>
      </p:sp>
      <p:sp>
        <p:nvSpPr>
          <p:cNvPr id="46" name="Text 43"/>
          <p:cNvSpPr/>
          <p:nvPr/>
        </p:nvSpPr>
        <p:spPr>
          <a:xfrm>
            <a:off x="8357616" y="5084064"/>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median bypass, 25 worst segments</a:t>
            </a:r>
            <a:endParaRPr lang="en-US" sz="1250" dirty="0"/>
          </a:p>
        </p:txBody>
      </p:sp>
      <p:sp>
        <p:nvSpPr>
          <p:cNvPr id="47" name="Shape 44"/>
          <p:cNvSpPr/>
          <p:nvPr/>
        </p:nvSpPr>
        <p:spPr>
          <a:xfrm>
            <a:off x="6345936" y="5522976"/>
            <a:ext cx="5212080" cy="10973"/>
          </a:xfrm>
          <a:prstGeom prst="rect">
            <a:avLst/>
          </a:prstGeom>
          <a:solidFill>
            <a:srgbClr val="252C3A"/>
          </a:solidFill>
          <a:ln w="12700">
            <a:solidFill>
              <a:srgbClr val="333333"/>
            </a:solidFill>
            <a:prstDash val="solid"/>
          </a:ln>
        </p:spPr>
      </p:sp>
      <p:sp>
        <p:nvSpPr>
          <p:cNvPr id="48" name="Text 45"/>
          <p:cNvSpPr/>
          <p:nvPr/>
        </p:nvSpPr>
        <p:spPr>
          <a:xfrm>
            <a:off x="640080" y="5742432"/>
            <a:ext cx="10908792" cy="457200"/>
          </a:xfrm>
          <a:prstGeom prst="rect">
            <a:avLst/>
          </a:prstGeom>
          <a:noFill/>
          <a:ln/>
        </p:spPr>
        <p:txBody>
          <a:bodyPr wrap="square" lIns="0" tIns="0" rIns="0" bIns="0" rtlCol="0" anchor="ctr"/>
          <a:lstStyle/>
          <a:p>
            <a:pPr indent="0" marL="0">
              <a:lnSpc>
                <a:spcPts val="1800"/>
              </a:lnSpc>
              <a:buNone/>
            </a:pPr>
            <a:r>
              <a:rPr lang="en-US" sz="1250" dirty="0">
                <a:solidFill>
                  <a:srgbClr val="E8EBF0"/>
                </a:solidFill>
                <a:latin typeface="Arial" pitchFamily="34" charset="0"/>
                <a:ea typeface="Arial" pitchFamily="34" charset="-122"/>
                <a:cs typeface="Arial" pitchFamily="34" charset="-120"/>
              </a:rPr>
              <a:t>Counterfactual at a 40-repair budget: 4,544 vs 588 exposed pedestrian-km = 7.7×. Luckiest of 300 draws 4.9×. Steelman 1.9×. Surveyed wards only 6.4×. All lamp labels deleted 5.4×.</a:t>
            </a:r>
            <a:endParaRPr lang="en-US" sz="1250" dirty="0"/>
          </a:p>
        </p:txBody>
      </p:sp>
      <p:sp>
        <p:nvSpPr>
          <p:cNvPr id="49" name="Text 46"/>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All figures out/stats.json, out/curve.json, out/routes.json — pipeline run 22 Aug 2026.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600" b="1" dirty="0">
                <a:solidFill>
                  <a:srgbClr val="E8EBF0"/>
                </a:solidFill>
                <a:latin typeface="Arial" pitchFamily="34" charset="0"/>
                <a:ea typeface="Arial" pitchFamily="34" charset="-122"/>
                <a:cs typeface="Arial" pitchFamily="34" charset="-120"/>
              </a:rPr>
              <a:t>Appendix B — the machinery</a:t>
            </a:r>
            <a:endParaRPr lang="en-US" sz="2600" dirty="0"/>
          </a:p>
        </p:txBody>
      </p:sp>
      <p:sp>
        <p:nvSpPr>
          <p:cNvPr id="4" name="Text 1"/>
          <p:cNvSpPr/>
          <p:nvPr/>
        </p:nvSpPr>
        <p:spPr>
          <a:xfrm>
            <a:off x="640080" y="1627632"/>
            <a:ext cx="5120640" cy="256032"/>
          </a:xfrm>
          <a:prstGeom prst="rect">
            <a:avLst/>
          </a:prstGeom>
          <a:noFill/>
          <a:ln/>
        </p:spPr>
        <p:txBody>
          <a:bodyPr wrap="square" lIns="0" tIns="0" rIns="0" bIns="0" rtlCol="0" anchor="ctr"/>
          <a:lstStyle/>
          <a:p>
            <a:pPr indent="0" marL="0">
              <a:buNone/>
            </a:pPr>
            <a:r>
              <a:rPr lang="en-US" sz="1100" b="1" spc="200" kern="0" dirty="0">
                <a:solidFill>
                  <a:srgbClr val="8A94A6"/>
                </a:solidFill>
                <a:latin typeface="Arial" pitchFamily="34" charset="0"/>
                <a:ea typeface="Arial" pitchFamily="34" charset="-122"/>
                <a:cs typeface="Arial" pitchFamily="34" charset="-120"/>
              </a:rPr>
              <a:t>THE DARKNESS MODEL</a:t>
            </a:r>
            <a:endParaRPr lang="en-US" sz="1100" dirty="0"/>
          </a:p>
        </p:txBody>
      </p:sp>
      <p:sp>
        <p:nvSpPr>
          <p:cNvPr id="5" name="Shape 2"/>
          <p:cNvSpPr/>
          <p:nvPr/>
        </p:nvSpPr>
        <p:spPr>
          <a:xfrm>
            <a:off x="640080" y="1920240"/>
            <a:ext cx="5120640" cy="10973"/>
          </a:xfrm>
          <a:prstGeom prst="rect">
            <a:avLst/>
          </a:prstGeom>
          <a:solidFill>
            <a:srgbClr val="252C3A"/>
          </a:solidFill>
          <a:ln w="12700">
            <a:solidFill>
              <a:srgbClr val="333333"/>
            </a:solidFill>
            <a:prstDash val="solid"/>
          </a:ln>
        </p:spPr>
      </p:sp>
      <p:sp>
        <p:nvSpPr>
          <p:cNvPr id="6" name="Text 3"/>
          <p:cNvSpPr/>
          <p:nvPr/>
        </p:nvSpPr>
        <p:spPr>
          <a:xfrm>
            <a:off x="640080" y="2103120"/>
            <a:ext cx="5120640" cy="1371600"/>
          </a:xfrm>
          <a:prstGeom prst="rect">
            <a:avLst/>
          </a:prstGeom>
          <a:solidFill>
            <a:srgbClr val="141A24"/>
          </a:solidFill>
          <a:ln/>
        </p:spPr>
        <p:txBody>
          <a:bodyPr wrap="square" lIns="0" tIns="0" rIns="0" bIns="0" rtlCol="0" anchor="t"/>
          <a:lstStyle/>
          <a:p>
            <a:pPr indent="0" marL="0">
              <a:lnSpc>
                <a:spcPts val="1700"/>
              </a:lnSpc>
              <a:buNone/>
            </a:pPr>
            <a:r>
              <a:rPr lang="en-US" sz="1200" dirty="0">
                <a:solidFill>
                  <a:srgbClr val="E8EBF0"/>
                </a:solidFill>
                <a:latin typeface="Courier New" pitchFamily="34" charset="0"/>
                <a:ea typeface="Courier New" pitchFamily="34" charset="-122"/>
                <a:cs typeface="Courier New" pitchFamily="34" charset="-120"/>
              </a:rPr>
              <a:t>P(lit)   = coverage × 0.920</a:t>
            </a:r>
            <a:endParaRPr lang="en-US" sz="1200" dirty="0"/>
          </a:p>
          <a:p>
            <a:pPr indent="0" marL="0">
              <a:lnSpc>
                <a:spcPts val="1700"/>
              </a:lnSpc>
              <a:buNone/>
            </a:pPr>
            <a:r>
              <a:rPr lang="en-US" sz="1200" dirty="0">
                <a:solidFill>
                  <a:srgbClr val="E8EBF0"/>
                </a:solidFill>
                <a:latin typeface="Courier New" pitchFamily="34" charset="0"/>
                <a:ea typeface="Courier New" pitchFamily="34" charset="-122"/>
                <a:cs typeface="Courier New" pitchFamily="34" charset="-120"/>
              </a:rPr>
              <a:t>           coverage = ward lamps/km ÷ 33.3</a:t>
            </a:r>
            <a:endParaRPr lang="en-US" sz="1200" dirty="0"/>
          </a:p>
          <a:p>
            <a:pPr indent="0" marL="0">
              <a:lnSpc>
                <a:spcPts val="1700"/>
              </a:lnSpc>
              <a:buNone/>
            </a:pPr>
            <a:r>
              <a:rPr lang="en-US" sz="1200" dirty="0">
                <a:solidFill>
                  <a:srgbClr val="E8EBF0"/>
                </a:solidFill>
                <a:latin typeface="Courier New" pitchFamily="34" charset="0"/>
                <a:ea typeface="Courier New" pitchFamily="34" charset="-122"/>
                <a:cs typeface="Courier New" pitchFamily="34" charset="-120"/>
              </a:rPr>
              <a:t>           33.3 = 30 m standard pole spacing</a:t>
            </a:r>
            <a:endParaRPr lang="en-US" sz="1200" dirty="0"/>
          </a:p>
          <a:p>
            <a:pPr indent="0" marL="0">
              <a:lnSpc>
                <a:spcPts val="1700"/>
              </a:lnSpc>
              <a:buNone/>
            </a:pPr>
            <a:r>
              <a:rPr lang="en-US" sz="1200" dirty="0">
                <a:solidFill>
                  <a:srgbClr val="E8EBF0"/>
                </a:solidFill>
                <a:latin typeface="Courier New" pitchFamily="34" charset="0"/>
                <a:ea typeface="Courier New" pitchFamily="34" charset="-122"/>
                <a:cs typeface="Courier New" pitchFamily="34" charset="-120"/>
              </a:rPr>
              <a:t>           0.920 = measured working rate</a:t>
            </a:r>
            <a:endParaRPr lang="en-US" sz="1200" dirty="0"/>
          </a:p>
          <a:p>
            <a:pPr indent="0" marL="0">
              <a:lnSpc>
                <a:spcPts val="1700"/>
              </a:lnSpc>
              <a:buNone/>
            </a:pPr>
            <a:r>
              <a:rPr lang="en-US" sz="1200" dirty="0">
                <a:solidFill>
                  <a:srgbClr val="E8EBF0"/>
                </a:solidFill>
                <a:latin typeface="Courier New" pitchFamily="34" charset="0"/>
                <a:ea typeface="Courier New" pitchFamily="34" charset="-122"/>
                <a:cs typeface="Courier New" pitchFamily="34" charset="-120"/>
              </a:rPr>
              <a:t>Beta(α₀, β₀) = (K·P(lit), K·(1−P(lit)))   K = 2</a:t>
            </a:r>
            <a:endParaRPr lang="en-US" sz="1200" dirty="0"/>
          </a:p>
        </p:txBody>
      </p:sp>
      <p:sp>
        <p:nvSpPr>
          <p:cNvPr id="7" name="Text 4"/>
          <p:cNvSpPr/>
          <p:nvPr/>
        </p:nvSpPr>
        <p:spPr>
          <a:xfrm>
            <a:off x="640080" y="3621024"/>
            <a:ext cx="5120640" cy="548640"/>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Evidence updates α and β, each decayed on a 30-day half-life so a confirmed repair genuinely clears a segment:</a:t>
            </a:r>
            <a:endParaRPr lang="en-US" sz="1250" dirty="0"/>
          </a:p>
        </p:txBody>
      </p:sp>
      <p:sp>
        <p:nvSpPr>
          <p:cNvPr id="8" name="Text 5"/>
          <p:cNvSpPr/>
          <p:nvPr/>
        </p:nvSpPr>
        <p:spPr>
          <a:xfrm>
            <a:off x="640080" y="4242816"/>
            <a:ext cx="3566160" cy="274320"/>
          </a:xfrm>
          <a:prstGeom prst="rect">
            <a:avLst/>
          </a:prstGeom>
          <a:noFill/>
          <a:ln/>
        </p:spPr>
        <p:txBody>
          <a:bodyPr wrap="square" lIns="0" tIns="0" rIns="0" bIns="0" rtlCol="0" anchor="ctr"/>
          <a:lstStyle/>
          <a:p>
            <a:pPr indent="0" marL="0">
              <a:buNone/>
            </a:pPr>
            <a:r>
              <a:rPr lang="en-US" sz="1200" dirty="0">
                <a:solidFill>
                  <a:srgbClr val="E8EBF0"/>
                </a:solidFill>
                <a:latin typeface="Arial" pitchFamily="34" charset="0"/>
                <a:ea typeface="Arial" pitchFamily="34" charset="-122"/>
                <a:cs typeface="Arial" pitchFamily="34" charset="-120"/>
              </a:rPr>
              <a:t>IUDX zero current after dusk</a:t>
            </a:r>
            <a:endParaRPr lang="en-US" sz="1200" dirty="0"/>
          </a:p>
        </p:txBody>
      </p:sp>
      <p:sp>
        <p:nvSpPr>
          <p:cNvPr id="9" name="Text 6"/>
          <p:cNvSpPr/>
          <p:nvPr/>
        </p:nvSpPr>
        <p:spPr>
          <a:xfrm>
            <a:off x="4206240" y="4242816"/>
            <a:ext cx="1554480"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2.0 → β</a:t>
            </a:r>
            <a:endParaRPr lang="en-US" sz="1200" dirty="0"/>
          </a:p>
        </p:txBody>
      </p:sp>
      <p:sp>
        <p:nvSpPr>
          <p:cNvPr id="10" name="Text 7"/>
          <p:cNvSpPr/>
          <p:nvPr/>
        </p:nvSpPr>
        <p:spPr>
          <a:xfrm>
            <a:off x="640080" y="4553712"/>
            <a:ext cx="3566160" cy="274320"/>
          </a:xfrm>
          <a:prstGeom prst="rect">
            <a:avLst/>
          </a:prstGeom>
          <a:noFill/>
          <a:ln/>
        </p:spPr>
        <p:txBody>
          <a:bodyPr wrap="square" lIns="0" tIns="0" rIns="0" bIns="0" rtlCol="0" anchor="ctr"/>
          <a:lstStyle/>
          <a:p>
            <a:pPr indent="0" marL="0">
              <a:buNone/>
            </a:pPr>
            <a:r>
              <a:rPr lang="en-US" sz="1200" dirty="0">
                <a:solidFill>
                  <a:srgbClr val="E8EBF0"/>
                </a:solidFill>
                <a:latin typeface="Arial" pitchFamily="34" charset="0"/>
                <a:ea typeface="Arial" pitchFamily="34" charset="-122"/>
                <a:cs typeface="Arial" pitchFamily="34" charset="-120"/>
              </a:rPr>
              <a:t>repair confirmed by a reporter</a:t>
            </a:r>
            <a:endParaRPr lang="en-US" sz="1200" dirty="0"/>
          </a:p>
        </p:txBody>
      </p:sp>
      <p:sp>
        <p:nvSpPr>
          <p:cNvPr id="11" name="Text 8"/>
          <p:cNvSpPr/>
          <p:nvPr/>
        </p:nvSpPr>
        <p:spPr>
          <a:xfrm>
            <a:off x="4206240" y="4553712"/>
            <a:ext cx="1554480"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1.5 → α</a:t>
            </a:r>
            <a:endParaRPr lang="en-US" sz="1200" dirty="0"/>
          </a:p>
        </p:txBody>
      </p:sp>
      <p:sp>
        <p:nvSpPr>
          <p:cNvPr id="12" name="Text 9"/>
          <p:cNvSpPr/>
          <p:nvPr/>
        </p:nvSpPr>
        <p:spPr>
          <a:xfrm>
            <a:off x="640080" y="4864608"/>
            <a:ext cx="3566160" cy="274320"/>
          </a:xfrm>
          <a:prstGeom prst="rect">
            <a:avLst/>
          </a:prstGeom>
          <a:noFill/>
          <a:ln/>
        </p:spPr>
        <p:txBody>
          <a:bodyPr wrap="square" lIns="0" tIns="0" rIns="0" bIns="0" rtlCol="0" anchor="ctr"/>
          <a:lstStyle/>
          <a:p>
            <a:pPr indent="0" marL="0">
              <a:buNone/>
            </a:pPr>
            <a:r>
              <a:rPr lang="en-US" sz="1200" dirty="0">
                <a:solidFill>
                  <a:srgbClr val="E8EBF0"/>
                </a:solidFill>
                <a:latin typeface="Arial" pitchFamily="34" charset="0"/>
                <a:ea typeface="Arial" pitchFamily="34" charset="-122"/>
                <a:cs typeface="Arial" pitchFamily="34" charset="-120"/>
              </a:rPr>
              <a:t>OSM working = no  /  = yes</a:t>
            </a:r>
            <a:endParaRPr lang="en-US" sz="1200" dirty="0"/>
          </a:p>
        </p:txBody>
      </p:sp>
      <p:sp>
        <p:nvSpPr>
          <p:cNvPr id="13" name="Text 10"/>
          <p:cNvSpPr/>
          <p:nvPr/>
        </p:nvSpPr>
        <p:spPr>
          <a:xfrm>
            <a:off x="4206240" y="4864608"/>
            <a:ext cx="1554480"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1.0 → β / α</a:t>
            </a:r>
            <a:endParaRPr lang="en-US" sz="1200" dirty="0"/>
          </a:p>
        </p:txBody>
      </p:sp>
      <p:sp>
        <p:nvSpPr>
          <p:cNvPr id="14" name="Text 11"/>
          <p:cNvSpPr/>
          <p:nvPr/>
        </p:nvSpPr>
        <p:spPr>
          <a:xfrm>
            <a:off x="640080" y="5175504"/>
            <a:ext cx="3566160" cy="274320"/>
          </a:xfrm>
          <a:prstGeom prst="rect">
            <a:avLst/>
          </a:prstGeom>
          <a:noFill/>
          <a:ln/>
        </p:spPr>
        <p:txBody>
          <a:bodyPr wrap="square" lIns="0" tIns="0" rIns="0" bIns="0" rtlCol="0" anchor="ctr"/>
          <a:lstStyle/>
          <a:p>
            <a:pPr indent="0" marL="0">
              <a:buNone/>
            </a:pPr>
            <a:r>
              <a:rPr lang="en-US" sz="1200" dirty="0">
                <a:solidFill>
                  <a:srgbClr val="E8EBF0"/>
                </a:solidFill>
                <a:latin typeface="Arial" pitchFamily="34" charset="0"/>
                <a:ea typeface="Arial" pitchFamily="34" charset="-122"/>
                <a:cs typeface="Arial" pitchFamily="34" charset="-120"/>
              </a:rPr>
              <a:t>way lit = no</a:t>
            </a:r>
            <a:endParaRPr lang="en-US" sz="1200" dirty="0"/>
          </a:p>
        </p:txBody>
      </p:sp>
      <p:sp>
        <p:nvSpPr>
          <p:cNvPr id="15" name="Text 12"/>
          <p:cNvSpPr/>
          <p:nvPr/>
        </p:nvSpPr>
        <p:spPr>
          <a:xfrm>
            <a:off x="4206240" y="5175504"/>
            <a:ext cx="1554480"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0.8 → β</a:t>
            </a:r>
            <a:endParaRPr lang="en-US" sz="1200" dirty="0"/>
          </a:p>
        </p:txBody>
      </p:sp>
      <p:sp>
        <p:nvSpPr>
          <p:cNvPr id="16" name="Text 13"/>
          <p:cNvSpPr/>
          <p:nvPr/>
        </p:nvSpPr>
        <p:spPr>
          <a:xfrm>
            <a:off x="640080" y="5486400"/>
            <a:ext cx="3566160" cy="274320"/>
          </a:xfrm>
          <a:prstGeom prst="rect">
            <a:avLst/>
          </a:prstGeom>
          <a:noFill/>
          <a:ln/>
        </p:spPr>
        <p:txBody>
          <a:bodyPr wrap="square" lIns="0" tIns="0" rIns="0" bIns="0" rtlCol="0" anchor="ctr"/>
          <a:lstStyle/>
          <a:p>
            <a:pPr indent="0" marL="0">
              <a:buNone/>
            </a:pPr>
            <a:r>
              <a:rPr lang="en-US" sz="1200" dirty="0">
                <a:solidFill>
                  <a:srgbClr val="E8EBF0"/>
                </a:solidFill>
                <a:latin typeface="Arial" pitchFamily="34" charset="0"/>
                <a:ea typeface="Arial" pitchFamily="34" charset="-122"/>
                <a:cs typeface="Arial" pitchFamily="34" charset="-120"/>
              </a:rPr>
              <a:t>citizen report, corroborated</a:t>
            </a:r>
            <a:endParaRPr lang="en-US" sz="1200" dirty="0"/>
          </a:p>
        </p:txBody>
      </p:sp>
      <p:sp>
        <p:nvSpPr>
          <p:cNvPr id="17" name="Text 14"/>
          <p:cNvSpPr/>
          <p:nvPr/>
        </p:nvSpPr>
        <p:spPr>
          <a:xfrm>
            <a:off x="4206240" y="5486400"/>
            <a:ext cx="1554480"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1.0 → β</a:t>
            </a:r>
            <a:endParaRPr lang="en-US" sz="1200" dirty="0"/>
          </a:p>
        </p:txBody>
      </p:sp>
      <p:sp>
        <p:nvSpPr>
          <p:cNvPr id="18" name="Text 15"/>
          <p:cNvSpPr/>
          <p:nvPr/>
        </p:nvSpPr>
        <p:spPr>
          <a:xfrm>
            <a:off x="640080" y="5797296"/>
            <a:ext cx="3566160" cy="274320"/>
          </a:xfrm>
          <a:prstGeom prst="rect">
            <a:avLst/>
          </a:prstGeom>
          <a:noFill/>
          <a:ln/>
        </p:spPr>
        <p:txBody>
          <a:bodyPr wrap="square" lIns="0" tIns="0" rIns="0" bIns="0" rtlCol="0" anchor="ctr"/>
          <a:lstStyle/>
          <a:p>
            <a:pPr indent="0" marL="0">
              <a:buNone/>
            </a:pPr>
            <a:r>
              <a:rPr lang="en-US" sz="1200" dirty="0">
                <a:solidFill>
                  <a:srgbClr val="E8EBF0"/>
                </a:solidFill>
                <a:latin typeface="Arial" pitchFamily="34" charset="0"/>
                <a:ea typeface="Arial" pitchFamily="34" charset="-122"/>
                <a:cs typeface="Arial" pitchFamily="34" charset="-120"/>
              </a:rPr>
              <a:t>OSM lamp, no working tag</a:t>
            </a:r>
            <a:endParaRPr lang="en-US" sz="1200" dirty="0"/>
          </a:p>
        </p:txBody>
      </p:sp>
      <p:sp>
        <p:nvSpPr>
          <p:cNvPr id="19" name="Text 16"/>
          <p:cNvSpPr/>
          <p:nvPr/>
        </p:nvSpPr>
        <p:spPr>
          <a:xfrm>
            <a:off x="4206240" y="5797296"/>
            <a:ext cx="1554480"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0.4 → α</a:t>
            </a:r>
            <a:endParaRPr lang="en-US" sz="1200" dirty="0"/>
          </a:p>
        </p:txBody>
      </p:sp>
      <p:sp>
        <p:nvSpPr>
          <p:cNvPr id="20" name="Shape 17"/>
          <p:cNvSpPr/>
          <p:nvPr/>
        </p:nvSpPr>
        <p:spPr>
          <a:xfrm>
            <a:off x="5943600" y="1627632"/>
            <a:ext cx="10973" cy="3968496"/>
          </a:xfrm>
          <a:prstGeom prst="rect">
            <a:avLst/>
          </a:prstGeom>
          <a:solidFill>
            <a:srgbClr val="252C3A"/>
          </a:solidFill>
          <a:ln w="12700">
            <a:solidFill>
              <a:srgbClr val="333333"/>
            </a:solidFill>
            <a:prstDash val="solid"/>
          </a:ln>
        </p:spPr>
      </p:sp>
      <p:sp>
        <p:nvSpPr>
          <p:cNvPr id="21" name="Text 18"/>
          <p:cNvSpPr/>
          <p:nvPr/>
        </p:nvSpPr>
        <p:spPr>
          <a:xfrm>
            <a:off x="6428232" y="1627632"/>
            <a:ext cx="5120640" cy="256032"/>
          </a:xfrm>
          <a:prstGeom prst="rect">
            <a:avLst/>
          </a:prstGeom>
          <a:noFill/>
          <a:ln/>
        </p:spPr>
        <p:txBody>
          <a:bodyPr wrap="square" lIns="0" tIns="0" rIns="0" bIns="0" rtlCol="0" anchor="ctr"/>
          <a:lstStyle/>
          <a:p>
            <a:pPr indent="0" marL="0">
              <a:buNone/>
            </a:pPr>
            <a:r>
              <a:rPr lang="en-US" sz="1100" b="1" spc="200" kern="0" dirty="0">
                <a:solidFill>
                  <a:srgbClr val="8A94A6"/>
                </a:solidFill>
                <a:latin typeface="Arial" pitchFamily="34" charset="0"/>
                <a:ea typeface="Arial" pitchFamily="34" charset="-122"/>
                <a:cs typeface="Arial" pitchFamily="34" charset="-120"/>
              </a:rPr>
              <a:t>THE PIPELINE</a:t>
            </a:r>
            <a:endParaRPr lang="en-US" sz="1100" dirty="0"/>
          </a:p>
        </p:txBody>
      </p:sp>
      <p:sp>
        <p:nvSpPr>
          <p:cNvPr id="22" name="Shape 19"/>
          <p:cNvSpPr/>
          <p:nvPr/>
        </p:nvSpPr>
        <p:spPr>
          <a:xfrm>
            <a:off x="6428232" y="1920240"/>
            <a:ext cx="5120640" cy="10973"/>
          </a:xfrm>
          <a:prstGeom prst="rect">
            <a:avLst/>
          </a:prstGeom>
          <a:solidFill>
            <a:srgbClr val="252C3A"/>
          </a:solidFill>
          <a:ln w="12700">
            <a:solidFill>
              <a:srgbClr val="333333"/>
            </a:solidFill>
            <a:prstDash val="solid"/>
          </a:ln>
        </p:spPr>
      </p:sp>
      <p:sp>
        <p:nvSpPr>
          <p:cNvPr id="23" name="Text 20"/>
          <p:cNvSpPr/>
          <p:nvPr/>
        </p:nvSpPr>
        <p:spPr>
          <a:xfrm>
            <a:off x="6428232" y="2139696"/>
            <a:ext cx="5120640" cy="256032"/>
          </a:xfrm>
          <a:prstGeom prst="rect">
            <a:avLst/>
          </a:prstGeom>
          <a:noFill/>
          <a:ln/>
        </p:spPr>
        <p:txBody>
          <a:bodyPr wrap="square" lIns="0" tIns="0" rIns="0" bIns="0" rtlCol="0" anchor="ctr"/>
          <a:lstStyle/>
          <a:p>
            <a:pPr indent="0" marL="0">
              <a:buNone/>
            </a:pPr>
            <a:r>
              <a:rPr lang="en-US" sz="1350" b="1" dirty="0">
                <a:solidFill>
                  <a:srgbClr val="E8EBF0"/>
                </a:solidFill>
                <a:latin typeface="Arial" pitchFamily="34" charset="0"/>
                <a:ea typeface="Arial" pitchFamily="34" charset="-122"/>
                <a:cs typeface="Arial" pitchFamily="34" charset="-120"/>
              </a:rPr>
              <a:t>Inputs</a:t>
            </a:r>
            <a:endParaRPr lang="en-US" sz="1350" dirty="0"/>
          </a:p>
        </p:txBody>
      </p:sp>
      <p:sp>
        <p:nvSpPr>
          <p:cNvPr id="24" name="Text 21"/>
          <p:cNvSpPr/>
          <p:nvPr/>
        </p:nvSpPr>
        <p:spPr>
          <a:xfrm>
            <a:off x="6428232" y="2432304"/>
            <a:ext cx="5120640" cy="676656"/>
          </a:xfrm>
          <a:prstGeom prst="rect">
            <a:avLst/>
          </a:prstGeom>
          <a:noFill/>
          <a:ln/>
        </p:spPr>
        <p:txBody>
          <a:bodyPr wrap="square" lIns="0" tIns="0" rIns="0" bIns="0" rtlCol="0" anchor="ctr"/>
          <a:lstStyle/>
          <a:p>
            <a:pPr indent="0" marL="0">
              <a:lnSpc>
                <a:spcPts val="1600"/>
              </a:lnSpc>
              <a:buNone/>
            </a:pPr>
            <a:r>
              <a:rPr lang="en-US" sz="1200" dirty="0">
                <a:solidFill>
                  <a:srgbClr val="B9C0CC"/>
                </a:solidFill>
                <a:latin typeface="Arial" pitchFamily="34" charset="0"/>
                <a:ea typeface="Arial" pitchFamily="34" charset="-122"/>
                <a:cs typeface="Arial" pitchFamily="34" charset="-120"/>
              </a:rPr>
              <a:t>OSM walk graph (95,557 nodes, 98.4% connected) · BMTC GTFS (6,187 night departures) · night-active POIs (3,417 of 9,199) · ward lamp density (421,113 lamps, 198 wards) · OSM working tags (1,128 labelled) · citizen reports · IUDX telemetry, gated</a:t>
            </a:r>
            <a:endParaRPr lang="en-US" sz="1200" dirty="0"/>
          </a:p>
        </p:txBody>
      </p:sp>
      <p:sp>
        <p:nvSpPr>
          <p:cNvPr id="25" name="Text 22"/>
          <p:cNvSpPr/>
          <p:nvPr/>
        </p:nvSpPr>
        <p:spPr>
          <a:xfrm>
            <a:off x="6428232" y="3127248"/>
            <a:ext cx="5120640" cy="256032"/>
          </a:xfrm>
          <a:prstGeom prst="rect">
            <a:avLst/>
          </a:prstGeom>
          <a:noFill/>
          <a:ln/>
        </p:spPr>
        <p:txBody>
          <a:bodyPr wrap="square" lIns="0" tIns="0" rIns="0" bIns="0" rtlCol="0" anchor="ctr"/>
          <a:lstStyle/>
          <a:p>
            <a:pPr indent="0" marL="0">
              <a:buNone/>
            </a:pPr>
            <a:r>
              <a:rPr lang="en-US" sz="1350" b="1" dirty="0">
                <a:solidFill>
                  <a:srgbClr val="E8EBF0"/>
                </a:solidFill>
                <a:latin typeface="Arial" pitchFamily="34" charset="0"/>
                <a:ea typeface="Arial" pitchFamily="34" charset="-122"/>
                <a:cs typeface="Arial" pitchFamily="34" charset="-120"/>
              </a:rPr>
              <a:t>Two models</a:t>
            </a:r>
            <a:endParaRPr lang="en-US" sz="1350" dirty="0"/>
          </a:p>
        </p:txBody>
      </p:sp>
      <p:sp>
        <p:nvSpPr>
          <p:cNvPr id="26" name="Text 23"/>
          <p:cNvSpPr/>
          <p:nvPr/>
        </p:nvSpPr>
        <p:spPr>
          <a:xfrm>
            <a:off x="6428232" y="3419856"/>
            <a:ext cx="5120640" cy="676656"/>
          </a:xfrm>
          <a:prstGeom prst="rect">
            <a:avLst/>
          </a:prstGeom>
          <a:noFill/>
          <a:ln/>
        </p:spPr>
        <p:txBody>
          <a:bodyPr wrap="square" lIns="0" tIns="0" rIns="0" bIns="0" rtlCol="0" anchor="ctr"/>
          <a:lstStyle/>
          <a:p>
            <a:pPr indent="0" marL="0">
              <a:lnSpc>
                <a:spcPts val="1600"/>
              </a:lnSpc>
              <a:buNone/>
            </a:pPr>
            <a:r>
              <a:rPr lang="en-US" sz="1200" dirty="0">
                <a:solidFill>
                  <a:srgbClr val="B9C0CC"/>
                </a:solidFill>
                <a:latin typeface="Arial" pitchFamily="34" charset="0"/>
                <a:ea typeface="Arial" pitchFamily="34" charset="-122"/>
                <a:cs typeface="Arial" pitchFamily="34" charset="-120"/>
              </a:rPr>
              <a:t>EXPOSURE E(segment) = activity + structural, kept separately so convergent validation is possible.  DARKNESS Beta(α,β), mean = P(dark), var = confidence.</a:t>
            </a:r>
            <a:endParaRPr lang="en-US" sz="1200" dirty="0"/>
          </a:p>
        </p:txBody>
      </p:sp>
      <p:sp>
        <p:nvSpPr>
          <p:cNvPr id="27" name="Text 24"/>
          <p:cNvSpPr/>
          <p:nvPr/>
        </p:nvSpPr>
        <p:spPr>
          <a:xfrm>
            <a:off x="6428232" y="4114800"/>
            <a:ext cx="5120640" cy="256032"/>
          </a:xfrm>
          <a:prstGeom prst="rect">
            <a:avLst/>
          </a:prstGeom>
          <a:noFill/>
          <a:ln/>
        </p:spPr>
        <p:txBody>
          <a:bodyPr wrap="square" lIns="0" tIns="0" rIns="0" bIns="0" rtlCol="0" anchor="ctr"/>
          <a:lstStyle/>
          <a:p>
            <a:pPr indent="0" marL="0">
              <a:buNone/>
            </a:pPr>
            <a:r>
              <a:rPr lang="en-US" sz="1350" b="1" dirty="0">
                <a:solidFill>
                  <a:srgbClr val="E8EBF0"/>
                </a:solidFill>
                <a:latin typeface="Arial" pitchFamily="34" charset="0"/>
                <a:ea typeface="Arial" pitchFamily="34" charset="-122"/>
                <a:cs typeface="Arial" pitchFamily="34" charset="-120"/>
              </a:rPr>
              <a:t>Four outputs</a:t>
            </a:r>
            <a:endParaRPr lang="en-US" sz="1350" dirty="0"/>
          </a:p>
        </p:txBody>
      </p:sp>
      <p:sp>
        <p:nvSpPr>
          <p:cNvPr id="28" name="Text 25"/>
          <p:cNvSpPr/>
          <p:nvPr/>
        </p:nvSpPr>
        <p:spPr>
          <a:xfrm>
            <a:off x="6428232" y="4407408"/>
            <a:ext cx="5120640" cy="676656"/>
          </a:xfrm>
          <a:prstGeom prst="rect">
            <a:avLst/>
          </a:prstGeom>
          <a:noFill/>
          <a:ln/>
        </p:spPr>
        <p:txBody>
          <a:bodyPr wrap="square" lIns="0" tIns="0" rIns="0" bIns="0" rtlCol="0" anchor="ctr"/>
          <a:lstStyle/>
          <a:p>
            <a:pPr indent="0" marL="0">
              <a:lnSpc>
                <a:spcPts val="1600"/>
              </a:lnSpc>
              <a:buNone/>
            </a:pPr>
            <a:r>
              <a:rPr lang="en-US" sz="1200" dirty="0">
                <a:solidFill>
                  <a:srgbClr val="B9C0CC"/>
                </a:solidFill>
                <a:latin typeface="Arial" pitchFamily="34" charset="0"/>
                <a:ea typeface="Arial" pitchFamily="34" charset="-122"/>
                <a:cs typeface="Arial" pitchFamily="34" charset="-120"/>
              </a:rPr>
              <a:t>repair_priority = E · P(dark) · confidence, solved as a knapsack under budget.  route_penalty = L · (1 + λd·P(dark) + λe/E + λu·var) — note E divides.  Confidence band drives the routing refusal.  Report targeting on an upper confidence bound.</a:t>
            </a:r>
            <a:endParaRPr lang="en-US" sz="1200" dirty="0"/>
          </a:p>
        </p:txBody>
      </p:sp>
      <p:sp>
        <p:nvSpPr>
          <p:cNvPr id="29" name="Text 26"/>
          <p:cNvSpPr/>
          <p:nvPr/>
        </p:nvSpPr>
        <p:spPr>
          <a:xfrm>
            <a:off x="6428232" y="5102352"/>
            <a:ext cx="5120640" cy="256032"/>
          </a:xfrm>
          <a:prstGeom prst="rect">
            <a:avLst/>
          </a:prstGeom>
          <a:noFill/>
          <a:ln/>
        </p:spPr>
        <p:txBody>
          <a:bodyPr wrap="square" lIns="0" tIns="0" rIns="0" bIns="0" rtlCol="0" anchor="ctr"/>
          <a:lstStyle/>
          <a:p>
            <a:pPr indent="0" marL="0">
              <a:buNone/>
            </a:pPr>
            <a:r>
              <a:rPr lang="en-US" sz="1350" b="1" dirty="0">
                <a:solidFill>
                  <a:srgbClr val="E8EBF0"/>
                </a:solidFill>
                <a:latin typeface="Arial" pitchFamily="34" charset="0"/>
                <a:ea typeface="Arial" pitchFamily="34" charset="-122"/>
                <a:cs typeface="Arial" pitchFamily="34" charset="-120"/>
              </a:rPr>
              <a:t>Vasanthanagar transition matrix</a:t>
            </a:r>
            <a:endParaRPr lang="en-US" sz="1350" dirty="0"/>
          </a:p>
        </p:txBody>
      </p:sp>
      <p:sp>
        <p:nvSpPr>
          <p:cNvPr id="30" name="Text 27"/>
          <p:cNvSpPr/>
          <p:nvPr/>
        </p:nvSpPr>
        <p:spPr>
          <a:xfrm>
            <a:off x="6428232" y="5394960"/>
            <a:ext cx="5120640" cy="676656"/>
          </a:xfrm>
          <a:prstGeom prst="rect">
            <a:avLst/>
          </a:prstGeom>
          <a:noFill/>
          <a:ln/>
        </p:spPr>
        <p:txBody>
          <a:bodyPr wrap="square" lIns="0" tIns="0" rIns="0" bIns="0" rtlCol="0" anchor="ctr"/>
          <a:lstStyle/>
          <a:p>
            <a:pPr indent="0" marL="0">
              <a:lnSpc>
                <a:spcPts val="1600"/>
              </a:lnSpc>
              <a:buNone/>
            </a:pPr>
            <a:r>
              <a:rPr lang="en-US" sz="1200" dirty="0">
                <a:solidFill>
                  <a:srgbClr val="B9C0CC"/>
                </a:solidFill>
                <a:latin typeface="Arial" pitchFamily="34" charset="0"/>
                <a:ea typeface="Arial" pitchFamily="34" charset="-122"/>
                <a:cs typeface="Arial" pitchFamily="34" charset="-120"/>
              </a:rPr>
              <a:t>469 lamps, 17 Jun → 2 Jul 2019. DEAD→DEAD 33, DEAD→OK 28, OK→DEAD 15, OK→OK 360. 45.9% repaired, 4.0% failed, equilibrium dead share 8.0%.</a:t>
            </a:r>
            <a:endParaRPr lang="en-US" sz="1200" dirty="0"/>
          </a:p>
        </p:txBody>
      </p:sp>
      <p:sp>
        <p:nvSpPr>
          <p:cNvPr id="31" name="Text 28"/>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Every element exists in data/pipeline.py. No ML model, no cloud layer, no auth service. VIIRS nightlights are 500 m per pixel and are not used to judge a street.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Roshni</dc:title>
  <dc:subject>PptxGenJS Presentation</dc:subject>
  <dc:creator>Roshni</dc:creator>
  <cp:lastModifiedBy>Roshni</cp:lastModifiedBy>
  <cp:revision>1</cp:revision>
  <dcterms:created xsi:type="dcterms:W3CDTF">2026-08-22T00:28:15Z</dcterms:created>
  <dcterms:modified xsi:type="dcterms:W3CDTF">2026-08-22T00:28:15Z</dcterms:modified>
</cp:coreProperties>
</file>