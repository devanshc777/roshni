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subtitle out loud as your first sentence. Do not introduce yourselves first — lead with the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their number, not ours — and we recomputed it from the raw register rather than citing an analysis of it. Do not round to 'about a third'; the precision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for a government judge. Never open by criticising the municipality — they will resent it and the data does not support it. Say the phrase: an efficient execution machine is being handed the wrong order. Do not use 'broken', 'failure', 'apathy', 'negligence'. Trap: these are streetlight-only ward counts, not all-category. Do not mix 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modelling decision does most of the work here, and it is this one. The atom choice is why the missing inventory stops being fatal.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ten seconds each. One: two models, four products — darkness and exposure are estimated separately. Two: uncertainty is a first-class output; posterior variance drives the routing refusal and the report targeting. Three: the dashed line is gated — everything works without it and nothing needs rewriting when it opens. Do not walk the boxes left to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caught our own model producing an indefensible number and fixed it against a measured failure rate. Evidence updates alpha and beta: working=yes/no at 1.0, lit=no at 0.8, corroborated citizen report at 1.0, IUDX zero-current-after-dusk at 2.0 — each decayed with a 30-day half-life, so a confirmed repair genuinely clears a segment.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Strongest intellectual slide in the deck and it costs nothing but clear thinking. Most teams use footfall with one sign in both places and never notice. Cite Jacobs by name — it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on the number, pause, then give the stress tests BEFORE anyone asks. The last line is the thesis of the whole project — say it slowly. Never quote 7.7x on its own: a sharp judge will say you are just beating random, and if you have already said 1.9x you win that exchange instead of losing it. The grievance file has no coordinates, so the baseline is Monte-Carlo'd over 300 draws: wards in complaint order, target inside the ward unknown.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 a BBMP executive engineer would open on a Monday. Point at three things: the ratio, the municipal-priority sliders — the municipality owns those weights, not us — and a low-confidence row, which we mark rather than hide.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bypass finding slowly — it is the measured answer to 'why not just build a safer-route app'. Then the duality on real geography: Haralur Road in Bellandur carries the widest confidence band in the corridor — no mapped lamps, almost no night bus service, zero streetlight complaints in the ward file. The router will not send you down it. The report screen sends you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pre-answers the hardest question we get — what does it do on day one with no data — before it is asked. Tell the targeting story: our first rule asked about the streets we knew least, and measured, it lost to random. Those are streets no crew would ever be sent to. The rule that works asks about streets whose optimistic darkness estimate would put them in the repair queue if it turned out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problem author cares about — the challenge question is about validation, not features. Lead with the null, then the bug, then the corrected number. A team that gets a null, distrusts it, finds its own bug and re-runs is doing science. Do NOT hide the 0.03 — it is what makes the 0.30 believable. Also: the exposure blend leans structural at 0.75. On the broken numbers that looked like a finding. On the corrected numbers it is a choice, made because the problem statement names late-night commuters. Call it a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this slide on: our ask is that someone approves the request. It reframes the missing data from a weakness into a call to action, and it is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a limitation is worth more than defending one. Say all four briskly — thirty seconds total — and do not dwell. Tone is command of the material, not confession.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answer 'what's next' with a feature list. Every team does. Answering with what you would try to learn is the differentiator, and it is the last thing they hear before scoring. Close on the number and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this. It is here so that any number a judge asks about can be found in ten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K">
    <p:bg>
      <p:bgPr>
        <a:solidFill>
          <a:srgbClr val="0B0E1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40080" y="2606040"/>
            <a:ext cx="8229600" cy="1371600"/>
          </a:xfrm>
          <a:prstGeom prst="rect">
            <a:avLst/>
          </a:prstGeom>
          <a:noFill/>
          <a:ln/>
        </p:spPr>
        <p:txBody>
          <a:bodyPr wrap="square" lIns="0" tIns="0" rIns="0" bIns="0" rtlCol="0" anchor="ctr"/>
          <a:lstStyle/>
          <a:p>
            <a:pPr indent="0" marL="0">
              <a:buNone/>
            </a:pPr>
            <a:r>
              <a:rPr lang="en-US" sz="8800" b="1" spc="600" kern="0" dirty="0">
                <a:solidFill>
                  <a:srgbClr val="E8EBF0"/>
                </a:solidFill>
                <a:latin typeface="Arial" pitchFamily="34" charset="0"/>
                <a:ea typeface="Arial" pitchFamily="34" charset="-122"/>
                <a:cs typeface="Arial" pitchFamily="34" charset="-120"/>
              </a:rPr>
              <a:t>ROSHNI</a:t>
            </a:r>
            <a:endParaRPr lang="en-US" sz="8800" dirty="0"/>
          </a:p>
        </p:txBody>
      </p:sp>
      <p:sp>
        <p:nvSpPr>
          <p:cNvPr id="4" name="Text 1"/>
          <p:cNvSpPr/>
          <p:nvPr/>
        </p:nvSpPr>
        <p:spPr>
          <a:xfrm>
            <a:off x="640080" y="3986784"/>
            <a:ext cx="8778240" cy="457200"/>
          </a:xfrm>
          <a:prstGeom prst="rect">
            <a:avLst/>
          </a:prstGeom>
          <a:noFill/>
          <a:ln/>
        </p:spPr>
        <p:txBody>
          <a:bodyPr wrap="square" lIns="0" tIns="0" rIns="0" bIns="0" rtlCol="0" anchor="ctr"/>
          <a:lstStyle/>
          <a:p>
            <a:pPr indent="0" marL="0">
              <a:buNone/>
            </a:pPr>
            <a:r>
              <a:rPr lang="en-US" sz="2200" dirty="0">
                <a:solidFill>
                  <a:srgbClr val="F2A93B"/>
                </a:solidFill>
                <a:latin typeface="Arial" pitchFamily="34" charset="0"/>
                <a:ea typeface="Arial" pitchFamily="34" charset="-122"/>
                <a:cs typeface="Arial" pitchFamily="34" charset="-120"/>
              </a:rPr>
              <a:t>The streetlight repair queue, reordered by who is actually walking.</a:t>
            </a:r>
            <a:endParaRPr lang="en-US" sz="2200" dirty="0"/>
          </a:p>
        </p:txBody>
      </p:sp>
      <p:sp>
        <p:nvSpPr>
          <p:cNvPr id="5" name="Text 2"/>
          <p:cNvSpPr/>
          <p:nvPr/>
        </p:nvSpPr>
        <p:spPr>
          <a:xfrm>
            <a:off x="640080" y="6272784"/>
            <a:ext cx="9144000" cy="320040"/>
          </a:xfrm>
          <a:prstGeom prst="rect">
            <a:avLst/>
          </a:prstGeom>
          <a:noFill/>
          <a:ln/>
        </p:spPr>
        <p:txBody>
          <a:bodyPr wrap="square" lIns="0" tIns="0" rIns="0" bIns="0" rtlCol="0" anchor="ctr"/>
          <a:lstStyle/>
          <a:p>
            <a:pPr indent="0" marL="0">
              <a:buNone/>
            </a:pPr>
            <a:r>
              <a:rPr lang="en-US" sz="1300" dirty="0">
                <a:solidFill>
                  <a:srgbClr val="8A94A6"/>
                </a:solidFill>
                <a:latin typeface="Arial" pitchFamily="34" charset="0"/>
                <a:ea typeface="Arial" pitchFamily="34" charset="-122"/>
                <a:cs typeface="Arial" pitchFamily="34" charset="-120"/>
              </a:rPr>
              <a:t>Problem Statement 17   ·   Smart Cities: Night-Safety Dark-Zone Mapper   ·   Bengaluru</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240" kern="0" dirty="0">
                <a:solidFill>
                  <a:srgbClr val="8A94A6"/>
                </a:solidFill>
                <a:latin typeface="Arial" pitchFamily="34" charset="0"/>
                <a:ea typeface="Arial" pitchFamily="34" charset="-122"/>
                <a:cs typeface="Arial" pitchFamily="34" charset="-120"/>
              </a:rPr>
              <a:t>BENGALURU'S MOST-FILED COMPLAINT</a:t>
            </a:r>
            <a:endParaRPr lang="en-US" sz="1200" dirty="0"/>
          </a:p>
        </p:txBody>
      </p:sp>
      <p:sp>
        <p:nvSpPr>
          <p:cNvPr id="4" name="Text 1"/>
          <p:cNvSpPr/>
          <p:nvPr/>
        </p:nvSpPr>
        <p:spPr>
          <a:xfrm>
            <a:off x="640080" y="914400"/>
            <a:ext cx="5486400" cy="2011680"/>
          </a:xfrm>
          <a:prstGeom prst="rect">
            <a:avLst/>
          </a:prstGeom>
          <a:noFill/>
          <a:ln/>
        </p:spPr>
        <p:txBody>
          <a:bodyPr wrap="none" lIns="0" tIns="0" rIns="0" bIns="0" rtlCol="0" anchor="b"/>
          <a:lstStyle/>
          <a:p>
            <a:pPr algn="l" indent="0" marL="0">
              <a:buNone/>
            </a:pPr>
            <a:r>
              <a:rPr lang="en-US" sz="14800" b="1" dirty="0">
                <a:solidFill>
                  <a:srgbClr val="F2A93B"/>
                </a:solidFill>
                <a:latin typeface="Arial" pitchFamily="34" charset="0"/>
                <a:ea typeface="Arial" pitchFamily="34" charset="-122"/>
                <a:cs typeface="Arial" pitchFamily="34" charset="-120"/>
              </a:rPr>
              <a:t>31.4</a:t>
            </a:r>
            <a:pPr algn="l" indent="0" marL="0">
              <a:buNone/>
            </a:pPr>
            <a:r>
              <a:rPr lang="en-US" sz="6500" b="1" dirty="0">
                <a:solidFill>
                  <a:srgbClr val="F2A93B"/>
                </a:solidFill>
                <a:latin typeface="Arial" pitchFamily="34" charset="0"/>
                <a:ea typeface="Arial" pitchFamily="34" charset="-122"/>
                <a:cs typeface="Arial" pitchFamily="34" charset="-120"/>
              </a:rPr>
              <a:t>%</a:t>
            </a:r>
            <a:endParaRPr lang="en-US" sz="14800" dirty="0"/>
          </a:p>
        </p:txBody>
      </p:sp>
      <p:sp>
        <p:nvSpPr>
          <p:cNvPr id="5" name="Text 2"/>
          <p:cNvSpPr/>
          <p:nvPr/>
        </p:nvSpPr>
        <p:spPr>
          <a:xfrm>
            <a:off x="640080" y="3054096"/>
            <a:ext cx="4846320" cy="2651760"/>
          </a:xfrm>
          <a:prstGeom prst="rect">
            <a:avLst/>
          </a:prstGeom>
          <a:noFill/>
          <a:ln/>
        </p:spPr>
        <p:txBody>
          <a:bodyPr wrap="square" lIns="0" tIns="0" rIns="0" bIns="0" rtlCol="0" anchor="t"/>
          <a:lstStyle/>
          <a:p>
            <a:pPr indent="0" marL="0">
              <a:lnSpc>
                <a:spcPts val="2400"/>
              </a:lnSpc>
              <a:buNone/>
            </a:pPr>
            <a:r>
              <a:rPr lang="en-US" sz="1650" b="1" dirty="0">
                <a:solidFill>
                  <a:srgbClr val="F2A93B"/>
                </a:solidFill>
                <a:latin typeface="Arial" pitchFamily="34" charset="0"/>
                <a:ea typeface="Arial" pitchFamily="34" charset="-122"/>
                <a:cs typeface="Arial" pitchFamily="34" charset="-120"/>
              </a:rPr>
              <a:t>39,847</a:t>
            </a:r>
            <a:pPr indent="0" marL="0">
              <a:lnSpc>
                <a:spcPts val="2400"/>
              </a:lnSpc>
              <a:buNone/>
            </a:pPr>
            <a:r>
              <a:rPr lang="en-US" sz="1650" dirty="0">
                <a:solidFill>
                  <a:srgbClr val="E8EBF0"/>
                </a:solidFill>
                <a:latin typeface="Arial" pitchFamily="34" charset="0"/>
                <a:ea typeface="Arial" pitchFamily="34" charset="-122"/>
                <a:cs typeface="Arial" pitchFamily="34" charset="-120"/>
              </a:rPr>
              <a:t> of the 126,974 civic complaints Bengaluru filed between 1 January and 19 June 2025 were </a:t>
            </a:r>
            <a:pPr indent="0" marL="0">
              <a:lnSpc>
                <a:spcPts val="2400"/>
              </a:lnSpc>
              <a:buNone/>
            </a:pPr>
            <a:r>
              <a:rPr lang="en-US" sz="1650" b="1" dirty="0">
                <a:solidFill>
                  <a:srgbClr val="E8EBF0"/>
                </a:solidFill>
                <a:latin typeface="Arial" pitchFamily="34" charset="0"/>
                <a:ea typeface="Arial" pitchFamily="34" charset="-122"/>
                <a:cs typeface="Arial" pitchFamily="34" charset="-120"/>
              </a:rPr>
              <a:t>“Street Light Not Working”</a:t>
            </a:r>
            <a:pPr indent="0" marL="0">
              <a:lnSpc>
                <a:spcPts val="2400"/>
              </a:lnSpc>
              <a:buNone/>
            </a:pPr>
            <a:r>
              <a:rPr lang="en-US" sz="1650" dirty="0">
                <a:solidFill>
                  <a:srgbClr val="E8EBF0"/>
                </a:solidFill>
                <a:latin typeface="Arial" pitchFamily="34" charset="0"/>
                <a:ea typeface="Arial" pitchFamily="34" charset="-122"/>
                <a:cs typeface="Arial" pitchFamily="34" charset="-120"/>
              </a:rPr>
              <a:t> — about 236 a day.</a:t>
            </a:r>
            <a:endParaRPr lang="en-US" sz="1650" dirty="0"/>
          </a:p>
          <a:p>
            <a:pPr indent="0" marL="0">
              <a:lnSpc>
                <a:spcPts val="2400"/>
              </a:lnSpc>
              <a:buNone/>
            </a:pPr>
            <a:endParaRPr lang="en-US" sz="1650" dirty="0"/>
          </a:p>
          <a:p>
            <a:pPr indent="0" marL="0">
              <a:lnSpc>
                <a:spcPts val="2400"/>
              </a:lnSpc>
              <a:buNone/>
            </a:pPr>
            <a:r>
              <a:rPr lang="en-US" sz="1650" dirty="0">
                <a:solidFill>
                  <a:srgbClr val="E8EBF0"/>
                </a:solidFill>
                <a:latin typeface="Arial" pitchFamily="34" charset="0"/>
                <a:ea typeface="Arial" pitchFamily="34" charset="-122"/>
                <a:cs typeface="Arial" pitchFamily="34" charset="-120"/>
              </a:rPr>
              <a:t>The largest complaint category in the city. Garbage is second, at 16,137.</a:t>
            </a:r>
            <a:endParaRPr lang="en-US" sz="1650" dirty="0"/>
          </a:p>
        </p:txBody>
      </p:sp>
      <p:pic>
        <p:nvPicPr>
          <p:cNvPr id="6" name="Image 0" descr="assets/chart-categories.png">    </p:cNvPr>
          <p:cNvPicPr>
            <a:picLocks noChangeAspect="1"/>
          </p:cNvPicPr>
          <p:nvPr/>
        </p:nvPicPr>
        <p:blipFill>
          <a:blip r:embed="rId1"/>
          <a:stretch>
            <a:fillRect/>
          </a:stretch>
        </p:blipFill>
        <p:spPr>
          <a:xfrm>
            <a:off x="5971032" y="1883664"/>
            <a:ext cx="5577840" cy="3044952"/>
          </a:xfrm>
          <a:prstGeom prst="rect">
            <a:avLst/>
          </a:prstGeom>
        </p:spPr>
      </p:pic>
      <p:sp>
        <p:nvSpPr>
          <p:cNvPr id="7" name="Text 3"/>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BBMP grievance register, 1 Jan – 19 Jun 2025, via OpenCity. Recomputed from the raw CSV. n = 126,974.</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3300" b="1" dirty="0">
                <a:solidFill>
                  <a:srgbClr val="E8EBF0"/>
                </a:solidFill>
                <a:latin typeface="Arial" pitchFamily="34" charset="0"/>
                <a:ea typeface="Arial" pitchFamily="34" charset="-122"/>
                <a:cs typeface="Arial" pitchFamily="34" charset="-120"/>
              </a:rPr>
              <a:t>Not failing. Handed the wrong order.</a:t>
            </a:r>
            <a:endParaRPr lang="en-US" sz="3300" dirty="0"/>
          </a:p>
        </p:txBody>
      </p:sp>
      <p:sp>
        <p:nvSpPr>
          <p:cNvPr id="4" name="Text 1"/>
          <p:cNvSpPr/>
          <p:nvPr/>
        </p:nvSpPr>
        <p:spPr>
          <a:xfrm>
            <a:off x="640080" y="1627632"/>
            <a:ext cx="5577840" cy="777240"/>
          </a:xfrm>
          <a:prstGeom prst="rect">
            <a:avLst/>
          </a:prstGeom>
          <a:noFill/>
          <a:ln/>
        </p:spPr>
        <p:txBody>
          <a:bodyPr wrap="none" lIns="0" tIns="0" rIns="0" bIns="0" rtlCol="0" anchor="b"/>
          <a:lstStyle/>
          <a:p>
            <a:pPr indent="0" marL="0">
              <a:buNone/>
            </a:pPr>
            <a:r>
              <a:rPr lang="en-US" sz="5200" b="1" dirty="0">
                <a:solidFill>
                  <a:srgbClr val="F2A93B"/>
                </a:solidFill>
                <a:latin typeface="Arial" pitchFamily="34" charset="0"/>
                <a:ea typeface="Arial" pitchFamily="34" charset="-122"/>
                <a:cs typeface="Arial" pitchFamily="34" charset="-120"/>
              </a:rPr>
              <a:t>96.4%</a:t>
            </a:r>
            <a:pPr indent="0" marL="0">
              <a:buNone/>
            </a:pPr>
            <a:r>
              <a:rPr lang="en-US" sz="1700" dirty="0">
                <a:solidFill>
                  <a:srgbClr val="E8EBF0"/>
                </a:solidFill>
                <a:latin typeface="Arial" pitchFamily="34" charset="0"/>
                <a:ea typeface="Arial" pitchFamily="34" charset="-122"/>
                <a:cs typeface="Arial" pitchFamily="34" charset="-120"/>
              </a:rPr>
              <a:t>  of electrical complaints closed</a:t>
            </a:r>
            <a:endParaRPr lang="en-US" sz="5200" dirty="0"/>
          </a:p>
        </p:txBody>
      </p:sp>
      <p:pic>
        <p:nvPicPr>
          <p:cNvPr id="5" name="Image 0" descr="assets/chart-closure.png">    </p:cNvPr>
          <p:cNvPicPr>
            <a:picLocks noChangeAspect="1"/>
          </p:cNvPicPr>
          <p:nvPr/>
        </p:nvPicPr>
        <p:blipFill>
          <a:blip r:embed="rId1"/>
          <a:stretch>
            <a:fillRect/>
          </a:stretch>
        </p:blipFill>
        <p:spPr>
          <a:xfrm>
            <a:off x="621792" y="2615184"/>
            <a:ext cx="5029200" cy="1975104"/>
          </a:xfrm>
          <a:prstGeom prst="rect">
            <a:avLst/>
          </a:prstGeom>
        </p:spPr>
      </p:pic>
      <p:sp>
        <p:nvSpPr>
          <p:cNvPr id="6" name="Text 2"/>
          <p:cNvSpPr/>
          <p:nvPr/>
        </p:nvSpPr>
        <p:spPr>
          <a:xfrm>
            <a:off x="640080" y="4828032"/>
            <a:ext cx="4937760" cy="1280160"/>
          </a:xfrm>
          <a:prstGeom prst="rect">
            <a:avLst/>
          </a:prstGeom>
          <a:noFill/>
          <a:ln/>
        </p:spPr>
        <p:txBody>
          <a:bodyPr wrap="square" lIns="0" tIns="0" rIns="0" bIns="0" rtlCol="0" anchor="t"/>
          <a:lstStyle/>
          <a:p>
            <a:pPr indent="0" marL="0">
              <a:lnSpc>
                <a:spcPts val="2200"/>
              </a:lnSpc>
              <a:buNone/>
            </a:pPr>
            <a:r>
              <a:rPr lang="en-US" sz="1550" dirty="0">
                <a:solidFill>
                  <a:srgbClr val="E8EBF0"/>
                </a:solidFill>
                <a:latin typeface="Arial" pitchFamily="34" charset="0"/>
                <a:ea typeface="Arial" pitchFamily="34" charset="-122"/>
                <a:cs typeface="Arial" pitchFamily="34" charset="-120"/>
              </a:rPr>
              <a:t>40,632 of 42,138. Road maintenance closes 58%. They are not slow and not under-resourced.
</a:t>
            </a:r>
            <a:pPr indent="0" marL="0">
              <a:lnSpc>
                <a:spcPts val="2200"/>
              </a:lnSpc>
              <a:buNone/>
            </a:pPr>
            <a:r>
              <a:rPr lang="en-US" sz="1550" b="1" dirty="0">
                <a:solidFill>
                  <a:srgbClr val="F2A93B"/>
                </a:solidFill>
                <a:latin typeface="Arial" pitchFamily="34" charset="0"/>
                <a:ea typeface="Arial" pitchFamily="34" charset="-122"/>
                <a:cs typeface="Arial" pitchFamily="34" charset="-120"/>
              </a:rPr>
              <a:t>The queue is sorted by who complained first.</a:t>
            </a:r>
            <a:endParaRPr lang="en-US" sz="1550" dirty="0"/>
          </a:p>
        </p:txBody>
      </p:sp>
      <p:sp>
        <p:nvSpPr>
          <p:cNvPr id="7" name="Shape 3"/>
          <p:cNvSpPr/>
          <p:nvPr/>
        </p:nvSpPr>
        <p:spPr>
          <a:xfrm>
            <a:off x="5943600" y="1627632"/>
            <a:ext cx="10973" cy="3968496"/>
          </a:xfrm>
          <a:prstGeom prst="rect">
            <a:avLst/>
          </a:prstGeom>
          <a:solidFill>
            <a:srgbClr val="252C3A"/>
          </a:solidFill>
          <a:ln w="12700">
            <a:solidFill>
              <a:srgbClr val="333333"/>
            </a:solidFill>
            <a:prstDash val="solid"/>
          </a:ln>
        </p:spPr>
      </p:sp>
      <p:sp>
        <p:nvSpPr>
          <p:cNvPr id="8" name="Text 4"/>
          <p:cNvSpPr/>
          <p:nvPr/>
        </p:nvSpPr>
        <p:spPr>
          <a:xfrm>
            <a:off x="6291072" y="1627632"/>
            <a:ext cx="5257800" cy="329184"/>
          </a:xfrm>
          <a:prstGeom prst="rect">
            <a:avLst/>
          </a:prstGeom>
          <a:noFill/>
          <a:ln/>
        </p:spPr>
        <p:txBody>
          <a:bodyPr wrap="square" lIns="0" tIns="0" rIns="0" bIns="0" rtlCol="0" anchor="ctr"/>
          <a:lstStyle/>
          <a:p>
            <a:pPr indent="0" marL="0">
              <a:buNone/>
            </a:pPr>
            <a:r>
              <a:rPr lang="en-US" sz="1600" b="1" dirty="0">
                <a:solidFill>
                  <a:srgbClr val="E8EBF0"/>
                </a:solidFill>
                <a:latin typeface="Arial" pitchFamily="34" charset="0"/>
                <a:ea typeface="Arial" pitchFamily="34" charset="-122"/>
                <a:cs typeface="Arial" pitchFamily="34" charset="-120"/>
              </a:rPr>
              <a:t>And complaining is not the same as being exposed</a:t>
            </a:r>
            <a:endParaRPr lang="en-US" sz="1600" dirty="0"/>
          </a:p>
        </p:txBody>
      </p:sp>
      <p:pic>
        <p:nvPicPr>
          <p:cNvPr id="9" name="Image 1" descr="assets/chart-wards.png">    </p:cNvPr>
          <p:cNvPicPr>
            <a:picLocks noChangeAspect="1"/>
          </p:cNvPicPr>
          <p:nvPr/>
        </p:nvPicPr>
        <p:blipFill>
          <a:blip r:embed="rId2"/>
          <a:stretch>
            <a:fillRect/>
          </a:stretch>
        </p:blipFill>
        <p:spPr>
          <a:xfrm>
            <a:off x="6254496" y="2377440"/>
            <a:ext cx="5029200" cy="2743200"/>
          </a:xfrm>
          <a:prstGeom prst="rect">
            <a:avLst/>
          </a:prstGeom>
        </p:spPr>
      </p:pic>
      <p:sp>
        <p:nvSpPr>
          <p:cNvPr id="10" name="Text 5"/>
          <p:cNvSpPr/>
          <p:nvPr/>
        </p:nvSpPr>
        <p:spPr>
          <a:xfrm>
            <a:off x="6291072" y="5138928"/>
            <a:ext cx="5257800" cy="822960"/>
          </a:xfrm>
          <a:prstGeom prst="rect">
            <a:avLst/>
          </a:prstGeom>
          <a:noFill/>
          <a:ln/>
        </p:spPr>
        <p:txBody>
          <a:bodyPr wrap="square" lIns="0" tIns="0" rIns="0" bIns="0" rtlCol="0" anchor="ctr"/>
          <a:lstStyle/>
          <a:p>
            <a:pPr indent="0" marL="0">
              <a:lnSpc>
                <a:spcPts val="2000"/>
              </a:lnSpc>
              <a:buNone/>
            </a:pPr>
            <a:r>
              <a:rPr lang="en-US" sz="1400" dirty="0">
                <a:solidFill>
                  <a:srgbClr val="8A94A6"/>
                </a:solidFill>
                <a:latin typeface="Arial" pitchFamily="34" charset="0"/>
                <a:ea typeface="Arial" pitchFamily="34" charset="-122"/>
                <a:cs typeface="Arial" pitchFamily="34" charset="-120"/>
              </a:rPr>
              <a:t>Newer, peripheral, more car-owning wards file most. Older, denser, more-walked wards file fewer — not because their lights work.</a:t>
            </a:r>
            <a:endParaRPr lang="en-US" sz="1400" dirty="0"/>
          </a:p>
        </p:txBody>
      </p:sp>
      <p:sp>
        <p:nvSpPr>
          <p:cNvPr id="11" name="Text 6"/>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Same register. Left: Grievance Status field. Right: Sub Category = “Street Light Not Working”, grouped by Ward Name, 198 wards.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3100" b="1" dirty="0">
                <a:solidFill>
                  <a:srgbClr val="E8EBF0"/>
                </a:solidFill>
                <a:latin typeface="Arial" pitchFamily="34" charset="0"/>
                <a:ea typeface="Arial" pitchFamily="34" charset="-122"/>
                <a:cs typeface="Arial" pitchFamily="34" charset="-120"/>
              </a:rPr>
              <a:t>Three surfaces, one atom</a:t>
            </a:r>
            <a:endParaRPr lang="en-US" sz="3100" dirty="0"/>
          </a:p>
        </p:txBody>
      </p:sp>
      <p:sp>
        <p:nvSpPr>
          <p:cNvPr id="4" name="Shape 1"/>
          <p:cNvSpPr/>
          <p:nvPr/>
        </p:nvSpPr>
        <p:spPr>
          <a:xfrm>
            <a:off x="640080" y="1627632"/>
            <a:ext cx="3447288" cy="10973"/>
          </a:xfrm>
          <a:prstGeom prst="rect">
            <a:avLst/>
          </a:prstGeom>
          <a:solidFill>
            <a:srgbClr val="252C3A"/>
          </a:solidFill>
          <a:ln w="12700">
            <a:solidFill>
              <a:srgbClr val="333333"/>
            </a:solidFill>
            <a:prstDash val="solid"/>
          </a:ln>
        </p:spPr>
      </p:sp>
      <p:sp>
        <p:nvSpPr>
          <p:cNvPr id="5" name="Text 2"/>
          <p:cNvSpPr/>
          <p:nvPr/>
        </p:nvSpPr>
        <p:spPr>
          <a:xfrm>
            <a:off x="640080" y="1810512"/>
            <a:ext cx="3447288" cy="384048"/>
          </a:xfrm>
          <a:prstGeom prst="rect">
            <a:avLst/>
          </a:prstGeom>
          <a:noFill/>
          <a:ln/>
        </p:spPr>
        <p:txBody>
          <a:bodyPr wrap="square" lIns="0" tIns="0" rIns="0" bIns="0" rtlCol="0" anchor="b"/>
          <a:lstStyle/>
          <a:p>
            <a:pPr indent="0" marL="0">
              <a:buNone/>
            </a:pPr>
            <a:r>
              <a:rPr lang="en-US" sz="2200" b="1" dirty="0">
                <a:solidFill>
                  <a:srgbClr val="F2A93B"/>
                </a:solidFill>
                <a:latin typeface="Arial" pitchFamily="34" charset="0"/>
                <a:ea typeface="Arial" pitchFamily="34" charset="-122"/>
                <a:cs typeface="Arial" pitchFamily="34" charset="-120"/>
              </a:rPr>
              <a:t>Queue</a:t>
            </a:r>
            <a:pPr indent="0" marL="0">
              <a:buNone/>
            </a:pPr>
            <a:r>
              <a:rPr lang="en-US" sz="1300" dirty="0">
                <a:solidFill>
                  <a:srgbClr val="8A94A6"/>
                </a:solidFill>
                <a:latin typeface="Arial" pitchFamily="34" charset="0"/>
                <a:ea typeface="Arial" pitchFamily="34" charset="-122"/>
                <a:cs typeface="Arial" pitchFamily="34" charset="-120"/>
              </a:rPr>
              <a:t>   municipal</a:t>
            </a:r>
            <a:pPr indent="0" marL="0">
              <a:buNone/>
            </a:pPr>
            <a:r>
              <a:rPr lang="en-US" sz="1100" b="1" spc="160" kern="0" dirty="0">
                <a:solidFill>
                  <a:srgbClr val="F2A93B"/>
                </a:solidFill>
                <a:latin typeface="Arial" pitchFamily="34" charset="0"/>
                <a:ea typeface="Arial" pitchFamily="34" charset="-122"/>
                <a:cs typeface="Arial" pitchFamily="34" charset="-120"/>
              </a:rPr>
              <a:t>   THE HERO</a:t>
            </a:r>
            <a:endParaRPr lang="en-US" sz="2200" dirty="0"/>
          </a:p>
        </p:txBody>
      </p:sp>
      <p:sp>
        <p:nvSpPr>
          <p:cNvPr id="6" name="Text 3"/>
          <p:cNvSpPr/>
          <p:nvPr/>
        </p:nvSpPr>
        <p:spPr>
          <a:xfrm>
            <a:off x="640080" y="2304288"/>
            <a:ext cx="3401568" cy="1005840"/>
          </a:xfrm>
          <a:prstGeom prst="rect">
            <a:avLst/>
          </a:prstGeom>
          <a:noFill/>
          <a:ln/>
        </p:spPr>
        <p:txBody>
          <a:bodyPr wrap="square" lIns="0" tIns="0" rIns="0" bIns="0" rtlCol="0" anchor="t"/>
          <a:lstStyle/>
          <a:p>
            <a:pPr indent="0" marL="0">
              <a:lnSpc>
                <a:spcPts val="2100"/>
              </a:lnSpc>
              <a:buNone/>
            </a:pPr>
            <a:r>
              <a:rPr lang="en-US" sz="1500" dirty="0">
                <a:solidFill>
                  <a:srgbClr val="E8EBF0"/>
                </a:solidFill>
                <a:latin typeface="Arial" pitchFamily="34" charset="0"/>
                <a:ea typeface="Arial" pitchFamily="34" charset="-122"/>
                <a:cs typeface="Arial" pitchFamily="34" charset="-120"/>
              </a:rPr>
              <a:t>A ranked worklist under a repair budget.</a:t>
            </a:r>
            <a:endParaRPr lang="en-US" sz="1500" dirty="0"/>
          </a:p>
        </p:txBody>
      </p:sp>
      <p:sp>
        <p:nvSpPr>
          <p:cNvPr id="7" name="Shape 4"/>
          <p:cNvSpPr/>
          <p:nvPr/>
        </p:nvSpPr>
        <p:spPr>
          <a:xfrm>
            <a:off x="4370832" y="1627632"/>
            <a:ext cx="3447288" cy="10973"/>
          </a:xfrm>
          <a:prstGeom prst="rect">
            <a:avLst/>
          </a:prstGeom>
          <a:solidFill>
            <a:srgbClr val="252C3A"/>
          </a:solidFill>
          <a:ln w="12700">
            <a:solidFill>
              <a:srgbClr val="333333"/>
            </a:solidFill>
            <a:prstDash val="solid"/>
          </a:ln>
        </p:spPr>
      </p:sp>
      <p:sp>
        <p:nvSpPr>
          <p:cNvPr id="8" name="Text 5"/>
          <p:cNvSpPr/>
          <p:nvPr/>
        </p:nvSpPr>
        <p:spPr>
          <a:xfrm>
            <a:off x="4370832" y="1810512"/>
            <a:ext cx="3447288" cy="384048"/>
          </a:xfrm>
          <a:prstGeom prst="rect">
            <a:avLst/>
          </a:prstGeom>
          <a:noFill/>
          <a:ln/>
        </p:spPr>
        <p:txBody>
          <a:bodyPr wrap="square" lIns="0" tIns="0" rIns="0" bIns="0" rtlCol="0" anchor="b"/>
          <a:lstStyle/>
          <a:p>
            <a:pPr indent="0" marL="0">
              <a:buNone/>
            </a:pPr>
            <a:r>
              <a:rPr lang="en-US" sz="2200" b="1" dirty="0">
                <a:solidFill>
                  <a:srgbClr val="E8EBF0"/>
                </a:solidFill>
                <a:latin typeface="Arial" pitchFamily="34" charset="0"/>
                <a:ea typeface="Arial" pitchFamily="34" charset="-122"/>
                <a:cs typeface="Arial" pitchFamily="34" charset="-120"/>
              </a:rPr>
              <a:t>Route</a:t>
            </a:r>
            <a:pPr indent="0" marL="0">
              <a:buNone/>
            </a:pPr>
            <a:r>
              <a:rPr lang="en-US" sz="1300" dirty="0">
                <a:solidFill>
                  <a:srgbClr val="8A94A6"/>
                </a:solidFill>
                <a:latin typeface="Arial" pitchFamily="34" charset="0"/>
                <a:ea typeface="Arial" pitchFamily="34" charset="-122"/>
                <a:cs typeface="Arial" pitchFamily="34" charset="-120"/>
              </a:rPr>
              <a:t>   citizen</a:t>
            </a:r>
            <a:pPr indent="0" marL="0">
              <a:buNone/>
            </a:pPr>
            <a:endParaRPr lang="en-US" sz="2200" dirty="0"/>
          </a:p>
        </p:txBody>
      </p:sp>
      <p:sp>
        <p:nvSpPr>
          <p:cNvPr id="9" name="Text 6"/>
          <p:cNvSpPr/>
          <p:nvPr/>
        </p:nvSpPr>
        <p:spPr>
          <a:xfrm>
            <a:off x="4370832" y="2304288"/>
            <a:ext cx="3401568" cy="1005840"/>
          </a:xfrm>
          <a:prstGeom prst="rect">
            <a:avLst/>
          </a:prstGeom>
          <a:noFill/>
          <a:ln/>
        </p:spPr>
        <p:txBody>
          <a:bodyPr wrap="square" lIns="0" tIns="0" rIns="0" bIns="0" rtlCol="0" anchor="t"/>
          <a:lstStyle/>
          <a:p>
            <a:pPr indent="0" marL="0">
              <a:lnSpc>
                <a:spcPts val="2100"/>
              </a:lnSpc>
              <a:buNone/>
            </a:pPr>
            <a:r>
              <a:rPr lang="en-US" sz="1500" dirty="0">
                <a:solidFill>
                  <a:srgbClr val="E8EBF0"/>
                </a:solidFill>
                <a:latin typeface="Arial" pitchFamily="34" charset="0"/>
                <a:ea typeface="Arial" pitchFamily="34" charset="-122"/>
                <a:cs typeface="Arial" pitchFamily="34" charset="-120"/>
              </a:rPr>
              <a:t>Safer and shortest walking route, side by side, always both.</a:t>
            </a:r>
            <a:endParaRPr lang="en-US" sz="1500" dirty="0"/>
          </a:p>
        </p:txBody>
      </p:sp>
      <p:sp>
        <p:nvSpPr>
          <p:cNvPr id="10" name="Shape 7"/>
          <p:cNvSpPr/>
          <p:nvPr/>
        </p:nvSpPr>
        <p:spPr>
          <a:xfrm>
            <a:off x="8101584" y="1627632"/>
            <a:ext cx="3447288" cy="10973"/>
          </a:xfrm>
          <a:prstGeom prst="rect">
            <a:avLst/>
          </a:prstGeom>
          <a:solidFill>
            <a:srgbClr val="252C3A"/>
          </a:solidFill>
          <a:ln w="12700">
            <a:solidFill>
              <a:srgbClr val="333333"/>
            </a:solidFill>
            <a:prstDash val="solid"/>
          </a:ln>
        </p:spPr>
      </p:sp>
      <p:sp>
        <p:nvSpPr>
          <p:cNvPr id="11" name="Text 8"/>
          <p:cNvSpPr/>
          <p:nvPr/>
        </p:nvSpPr>
        <p:spPr>
          <a:xfrm>
            <a:off x="8101584" y="1810512"/>
            <a:ext cx="3447288" cy="384048"/>
          </a:xfrm>
          <a:prstGeom prst="rect">
            <a:avLst/>
          </a:prstGeom>
          <a:noFill/>
          <a:ln/>
        </p:spPr>
        <p:txBody>
          <a:bodyPr wrap="square" lIns="0" tIns="0" rIns="0" bIns="0" rtlCol="0" anchor="b"/>
          <a:lstStyle/>
          <a:p>
            <a:pPr indent="0" marL="0">
              <a:buNone/>
            </a:pPr>
            <a:r>
              <a:rPr lang="en-US" sz="2200" b="1" dirty="0">
                <a:solidFill>
                  <a:srgbClr val="E8EBF0"/>
                </a:solidFill>
                <a:latin typeface="Arial" pitchFamily="34" charset="0"/>
                <a:ea typeface="Arial" pitchFamily="34" charset="-122"/>
                <a:cs typeface="Arial" pitchFamily="34" charset="-120"/>
              </a:rPr>
              <a:t>Report</a:t>
            </a:r>
            <a:pPr indent="0" marL="0">
              <a:buNone/>
            </a:pPr>
            <a:r>
              <a:rPr lang="en-US" sz="1300" dirty="0">
                <a:solidFill>
                  <a:srgbClr val="8A94A6"/>
                </a:solidFill>
                <a:latin typeface="Arial" pitchFamily="34" charset="0"/>
                <a:ea typeface="Arial" pitchFamily="34" charset="-122"/>
                <a:cs typeface="Arial" pitchFamily="34" charset="-120"/>
              </a:rPr>
              <a:t>   citizen</a:t>
            </a:r>
            <a:pPr indent="0" marL="0">
              <a:buNone/>
            </a:pPr>
            <a:endParaRPr lang="en-US" sz="2200" dirty="0"/>
          </a:p>
        </p:txBody>
      </p:sp>
      <p:sp>
        <p:nvSpPr>
          <p:cNvPr id="12" name="Text 9"/>
          <p:cNvSpPr/>
          <p:nvPr/>
        </p:nvSpPr>
        <p:spPr>
          <a:xfrm>
            <a:off x="8101584" y="2304288"/>
            <a:ext cx="3401568" cy="1005840"/>
          </a:xfrm>
          <a:prstGeom prst="rect">
            <a:avLst/>
          </a:prstGeom>
          <a:noFill/>
          <a:ln/>
        </p:spPr>
        <p:txBody>
          <a:bodyPr wrap="square" lIns="0" tIns="0" rIns="0" bIns="0" rtlCol="0" anchor="t"/>
          <a:lstStyle/>
          <a:p>
            <a:pPr indent="0" marL="0">
              <a:lnSpc>
                <a:spcPts val="2100"/>
              </a:lnSpc>
              <a:buNone/>
            </a:pPr>
            <a:r>
              <a:rPr lang="en-US" sz="1500" dirty="0">
                <a:solidFill>
                  <a:srgbClr val="E8EBF0"/>
                </a:solidFill>
                <a:latin typeface="Arial" pitchFamily="34" charset="0"/>
                <a:ea typeface="Arial" pitchFamily="34" charset="-122"/>
                <a:cs typeface="Arial" pitchFamily="34" charset="-120"/>
              </a:rPr>
              <a:t>One tap: “this stretch is dark.”</a:t>
            </a:r>
            <a:endParaRPr lang="en-US" sz="1500" dirty="0"/>
          </a:p>
        </p:txBody>
      </p:sp>
      <p:sp>
        <p:nvSpPr>
          <p:cNvPr id="13" name="Shape 10"/>
          <p:cNvSpPr/>
          <p:nvPr/>
        </p:nvSpPr>
        <p:spPr>
          <a:xfrm>
            <a:off x="640080" y="3675888"/>
            <a:ext cx="10908792" cy="10973"/>
          </a:xfrm>
          <a:prstGeom prst="rect">
            <a:avLst/>
          </a:prstGeom>
          <a:solidFill>
            <a:srgbClr val="252C3A"/>
          </a:solidFill>
          <a:ln w="12700">
            <a:solidFill>
              <a:srgbClr val="333333"/>
            </a:solidFill>
            <a:prstDash val="solid"/>
          </a:ln>
        </p:spPr>
      </p:sp>
      <p:sp>
        <p:nvSpPr>
          <p:cNvPr id="14" name="Text 11"/>
          <p:cNvSpPr/>
          <p:nvPr/>
        </p:nvSpPr>
        <p:spPr>
          <a:xfrm>
            <a:off x="640080" y="3913632"/>
            <a:ext cx="10908792" cy="2011680"/>
          </a:xfrm>
          <a:prstGeom prst="rect">
            <a:avLst/>
          </a:prstGeom>
          <a:noFill/>
          <a:ln/>
        </p:spPr>
        <p:txBody>
          <a:bodyPr wrap="square" lIns="0" tIns="0" rIns="0" bIns="0" rtlCol="0" anchor="t"/>
          <a:lstStyle/>
          <a:p>
            <a:pPr indent="0" marL="0">
              <a:lnSpc>
                <a:spcPts val="2400"/>
              </a:lnSpc>
              <a:buNone/>
            </a:pPr>
            <a:r>
              <a:rPr lang="en-US" sz="1650" b="1" dirty="0">
                <a:solidFill>
                  <a:srgbClr val="E8EBF0"/>
                </a:solidFill>
                <a:latin typeface="Arial" pitchFamily="34" charset="0"/>
                <a:ea typeface="Arial" pitchFamily="34" charset="-122"/>
                <a:cs typeface="Arial" pitchFamily="34" charset="-120"/>
              </a:rPr>
              <a:t>The atom is the road segment, not the lamp. </a:t>
            </a:r>
            <a:pPr indent="0" marL="0">
              <a:lnSpc>
                <a:spcPts val="2400"/>
              </a:lnSpc>
              <a:buNone/>
            </a:pPr>
            <a:r>
              <a:rPr lang="en-US" sz="1650" dirty="0">
                <a:solidFill>
                  <a:srgbClr val="E8EBF0"/>
                </a:solidFill>
                <a:latin typeface="Arial" pitchFamily="34" charset="0"/>
                <a:ea typeface="Arial" pitchFamily="34" charset="-122"/>
                <a:cs typeface="Arial" pitchFamily="34" charset="-120"/>
              </a:rPr>
              <a:t>A pedestrian at 23:00 does not care whether a street has eleven lamps or fourteen — they care whether the next 200 metres is lit.
</a:t>
            </a:r>
            <a:pPr indent="0" marL="0">
              <a:lnSpc>
                <a:spcPts val="2400"/>
              </a:lnSpc>
              <a:buNone/>
            </a:pPr>
            <a:r>
              <a:rPr lang="en-US" sz="1650" dirty="0">
                <a:solidFill>
                  <a:srgbClr val="E8EBF0"/>
                </a:solidFill>
                <a:latin typeface="Arial" pitchFamily="34" charset="0"/>
                <a:ea typeface="Arial" pitchFamily="34" charset="-122"/>
                <a:cs typeface="Arial" pitchFamily="34" charset="-120"/>
              </a:rPr>
              <a:t>Darkness per segment is a quantity you can estimate. Lamp inventory is an enumeration you cannot obtain. BBMP does not have one either — their complaint records carry no coordinates and no pole IDs.</a:t>
            </a:r>
            <a:endParaRPr lang="en-US" sz="1650" dirty="0"/>
          </a:p>
        </p:txBody>
      </p:sp>
      <p:sp>
        <p:nvSpPr>
          <p:cNvPr id="15" name="Text 12"/>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The atom choice is why the missing inventory stops being fatal — see slide 11.</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3100" b="1" dirty="0">
                <a:solidFill>
                  <a:srgbClr val="E8EBF0"/>
                </a:solidFill>
                <a:latin typeface="Arial" pitchFamily="34" charset="0"/>
                <a:ea typeface="Arial" pitchFamily="34" charset="-122"/>
                <a:cs typeface="Arial" pitchFamily="34" charset="-120"/>
              </a:rPr>
              <a:t>How it works</a:t>
            </a:r>
            <a:endParaRPr lang="en-US" sz="3100" dirty="0"/>
          </a:p>
        </p:txBody>
      </p:sp>
      <p:sp>
        <p:nvSpPr>
          <p:cNvPr id="4" name="Text 1"/>
          <p:cNvSpPr/>
          <p:nvPr/>
        </p:nvSpPr>
        <p:spPr>
          <a:xfrm>
            <a:off x="640080" y="1627632"/>
            <a:ext cx="3200400" cy="274320"/>
          </a:xfrm>
          <a:prstGeom prst="rect">
            <a:avLst/>
          </a:prstGeom>
          <a:noFill/>
          <a:ln/>
        </p:spPr>
        <p:txBody>
          <a:bodyPr wrap="square" lIns="0" tIns="0" rIns="0" bIns="0" rtlCol="0" anchor="ctr"/>
          <a:lstStyle/>
          <a:p>
            <a:pPr indent="0" marL="0">
              <a:buNone/>
            </a:pPr>
            <a:r>
              <a:rPr lang="en-US" sz="1100" b="1" spc="220" kern="0" dirty="0">
                <a:solidFill>
                  <a:srgbClr val="8A94A6"/>
                </a:solidFill>
                <a:latin typeface="Arial" pitchFamily="34" charset="0"/>
                <a:ea typeface="Arial" pitchFamily="34" charset="-122"/>
                <a:cs typeface="Arial" pitchFamily="34" charset="-120"/>
              </a:rPr>
              <a:t>INPUTS</a:t>
            </a:r>
            <a:endParaRPr lang="en-US" sz="1100" dirty="0"/>
          </a:p>
        </p:txBody>
      </p:sp>
      <p:sp>
        <p:nvSpPr>
          <p:cNvPr id="5" name="Shape 2"/>
          <p:cNvSpPr/>
          <p:nvPr/>
        </p:nvSpPr>
        <p:spPr>
          <a:xfrm>
            <a:off x="640080" y="1938528"/>
            <a:ext cx="3200400" cy="10973"/>
          </a:xfrm>
          <a:prstGeom prst="rect">
            <a:avLst/>
          </a:prstGeom>
          <a:solidFill>
            <a:srgbClr val="252C3A"/>
          </a:solidFill>
          <a:ln w="12700">
            <a:solidFill>
              <a:srgbClr val="333333"/>
            </a:solidFill>
            <a:prstDash val="solid"/>
          </a:ln>
        </p:spPr>
      </p:sp>
      <p:sp>
        <p:nvSpPr>
          <p:cNvPr id="6" name="Text 3"/>
          <p:cNvSpPr/>
          <p:nvPr/>
        </p:nvSpPr>
        <p:spPr>
          <a:xfrm>
            <a:off x="4709160" y="1627632"/>
            <a:ext cx="3200400" cy="274320"/>
          </a:xfrm>
          <a:prstGeom prst="rect">
            <a:avLst/>
          </a:prstGeom>
          <a:noFill/>
          <a:ln/>
        </p:spPr>
        <p:txBody>
          <a:bodyPr wrap="square" lIns="0" tIns="0" rIns="0" bIns="0" rtlCol="0" anchor="ctr"/>
          <a:lstStyle/>
          <a:p>
            <a:pPr indent="0" marL="0">
              <a:buNone/>
            </a:pPr>
            <a:r>
              <a:rPr lang="en-US" sz="1100" b="1" spc="220" kern="0" dirty="0">
                <a:solidFill>
                  <a:srgbClr val="8A94A6"/>
                </a:solidFill>
                <a:latin typeface="Arial" pitchFamily="34" charset="0"/>
                <a:ea typeface="Arial" pitchFamily="34" charset="-122"/>
                <a:cs typeface="Arial" pitchFamily="34" charset="-120"/>
              </a:rPr>
              <a:t>TWO MODELS</a:t>
            </a:r>
            <a:endParaRPr lang="en-US" sz="1100" dirty="0"/>
          </a:p>
        </p:txBody>
      </p:sp>
      <p:sp>
        <p:nvSpPr>
          <p:cNvPr id="7" name="Shape 4"/>
          <p:cNvSpPr/>
          <p:nvPr/>
        </p:nvSpPr>
        <p:spPr>
          <a:xfrm>
            <a:off x="4709160" y="1938528"/>
            <a:ext cx="3200400" cy="10973"/>
          </a:xfrm>
          <a:prstGeom prst="rect">
            <a:avLst/>
          </a:prstGeom>
          <a:solidFill>
            <a:srgbClr val="252C3A"/>
          </a:solidFill>
          <a:ln w="12700">
            <a:solidFill>
              <a:srgbClr val="333333"/>
            </a:solidFill>
            <a:prstDash val="solid"/>
          </a:ln>
        </p:spPr>
      </p:sp>
      <p:sp>
        <p:nvSpPr>
          <p:cNvPr id="8" name="Text 5"/>
          <p:cNvSpPr/>
          <p:nvPr/>
        </p:nvSpPr>
        <p:spPr>
          <a:xfrm>
            <a:off x="8641080" y="1627632"/>
            <a:ext cx="3200400" cy="274320"/>
          </a:xfrm>
          <a:prstGeom prst="rect">
            <a:avLst/>
          </a:prstGeom>
          <a:noFill/>
          <a:ln/>
        </p:spPr>
        <p:txBody>
          <a:bodyPr wrap="square" lIns="0" tIns="0" rIns="0" bIns="0" rtlCol="0" anchor="ctr"/>
          <a:lstStyle/>
          <a:p>
            <a:pPr indent="0" marL="0">
              <a:buNone/>
            </a:pPr>
            <a:r>
              <a:rPr lang="en-US" sz="1100" b="1" spc="220" kern="0" dirty="0">
                <a:solidFill>
                  <a:srgbClr val="8A94A6"/>
                </a:solidFill>
                <a:latin typeface="Arial" pitchFamily="34" charset="0"/>
                <a:ea typeface="Arial" pitchFamily="34" charset="-122"/>
                <a:cs typeface="Arial" pitchFamily="34" charset="-120"/>
              </a:rPr>
              <a:t>FOUR OUTPUTS</a:t>
            </a:r>
            <a:endParaRPr lang="en-US" sz="1100" dirty="0"/>
          </a:p>
        </p:txBody>
      </p:sp>
      <p:sp>
        <p:nvSpPr>
          <p:cNvPr id="9" name="Shape 6"/>
          <p:cNvSpPr/>
          <p:nvPr/>
        </p:nvSpPr>
        <p:spPr>
          <a:xfrm>
            <a:off x="8641080" y="1938528"/>
            <a:ext cx="3200400" cy="10973"/>
          </a:xfrm>
          <a:prstGeom prst="rect">
            <a:avLst/>
          </a:prstGeom>
          <a:solidFill>
            <a:srgbClr val="252C3A"/>
          </a:solidFill>
          <a:ln w="12700">
            <a:solidFill>
              <a:srgbClr val="333333"/>
            </a:solidFill>
            <a:prstDash val="solid"/>
          </a:ln>
        </p:spPr>
      </p:sp>
      <p:sp>
        <p:nvSpPr>
          <p:cNvPr id="10" name="Shape 7"/>
          <p:cNvSpPr/>
          <p:nvPr/>
        </p:nvSpPr>
        <p:spPr>
          <a:xfrm>
            <a:off x="4315968" y="1627632"/>
            <a:ext cx="10973" cy="3749040"/>
          </a:xfrm>
          <a:prstGeom prst="rect">
            <a:avLst/>
          </a:prstGeom>
          <a:solidFill>
            <a:srgbClr val="252C3A"/>
          </a:solidFill>
          <a:ln w="12700">
            <a:solidFill>
              <a:srgbClr val="333333"/>
            </a:solidFill>
            <a:prstDash val="solid"/>
          </a:ln>
        </p:spPr>
      </p:sp>
      <p:sp>
        <p:nvSpPr>
          <p:cNvPr id="11" name="Shape 8"/>
          <p:cNvSpPr/>
          <p:nvPr/>
        </p:nvSpPr>
        <p:spPr>
          <a:xfrm>
            <a:off x="8247888" y="1627632"/>
            <a:ext cx="10973" cy="3749040"/>
          </a:xfrm>
          <a:prstGeom prst="rect">
            <a:avLst/>
          </a:prstGeom>
          <a:solidFill>
            <a:srgbClr val="252C3A"/>
          </a:solidFill>
          <a:ln w="12700">
            <a:solidFill>
              <a:srgbClr val="333333"/>
            </a:solidFill>
            <a:prstDash val="solid"/>
          </a:ln>
        </p:spPr>
      </p:sp>
      <p:sp>
        <p:nvSpPr>
          <p:cNvPr id="12" name="Text 9"/>
          <p:cNvSpPr/>
          <p:nvPr/>
        </p:nvSpPr>
        <p:spPr>
          <a:xfrm>
            <a:off x="640080" y="2194560"/>
            <a:ext cx="3383280" cy="237744"/>
          </a:xfrm>
          <a:prstGeom prst="rect">
            <a:avLst/>
          </a:prstGeom>
          <a:noFill/>
          <a:ln/>
        </p:spPr>
        <p:txBody>
          <a:bodyPr wrap="square" lIns="0" tIns="0" rIns="0" bIns="0" rtlCol="0" anchor="ctr"/>
          <a:lstStyle/>
          <a:p>
            <a:pPr indent="0" marL="0">
              <a:buNone/>
            </a:pPr>
            <a:r>
              <a:rPr lang="en-US" sz="1450" b="1" dirty="0">
                <a:solidFill>
                  <a:srgbClr val="E8EBF0"/>
                </a:solidFill>
                <a:latin typeface="Arial" pitchFamily="34" charset="0"/>
                <a:ea typeface="Arial" pitchFamily="34" charset="-122"/>
                <a:cs typeface="Arial" pitchFamily="34" charset="-120"/>
              </a:rPr>
              <a:t>OSM walk graph</a:t>
            </a:r>
            <a:endParaRPr lang="en-US" sz="1450" dirty="0"/>
          </a:p>
        </p:txBody>
      </p:sp>
      <p:sp>
        <p:nvSpPr>
          <p:cNvPr id="13" name="Text 10"/>
          <p:cNvSpPr/>
          <p:nvPr/>
        </p:nvSpPr>
        <p:spPr>
          <a:xfrm>
            <a:off x="640080" y="2418588"/>
            <a:ext cx="3383280" cy="219456"/>
          </a:xfrm>
          <a:prstGeom prst="rect">
            <a:avLst/>
          </a:prstGeom>
          <a:noFill/>
          <a:ln/>
        </p:spPr>
        <p:txBody>
          <a:bodyPr wrap="square" lIns="0" tIns="0" rIns="0" bIns="0" rtlCol="0" anchor="ctr"/>
          <a:lstStyle/>
          <a:p>
            <a:pPr indent="0" marL="0">
              <a:buNone/>
            </a:pPr>
            <a:r>
              <a:rPr lang="en-US" sz="1150" dirty="0">
                <a:solidFill>
                  <a:srgbClr val="8A94A6"/>
                </a:solidFill>
                <a:latin typeface="Arial" pitchFamily="34" charset="0"/>
                <a:ea typeface="Arial" pitchFamily="34" charset="-122"/>
                <a:cs typeface="Arial" pitchFamily="34" charset="-120"/>
              </a:rPr>
              <a:t>95,557 nodes · 98.4% connected</a:t>
            </a:r>
            <a:endParaRPr lang="en-US" sz="1150" dirty="0"/>
          </a:p>
        </p:txBody>
      </p:sp>
      <p:sp>
        <p:nvSpPr>
          <p:cNvPr id="14" name="Text 11"/>
          <p:cNvSpPr/>
          <p:nvPr/>
        </p:nvSpPr>
        <p:spPr>
          <a:xfrm>
            <a:off x="640080" y="2692908"/>
            <a:ext cx="3383280" cy="237744"/>
          </a:xfrm>
          <a:prstGeom prst="rect">
            <a:avLst/>
          </a:prstGeom>
          <a:noFill/>
          <a:ln/>
        </p:spPr>
        <p:txBody>
          <a:bodyPr wrap="square" lIns="0" tIns="0" rIns="0" bIns="0" rtlCol="0" anchor="ctr"/>
          <a:lstStyle/>
          <a:p>
            <a:pPr indent="0" marL="0">
              <a:buNone/>
            </a:pPr>
            <a:r>
              <a:rPr lang="en-US" sz="1450" b="1" dirty="0">
                <a:solidFill>
                  <a:srgbClr val="E8EBF0"/>
                </a:solidFill>
                <a:latin typeface="Arial" pitchFamily="34" charset="0"/>
                <a:ea typeface="Arial" pitchFamily="34" charset="-122"/>
                <a:cs typeface="Arial" pitchFamily="34" charset="-120"/>
              </a:rPr>
              <a:t>BMTC GTFS</a:t>
            </a:r>
            <a:endParaRPr lang="en-US" sz="1450" dirty="0"/>
          </a:p>
        </p:txBody>
      </p:sp>
      <p:sp>
        <p:nvSpPr>
          <p:cNvPr id="15" name="Text 12"/>
          <p:cNvSpPr/>
          <p:nvPr/>
        </p:nvSpPr>
        <p:spPr>
          <a:xfrm>
            <a:off x="640080" y="2916936"/>
            <a:ext cx="3383280" cy="219456"/>
          </a:xfrm>
          <a:prstGeom prst="rect">
            <a:avLst/>
          </a:prstGeom>
          <a:noFill/>
          <a:ln/>
        </p:spPr>
        <p:txBody>
          <a:bodyPr wrap="square" lIns="0" tIns="0" rIns="0" bIns="0" rtlCol="0" anchor="ctr"/>
          <a:lstStyle/>
          <a:p>
            <a:pPr indent="0" marL="0">
              <a:buNone/>
            </a:pPr>
            <a:r>
              <a:rPr lang="en-US" sz="1150" dirty="0">
                <a:solidFill>
                  <a:srgbClr val="8A94A6"/>
                </a:solidFill>
                <a:latin typeface="Arial" pitchFamily="34" charset="0"/>
                <a:ea typeface="Arial" pitchFamily="34" charset="-122"/>
                <a:cs typeface="Arial" pitchFamily="34" charset="-120"/>
              </a:rPr>
              <a:t>6,187 night departures</a:t>
            </a:r>
            <a:endParaRPr lang="en-US" sz="1150" dirty="0"/>
          </a:p>
        </p:txBody>
      </p:sp>
      <p:sp>
        <p:nvSpPr>
          <p:cNvPr id="16" name="Text 13"/>
          <p:cNvSpPr/>
          <p:nvPr/>
        </p:nvSpPr>
        <p:spPr>
          <a:xfrm>
            <a:off x="640080" y="3191256"/>
            <a:ext cx="3383280" cy="237744"/>
          </a:xfrm>
          <a:prstGeom prst="rect">
            <a:avLst/>
          </a:prstGeom>
          <a:noFill/>
          <a:ln/>
        </p:spPr>
        <p:txBody>
          <a:bodyPr wrap="square" lIns="0" tIns="0" rIns="0" bIns="0" rtlCol="0" anchor="ctr"/>
          <a:lstStyle/>
          <a:p>
            <a:pPr indent="0" marL="0">
              <a:buNone/>
            </a:pPr>
            <a:r>
              <a:rPr lang="en-US" sz="1450" b="1" dirty="0">
                <a:solidFill>
                  <a:srgbClr val="E8EBF0"/>
                </a:solidFill>
                <a:latin typeface="Arial" pitchFamily="34" charset="0"/>
                <a:ea typeface="Arial" pitchFamily="34" charset="-122"/>
                <a:cs typeface="Arial" pitchFamily="34" charset="-120"/>
              </a:rPr>
              <a:t>Night-active POIs</a:t>
            </a:r>
            <a:endParaRPr lang="en-US" sz="1450" dirty="0"/>
          </a:p>
        </p:txBody>
      </p:sp>
      <p:sp>
        <p:nvSpPr>
          <p:cNvPr id="17" name="Text 14"/>
          <p:cNvSpPr/>
          <p:nvPr/>
        </p:nvSpPr>
        <p:spPr>
          <a:xfrm>
            <a:off x="640080" y="3415284"/>
            <a:ext cx="3383280" cy="219456"/>
          </a:xfrm>
          <a:prstGeom prst="rect">
            <a:avLst/>
          </a:prstGeom>
          <a:noFill/>
          <a:ln/>
        </p:spPr>
        <p:txBody>
          <a:bodyPr wrap="square" lIns="0" tIns="0" rIns="0" bIns="0" rtlCol="0" anchor="ctr"/>
          <a:lstStyle/>
          <a:p>
            <a:pPr indent="0" marL="0">
              <a:buNone/>
            </a:pPr>
            <a:r>
              <a:rPr lang="en-US" sz="1150" dirty="0">
                <a:solidFill>
                  <a:srgbClr val="8A94A6"/>
                </a:solidFill>
                <a:latin typeface="Arial" pitchFamily="34" charset="0"/>
                <a:ea typeface="Arial" pitchFamily="34" charset="-122"/>
                <a:cs typeface="Arial" pitchFamily="34" charset="-120"/>
              </a:rPr>
              <a:t>3,417 of 9,199</a:t>
            </a:r>
            <a:endParaRPr lang="en-US" sz="1150" dirty="0"/>
          </a:p>
        </p:txBody>
      </p:sp>
      <p:sp>
        <p:nvSpPr>
          <p:cNvPr id="18" name="Text 15"/>
          <p:cNvSpPr/>
          <p:nvPr/>
        </p:nvSpPr>
        <p:spPr>
          <a:xfrm>
            <a:off x="640080" y="3689604"/>
            <a:ext cx="3383280" cy="237744"/>
          </a:xfrm>
          <a:prstGeom prst="rect">
            <a:avLst/>
          </a:prstGeom>
          <a:noFill/>
          <a:ln/>
        </p:spPr>
        <p:txBody>
          <a:bodyPr wrap="square" lIns="0" tIns="0" rIns="0" bIns="0" rtlCol="0" anchor="ctr"/>
          <a:lstStyle/>
          <a:p>
            <a:pPr indent="0" marL="0">
              <a:buNone/>
            </a:pPr>
            <a:r>
              <a:rPr lang="en-US" sz="1450" b="1" dirty="0">
                <a:solidFill>
                  <a:srgbClr val="E8EBF0"/>
                </a:solidFill>
                <a:latin typeface="Arial" pitchFamily="34" charset="0"/>
                <a:ea typeface="Arial" pitchFamily="34" charset="-122"/>
                <a:cs typeface="Arial" pitchFamily="34" charset="-120"/>
              </a:rPr>
              <a:t>Ward lamp density</a:t>
            </a:r>
            <a:endParaRPr lang="en-US" sz="1450" dirty="0"/>
          </a:p>
        </p:txBody>
      </p:sp>
      <p:sp>
        <p:nvSpPr>
          <p:cNvPr id="19" name="Text 16"/>
          <p:cNvSpPr/>
          <p:nvPr/>
        </p:nvSpPr>
        <p:spPr>
          <a:xfrm>
            <a:off x="640080" y="3913632"/>
            <a:ext cx="3383280" cy="219456"/>
          </a:xfrm>
          <a:prstGeom prst="rect">
            <a:avLst/>
          </a:prstGeom>
          <a:noFill/>
          <a:ln/>
        </p:spPr>
        <p:txBody>
          <a:bodyPr wrap="square" lIns="0" tIns="0" rIns="0" bIns="0" rtlCol="0" anchor="ctr"/>
          <a:lstStyle/>
          <a:p>
            <a:pPr indent="0" marL="0">
              <a:buNone/>
            </a:pPr>
            <a:r>
              <a:rPr lang="en-US" sz="1150" dirty="0">
                <a:solidFill>
                  <a:srgbClr val="8A94A6"/>
                </a:solidFill>
                <a:latin typeface="Arial" pitchFamily="34" charset="0"/>
                <a:ea typeface="Arial" pitchFamily="34" charset="-122"/>
                <a:cs typeface="Arial" pitchFamily="34" charset="-120"/>
              </a:rPr>
              <a:t>421,113 lamps · 198 wards</a:t>
            </a:r>
            <a:endParaRPr lang="en-US" sz="1150" dirty="0"/>
          </a:p>
        </p:txBody>
      </p:sp>
      <p:sp>
        <p:nvSpPr>
          <p:cNvPr id="20" name="Text 17"/>
          <p:cNvSpPr/>
          <p:nvPr/>
        </p:nvSpPr>
        <p:spPr>
          <a:xfrm>
            <a:off x="640080" y="4187952"/>
            <a:ext cx="3383280" cy="237744"/>
          </a:xfrm>
          <a:prstGeom prst="rect">
            <a:avLst/>
          </a:prstGeom>
          <a:noFill/>
          <a:ln/>
        </p:spPr>
        <p:txBody>
          <a:bodyPr wrap="square" lIns="0" tIns="0" rIns="0" bIns="0" rtlCol="0" anchor="ctr"/>
          <a:lstStyle/>
          <a:p>
            <a:pPr indent="0" marL="0">
              <a:buNone/>
            </a:pPr>
            <a:r>
              <a:rPr lang="en-US" sz="1450" b="1" dirty="0">
                <a:solidFill>
                  <a:srgbClr val="E8EBF0"/>
                </a:solidFill>
                <a:latin typeface="Arial" pitchFamily="34" charset="0"/>
                <a:ea typeface="Arial" pitchFamily="34" charset="-122"/>
                <a:cs typeface="Arial" pitchFamily="34" charset="-120"/>
              </a:rPr>
              <a:t>OSM working = yes / no</a:t>
            </a:r>
            <a:endParaRPr lang="en-US" sz="1450" dirty="0"/>
          </a:p>
        </p:txBody>
      </p:sp>
      <p:sp>
        <p:nvSpPr>
          <p:cNvPr id="21" name="Text 18"/>
          <p:cNvSpPr/>
          <p:nvPr/>
        </p:nvSpPr>
        <p:spPr>
          <a:xfrm>
            <a:off x="640080" y="4411980"/>
            <a:ext cx="3383280" cy="219456"/>
          </a:xfrm>
          <a:prstGeom prst="rect">
            <a:avLst/>
          </a:prstGeom>
          <a:noFill/>
          <a:ln/>
        </p:spPr>
        <p:txBody>
          <a:bodyPr wrap="square" lIns="0" tIns="0" rIns="0" bIns="0" rtlCol="0" anchor="ctr"/>
          <a:lstStyle/>
          <a:p>
            <a:pPr indent="0" marL="0">
              <a:buNone/>
            </a:pPr>
            <a:r>
              <a:rPr lang="en-US" sz="1150" dirty="0">
                <a:solidFill>
                  <a:srgbClr val="8A94A6"/>
                </a:solidFill>
                <a:latin typeface="Arial" pitchFamily="34" charset="0"/>
                <a:ea typeface="Arial" pitchFamily="34" charset="-122"/>
                <a:cs typeface="Arial" pitchFamily="34" charset="-120"/>
              </a:rPr>
              <a:t>1,128 labelled lamps</a:t>
            </a:r>
            <a:endParaRPr lang="en-US" sz="1150" dirty="0"/>
          </a:p>
        </p:txBody>
      </p:sp>
      <p:sp>
        <p:nvSpPr>
          <p:cNvPr id="22" name="Text 19"/>
          <p:cNvSpPr/>
          <p:nvPr/>
        </p:nvSpPr>
        <p:spPr>
          <a:xfrm>
            <a:off x="640080" y="4686300"/>
            <a:ext cx="3383280" cy="237744"/>
          </a:xfrm>
          <a:prstGeom prst="rect">
            <a:avLst/>
          </a:prstGeom>
          <a:noFill/>
          <a:ln/>
        </p:spPr>
        <p:txBody>
          <a:bodyPr wrap="square" lIns="0" tIns="0" rIns="0" bIns="0" rtlCol="0" anchor="ctr"/>
          <a:lstStyle/>
          <a:p>
            <a:pPr indent="0" marL="0">
              <a:buNone/>
            </a:pPr>
            <a:r>
              <a:rPr lang="en-US" sz="1450" b="1" dirty="0">
                <a:solidFill>
                  <a:srgbClr val="E8EBF0"/>
                </a:solidFill>
                <a:latin typeface="Arial" pitchFamily="34" charset="0"/>
                <a:ea typeface="Arial" pitchFamily="34" charset="-122"/>
                <a:cs typeface="Arial" pitchFamily="34" charset="-120"/>
              </a:rPr>
              <a:t>Citizen reports</a:t>
            </a:r>
            <a:endParaRPr lang="en-US" sz="1450" dirty="0"/>
          </a:p>
        </p:txBody>
      </p:sp>
      <p:sp>
        <p:nvSpPr>
          <p:cNvPr id="23" name="Text 20"/>
          <p:cNvSpPr/>
          <p:nvPr/>
        </p:nvSpPr>
        <p:spPr>
          <a:xfrm>
            <a:off x="640080" y="4910328"/>
            <a:ext cx="3383280" cy="219456"/>
          </a:xfrm>
          <a:prstGeom prst="rect">
            <a:avLst/>
          </a:prstGeom>
          <a:noFill/>
          <a:ln/>
        </p:spPr>
        <p:txBody>
          <a:bodyPr wrap="square" lIns="0" tIns="0" rIns="0" bIns="0" rtlCol="0" anchor="ctr"/>
          <a:lstStyle/>
          <a:p>
            <a:pPr indent="0" marL="0">
              <a:buNone/>
            </a:pPr>
            <a:r>
              <a:rPr lang="en-US" sz="1150" dirty="0">
                <a:solidFill>
                  <a:srgbClr val="8A94A6"/>
                </a:solidFill>
                <a:latin typeface="Arial" pitchFamily="34" charset="0"/>
                <a:ea typeface="Arial" pitchFamily="34" charset="-122"/>
                <a:cs typeface="Arial" pitchFamily="34" charset="-120"/>
              </a:rPr>
              <a:t>GPS + timestamp</a:t>
            </a:r>
            <a:endParaRPr lang="en-US" sz="1150" dirty="0"/>
          </a:p>
        </p:txBody>
      </p:sp>
      <p:sp>
        <p:nvSpPr>
          <p:cNvPr id="24" name="Text 21"/>
          <p:cNvSpPr/>
          <p:nvPr/>
        </p:nvSpPr>
        <p:spPr>
          <a:xfrm>
            <a:off x="640080" y="5184648"/>
            <a:ext cx="3383280" cy="237744"/>
          </a:xfrm>
          <a:prstGeom prst="rect">
            <a:avLst/>
          </a:prstGeom>
          <a:noFill/>
          <a:ln/>
        </p:spPr>
        <p:txBody>
          <a:bodyPr wrap="square" lIns="0" tIns="0" rIns="0" bIns="0" rtlCol="0" anchor="ctr"/>
          <a:lstStyle/>
          <a:p>
            <a:pPr indent="0" marL="0">
              <a:buNone/>
            </a:pPr>
            <a:r>
              <a:rPr lang="en-US" sz="1450" b="1" dirty="0">
                <a:solidFill>
                  <a:srgbClr val="8A94A6"/>
                </a:solidFill>
                <a:latin typeface="Arial" pitchFamily="34" charset="0"/>
                <a:ea typeface="Arial" pitchFamily="34" charset="-122"/>
                <a:cs typeface="Arial" pitchFamily="34" charset="-120"/>
              </a:rPr>
              <a:t>IUDX telemetry</a:t>
            </a:r>
            <a:endParaRPr lang="en-US" sz="1450" dirty="0"/>
          </a:p>
        </p:txBody>
      </p:sp>
      <p:sp>
        <p:nvSpPr>
          <p:cNvPr id="25" name="Text 22"/>
          <p:cNvSpPr/>
          <p:nvPr/>
        </p:nvSpPr>
        <p:spPr>
          <a:xfrm>
            <a:off x="640080" y="5408676"/>
            <a:ext cx="3383280" cy="219456"/>
          </a:xfrm>
          <a:prstGeom prst="rect">
            <a:avLst/>
          </a:prstGeom>
          <a:noFill/>
          <a:ln/>
        </p:spPr>
        <p:txBody>
          <a:bodyPr wrap="square" lIns="0" tIns="0" rIns="0" bIns="0" rtlCol="0" anchor="ctr"/>
          <a:lstStyle/>
          <a:p>
            <a:pPr indent="0" marL="0">
              <a:buNone/>
            </a:pPr>
            <a:r>
              <a:rPr lang="en-US" sz="1150" dirty="0">
                <a:solidFill>
                  <a:srgbClr val="8A94A6"/>
                </a:solidFill>
                <a:latin typeface="Arial" pitchFamily="34" charset="0"/>
                <a:ea typeface="Arial" pitchFamily="34" charset="-122"/>
                <a:cs typeface="Arial" pitchFamily="34" charset="-120"/>
              </a:rPr>
              <a:t>gated — see slide 13</a:t>
            </a:r>
            <a:endParaRPr lang="en-US" sz="1150" dirty="0"/>
          </a:p>
        </p:txBody>
      </p:sp>
      <p:sp>
        <p:nvSpPr>
          <p:cNvPr id="26" name="Text 23"/>
          <p:cNvSpPr/>
          <p:nvPr/>
        </p:nvSpPr>
        <p:spPr>
          <a:xfrm>
            <a:off x="4709160" y="2267712"/>
            <a:ext cx="3200400" cy="292608"/>
          </a:xfrm>
          <a:prstGeom prst="rect">
            <a:avLst/>
          </a:prstGeom>
          <a:noFill/>
          <a:ln/>
        </p:spPr>
        <p:txBody>
          <a:bodyPr wrap="square" lIns="0" tIns="0" rIns="0" bIns="0" rtlCol="0" anchor="ctr"/>
          <a:lstStyle/>
          <a:p>
            <a:pPr indent="0" marL="0">
              <a:buNone/>
            </a:pPr>
            <a:r>
              <a:rPr lang="en-US" sz="1800" b="1" spc="140" kern="0" dirty="0">
                <a:solidFill>
                  <a:srgbClr val="F2A93B"/>
                </a:solidFill>
                <a:latin typeface="Arial" pitchFamily="34" charset="0"/>
                <a:ea typeface="Arial" pitchFamily="34" charset="-122"/>
                <a:cs typeface="Arial" pitchFamily="34" charset="-120"/>
              </a:rPr>
              <a:t>EXPOSURE</a:t>
            </a:r>
            <a:endParaRPr lang="en-US" sz="1800" dirty="0"/>
          </a:p>
        </p:txBody>
      </p:sp>
      <p:sp>
        <p:nvSpPr>
          <p:cNvPr id="27" name="Text 24"/>
          <p:cNvSpPr/>
          <p:nvPr/>
        </p:nvSpPr>
        <p:spPr>
          <a:xfrm>
            <a:off x="4709160" y="2596896"/>
            <a:ext cx="3291840" cy="731520"/>
          </a:xfrm>
          <a:prstGeom prst="rect">
            <a:avLst/>
          </a:prstGeom>
          <a:noFill/>
          <a:ln/>
        </p:spPr>
        <p:txBody>
          <a:bodyPr wrap="square" lIns="0" tIns="0" rIns="0" bIns="0" rtlCol="0" anchor="ctr"/>
          <a:lstStyle/>
          <a:p>
            <a:pPr indent="0" marL="0">
              <a:lnSpc>
                <a:spcPts val="1700"/>
              </a:lnSpc>
              <a:buNone/>
            </a:pPr>
            <a:r>
              <a:rPr lang="en-US" sz="1250" dirty="0">
                <a:solidFill>
                  <a:srgbClr val="8A94A6"/>
                </a:solidFill>
                <a:latin typeface="Arial" pitchFamily="34" charset="0"/>
                <a:ea typeface="Arial" pitchFamily="34" charset="-122"/>
                <a:cs typeface="Arial" pitchFamily="34" charset="-120"/>
              </a:rPr>
              <a:t>E(segment)  =  activity + structural</a:t>
            </a:r>
            <a:endParaRPr lang="en-US" sz="1250" dirty="0"/>
          </a:p>
        </p:txBody>
      </p:sp>
      <p:sp>
        <p:nvSpPr>
          <p:cNvPr id="28" name="Text 25"/>
          <p:cNvSpPr/>
          <p:nvPr/>
        </p:nvSpPr>
        <p:spPr>
          <a:xfrm>
            <a:off x="4709160" y="3328416"/>
            <a:ext cx="3200400" cy="292608"/>
          </a:xfrm>
          <a:prstGeom prst="rect">
            <a:avLst/>
          </a:prstGeom>
          <a:noFill/>
          <a:ln/>
        </p:spPr>
        <p:txBody>
          <a:bodyPr wrap="square" lIns="0" tIns="0" rIns="0" bIns="0" rtlCol="0" anchor="ctr"/>
          <a:lstStyle/>
          <a:p>
            <a:pPr indent="0" marL="0">
              <a:buNone/>
            </a:pPr>
            <a:r>
              <a:rPr lang="en-US" sz="1800" b="1" spc="140" kern="0" dirty="0">
                <a:solidFill>
                  <a:srgbClr val="F2A93B"/>
                </a:solidFill>
                <a:latin typeface="Arial" pitchFamily="34" charset="0"/>
                <a:ea typeface="Arial" pitchFamily="34" charset="-122"/>
                <a:cs typeface="Arial" pitchFamily="34" charset="-120"/>
              </a:rPr>
              <a:t>DARKNESS</a:t>
            </a:r>
            <a:endParaRPr lang="en-US" sz="1800" dirty="0"/>
          </a:p>
        </p:txBody>
      </p:sp>
      <p:sp>
        <p:nvSpPr>
          <p:cNvPr id="29" name="Text 26"/>
          <p:cNvSpPr/>
          <p:nvPr/>
        </p:nvSpPr>
        <p:spPr>
          <a:xfrm>
            <a:off x="4709160" y="3657600"/>
            <a:ext cx="3291840" cy="731520"/>
          </a:xfrm>
          <a:prstGeom prst="rect">
            <a:avLst/>
          </a:prstGeom>
          <a:noFill/>
          <a:ln/>
        </p:spPr>
        <p:txBody>
          <a:bodyPr wrap="square" lIns="0" tIns="0" rIns="0" bIns="0" rtlCol="0" anchor="ctr"/>
          <a:lstStyle/>
          <a:p>
            <a:pPr indent="0" marL="0">
              <a:lnSpc>
                <a:spcPts val="1700"/>
              </a:lnSpc>
              <a:buNone/>
            </a:pPr>
            <a:r>
              <a:rPr lang="en-US" sz="1250" dirty="0">
                <a:solidFill>
                  <a:srgbClr val="8A94A6"/>
                </a:solidFill>
                <a:latin typeface="Arial" pitchFamily="34" charset="0"/>
                <a:ea typeface="Arial" pitchFamily="34" charset="-122"/>
                <a:cs typeface="Arial" pitchFamily="34" charset="-120"/>
              </a:rPr>
              <a:t>Beta(α, β) per segment</a:t>
            </a:r>
            <a:endParaRPr lang="en-US" sz="1250" dirty="0"/>
          </a:p>
          <a:p>
            <a:pPr indent="0" marL="0">
              <a:lnSpc>
                <a:spcPts val="1700"/>
              </a:lnSpc>
              <a:buNone/>
            </a:pPr>
            <a:r>
              <a:rPr lang="en-US" sz="1250" dirty="0">
                <a:solidFill>
                  <a:srgbClr val="8A94A6"/>
                </a:solidFill>
                <a:latin typeface="Arial" pitchFamily="34" charset="0"/>
                <a:ea typeface="Arial" pitchFamily="34" charset="-122"/>
                <a:cs typeface="Arial" pitchFamily="34" charset="-120"/>
              </a:rPr>
              <a:t>mean = P(dark) · var = confidence</a:t>
            </a:r>
            <a:endParaRPr lang="en-US" sz="1250" dirty="0"/>
          </a:p>
        </p:txBody>
      </p:sp>
      <p:sp>
        <p:nvSpPr>
          <p:cNvPr id="30" name="Text 27"/>
          <p:cNvSpPr/>
          <p:nvPr/>
        </p:nvSpPr>
        <p:spPr>
          <a:xfrm>
            <a:off x="4709160" y="4334256"/>
            <a:ext cx="3291840" cy="731520"/>
          </a:xfrm>
          <a:prstGeom prst="rect">
            <a:avLst/>
          </a:prstGeom>
          <a:noFill/>
          <a:ln/>
        </p:spPr>
        <p:txBody>
          <a:bodyPr wrap="square" lIns="0" tIns="0" rIns="0" bIns="0" rtlCol="0" anchor="ctr"/>
          <a:lstStyle/>
          <a:p>
            <a:pPr indent="0" marL="0">
              <a:lnSpc>
                <a:spcPts val="1700"/>
              </a:lnSpc>
              <a:buNone/>
            </a:pPr>
            <a:r>
              <a:rPr lang="en-US" sz="1200" i="1" dirty="0">
                <a:solidFill>
                  <a:srgbClr val="8A94A6"/>
                </a:solidFill>
                <a:latin typeface="Arial" pitchFamily="34" charset="0"/>
                <a:ea typeface="Arial" pitchFamily="34" charset="-122"/>
                <a:cs typeface="Arial" pitchFamily="34" charset="-120"/>
              </a:rPr>
              <a:t>Estimated separately, from disjoint inputs.</a:t>
            </a:r>
            <a:endParaRPr lang="en-US" sz="1200" dirty="0"/>
          </a:p>
          <a:p>
            <a:pPr indent="0" marL="0">
              <a:lnSpc>
                <a:spcPts val="1700"/>
              </a:lnSpc>
              <a:buNone/>
            </a:pPr>
            <a:r>
              <a:rPr lang="en-US" sz="1200" i="1" dirty="0">
                <a:solidFill>
                  <a:srgbClr val="8A94A6"/>
                </a:solidFill>
                <a:latin typeface="Arial" pitchFamily="34" charset="0"/>
                <a:ea typeface="Arial" pitchFamily="34" charset="-122"/>
                <a:cs typeface="Arial" pitchFamily="34" charset="-120"/>
              </a:rPr>
              <a:t>That is what makes convergent validation possible.</a:t>
            </a:r>
            <a:endParaRPr lang="en-US" sz="1200" dirty="0"/>
          </a:p>
        </p:txBody>
      </p:sp>
      <p:sp>
        <p:nvSpPr>
          <p:cNvPr id="31" name="Text 28"/>
          <p:cNvSpPr/>
          <p:nvPr/>
        </p:nvSpPr>
        <p:spPr>
          <a:xfrm>
            <a:off x="8641080" y="2231136"/>
            <a:ext cx="3017520" cy="256032"/>
          </a:xfrm>
          <a:prstGeom prst="rect">
            <a:avLst/>
          </a:prstGeom>
          <a:noFill/>
          <a:ln/>
        </p:spPr>
        <p:txBody>
          <a:bodyPr wrap="square" lIns="0" tIns="0" rIns="0" bIns="0" rtlCol="0" anchor="ctr"/>
          <a:lstStyle/>
          <a:p>
            <a:pPr indent="0" marL="0">
              <a:buNone/>
            </a:pPr>
            <a:r>
              <a:rPr lang="en-US" sz="1500" b="1" dirty="0">
                <a:solidFill>
                  <a:srgbClr val="E8EBF0"/>
                </a:solidFill>
                <a:latin typeface="Arial" pitchFamily="34" charset="0"/>
                <a:ea typeface="Arial" pitchFamily="34" charset="-122"/>
                <a:cs typeface="Arial" pitchFamily="34" charset="-120"/>
              </a:rPr>
              <a:t>Municipal queue</a:t>
            </a:r>
            <a:endParaRPr lang="en-US" sz="1500" dirty="0"/>
          </a:p>
        </p:txBody>
      </p:sp>
      <p:sp>
        <p:nvSpPr>
          <p:cNvPr id="32" name="Text 29"/>
          <p:cNvSpPr/>
          <p:nvPr/>
        </p:nvSpPr>
        <p:spPr>
          <a:xfrm>
            <a:off x="8641080" y="2487168"/>
            <a:ext cx="3017520" cy="402336"/>
          </a:xfrm>
          <a:prstGeom prst="rect">
            <a:avLst/>
          </a:prstGeom>
          <a:noFill/>
          <a:ln/>
        </p:spPr>
        <p:txBody>
          <a:bodyPr wrap="square" lIns="0" tIns="0" rIns="0" bIns="0" rtlCol="0" anchor="ctr"/>
          <a:lstStyle/>
          <a:p>
            <a:pPr indent="0" marL="0">
              <a:lnSpc>
                <a:spcPts val="1600"/>
              </a:lnSpc>
              <a:buNone/>
            </a:pPr>
            <a:r>
              <a:rPr lang="en-US" sz="1150" dirty="0">
                <a:solidFill>
                  <a:srgbClr val="8A94A6"/>
                </a:solidFill>
                <a:latin typeface="Arial" pitchFamily="34" charset="0"/>
                <a:ea typeface="Arial" pitchFamily="34" charset="-122"/>
                <a:cs typeface="Arial" pitchFamily="34" charset="-120"/>
              </a:rPr>
              <a:t>knapsack under budget + counterfactual</a:t>
            </a:r>
            <a:endParaRPr lang="en-US" sz="1150" dirty="0"/>
          </a:p>
        </p:txBody>
      </p:sp>
      <p:sp>
        <p:nvSpPr>
          <p:cNvPr id="33" name="Text 30"/>
          <p:cNvSpPr/>
          <p:nvPr/>
        </p:nvSpPr>
        <p:spPr>
          <a:xfrm>
            <a:off x="8641080" y="3035808"/>
            <a:ext cx="3017520" cy="256032"/>
          </a:xfrm>
          <a:prstGeom prst="rect">
            <a:avLst/>
          </a:prstGeom>
          <a:noFill/>
          <a:ln/>
        </p:spPr>
        <p:txBody>
          <a:bodyPr wrap="square" lIns="0" tIns="0" rIns="0" bIns="0" rtlCol="0" anchor="ctr"/>
          <a:lstStyle/>
          <a:p>
            <a:pPr indent="0" marL="0">
              <a:buNone/>
            </a:pPr>
            <a:r>
              <a:rPr lang="en-US" sz="1500" b="1" dirty="0">
                <a:solidFill>
                  <a:srgbClr val="E8EBF0"/>
                </a:solidFill>
                <a:latin typeface="Arial" pitchFamily="34" charset="0"/>
                <a:ea typeface="Arial" pitchFamily="34" charset="-122"/>
                <a:cs typeface="Arial" pitchFamily="34" charset="-120"/>
              </a:rPr>
              <a:t>Safer route</a:t>
            </a:r>
            <a:endParaRPr lang="en-US" sz="1500" dirty="0"/>
          </a:p>
        </p:txBody>
      </p:sp>
      <p:sp>
        <p:nvSpPr>
          <p:cNvPr id="34" name="Text 31"/>
          <p:cNvSpPr/>
          <p:nvPr/>
        </p:nvSpPr>
        <p:spPr>
          <a:xfrm>
            <a:off x="8641080" y="3291840"/>
            <a:ext cx="3017520" cy="402336"/>
          </a:xfrm>
          <a:prstGeom prst="rect">
            <a:avLst/>
          </a:prstGeom>
          <a:noFill/>
          <a:ln/>
        </p:spPr>
        <p:txBody>
          <a:bodyPr wrap="square" lIns="0" tIns="0" rIns="0" bIns="0" rtlCol="0" anchor="ctr"/>
          <a:lstStyle/>
          <a:p>
            <a:pPr indent="0" marL="0">
              <a:lnSpc>
                <a:spcPts val="1600"/>
              </a:lnSpc>
              <a:buNone/>
            </a:pPr>
            <a:r>
              <a:rPr lang="en-US" sz="1150" dirty="0">
                <a:solidFill>
                  <a:srgbClr val="8A94A6"/>
                </a:solidFill>
                <a:latin typeface="Arial" pitchFamily="34" charset="0"/>
                <a:ea typeface="Arial" pitchFamily="34" charset="-122"/>
                <a:cs typeface="Arial" pitchFamily="34" charset="-120"/>
              </a:rPr>
              <a:t>weighted walk graph · both routes always</a:t>
            </a:r>
            <a:endParaRPr lang="en-US" sz="1150" dirty="0"/>
          </a:p>
        </p:txBody>
      </p:sp>
      <p:sp>
        <p:nvSpPr>
          <p:cNvPr id="35" name="Text 32"/>
          <p:cNvSpPr/>
          <p:nvPr/>
        </p:nvSpPr>
        <p:spPr>
          <a:xfrm>
            <a:off x="8641080" y="3840480"/>
            <a:ext cx="3017520" cy="256032"/>
          </a:xfrm>
          <a:prstGeom prst="rect">
            <a:avLst/>
          </a:prstGeom>
          <a:noFill/>
          <a:ln/>
        </p:spPr>
        <p:txBody>
          <a:bodyPr wrap="square" lIns="0" tIns="0" rIns="0" bIns="0" rtlCol="0" anchor="ctr"/>
          <a:lstStyle/>
          <a:p>
            <a:pPr indent="0" marL="0">
              <a:buNone/>
            </a:pPr>
            <a:r>
              <a:rPr lang="en-US" sz="1500" b="1" dirty="0">
                <a:solidFill>
                  <a:srgbClr val="E8EBF0"/>
                </a:solidFill>
                <a:latin typeface="Arial" pitchFamily="34" charset="0"/>
                <a:ea typeface="Arial" pitchFamily="34" charset="-122"/>
                <a:cs typeface="Arial" pitchFamily="34" charset="-120"/>
              </a:rPr>
              <a:t>Confidence band</a:t>
            </a:r>
            <a:endParaRPr lang="en-US" sz="1500" dirty="0"/>
          </a:p>
        </p:txBody>
      </p:sp>
      <p:sp>
        <p:nvSpPr>
          <p:cNvPr id="36" name="Text 33"/>
          <p:cNvSpPr/>
          <p:nvPr/>
        </p:nvSpPr>
        <p:spPr>
          <a:xfrm>
            <a:off x="8641080" y="4096512"/>
            <a:ext cx="3017520" cy="402336"/>
          </a:xfrm>
          <a:prstGeom prst="rect">
            <a:avLst/>
          </a:prstGeom>
          <a:noFill/>
          <a:ln/>
        </p:spPr>
        <p:txBody>
          <a:bodyPr wrap="square" lIns="0" tIns="0" rIns="0" bIns="0" rtlCol="0" anchor="ctr"/>
          <a:lstStyle/>
          <a:p>
            <a:pPr indent="0" marL="0">
              <a:lnSpc>
                <a:spcPts val="1600"/>
              </a:lnSpc>
              <a:buNone/>
            </a:pPr>
            <a:r>
              <a:rPr lang="en-US" sz="1150" dirty="0">
                <a:solidFill>
                  <a:srgbClr val="8A94A6"/>
                </a:solidFill>
                <a:latin typeface="Arial" pitchFamily="34" charset="0"/>
                <a:ea typeface="Arial" pitchFamily="34" charset="-122"/>
                <a:cs typeface="Arial" pitchFamily="34" charset="-120"/>
              </a:rPr>
              <a:t>router refuses the least-certain fifth</a:t>
            </a:r>
            <a:endParaRPr lang="en-US" sz="1150" dirty="0"/>
          </a:p>
        </p:txBody>
      </p:sp>
      <p:sp>
        <p:nvSpPr>
          <p:cNvPr id="37" name="Text 34"/>
          <p:cNvSpPr/>
          <p:nvPr/>
        </p:nvSpPr>
        <p:spPr>
          <a:xfrm>
            <a:off x="8641080" y="4645152"/>
            <a:ext cx="3017520" cy="256032"/>
          </a:xfrm>
          <a:prstGeom prst="rect">
            <a:avLst/>
          </a:prstGeom>
          <a:noFill/>
          <a:ln/>
        </p:spPr>
        <p:txBody>
          <a:bodyPr wrap="square" lIns="0" tIns="0" rIns="0" bIns="0" rtlCol="0" anchor="ctr"/>
          <a:lstStyle/>
          <a:p>
            <a:pPr indent="0" marL="0">
              <a:buNone/>
            </a:pPr>
            <a:r>
              <a:rPr lang="en-US" sz="1500" b="1" dirty="0">
                <a:solidFill>
                  <a:srgbClr val="E8EBF0"/>
                </a:solidFill>
                <a:latin typeface="Arial" pitchFamily="34" charset="0"/>
                <a:ea typeface="Arial" pitchFamily="34" charset="-122"/>
                <a:cs typeface="Arial" pitchFamily="34" charset="-120"/>
              </a:rPr>
              <a:t>Report targeting</a:t>
            </a:r>
            <a:endParaRPr lang="en-US" sz="1500" dirty="0"/>
          </a:p>
        </p:txBody>
      </p:sp>
      <p:sp>
        <p:nvSpPr>
          <p:cNvPr id="38" name="Text 35"/>
          <p:cNvSpPr/>
          <p:nvPr/>
        </p:nvSpPr>
        <p:spPr>
          <a:xfrm>
            <a:off x="8641080" y="4901184"/>
            <a:ext cx="3017520" cy="402336"/>
          </a:xfrm>
          <a:prstGeom prst="rect">
            <a:avLst/>
          </a:prstGeom>
          <a:noFill/>
          <a:ln/>
        </p:spPr>
        <p:txBody>
          <a:bodyPr wrap="square" lIns="0" tIns="0" rIns="0" bIns="0" rtlCol="0" anchor="ctr"/>
          <a:lstStyle/>
          <a:p>
            <a:pPr indent="0" marL="0">
              <a:lnSpc>
                <a:spcPts val="1600"/>
              </a:lnSpc>
              <a:buNone/>
            </a:pPr>
            <a:r>
              <a:rPr lang="en-US" sz="1150" dirty="0">
                <a:solidFill>
                  <a:srgbClr val="8A94A6"/>
                </a:solidFill>
                <a:latin typeface="Arial" pitchFamily="34" charset="0"/>
                <a:ea typeface="Arial" pitchFamily="34" charset="-122"/>
                <a:cs typeface="Arial" pitchFamily="34" charset="-120"/>
              </a:rPr>
              <a:t>upper confidence bound</a:t>
            </a:r>
            <a:endParaRPr lang="en-US" sz="1150" dirty="0"/>
          </a:p>
        </p:txBody>
      </p:sp>
      <p:sp>
        <p:nvSpPr>
          <p:cNvPr id="39" name="Text 36"/>
          <p:cNvSpPr/>
          <p:nvPr/>
        </p:nvSpPr>
        <p:spPr>
          <a:xfrm>
            <a:off x="640080" y="5742432"/>
            <a:ext cx="10908792" cy="292608"/>
          </a:xfrm>
          <a:prstGeom prst="rect">
            <a:avLst/>
          </a:prstGeom>
          <a:noFill/>
          <a:ln/>
        </p:spPr>
        <p:txBody>
          <a:bodyPr wrap="square" lIns="0" tIns="0" rIns="0" bIns="0" rtlCol="0" anchor="ctr"/>
          <a:lstStyle/>
          <a:p>
            <a:pPr indent="0" marL="0">
              <a:buNone/>
            </a:pPr>
            <a:r>
              <a:rPr lang="en-US" sz="1400" dirty="0">
                <a:solidFill>
                  <a:srgbClr val="F2A93B"/>
                </a:solidFill>
                <a:latin typeface="Arial" pitchFamily="34" charset="0"/>
                <a:ea typeface="Arial" pitchFamily="34" charset="-122"/>
                <a:cs typeface="Arial" pitchFamily="34" charset="-120"/>
              </a:rPr>
              <a:t>Footfall enters the queue and the router with opposite signs — next slide.</a:t>
            </a:r>
            <a:endParaRPr lang="en-US" sz="1400" dirty="0"/>
          </a:p>
        </p:txBody>
      </p:sp>
      <p:sp>
        <p:nvSpPr>
          <p:cNvPr id="40" name="Text 37"/>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Every element here exists in data/pipeline.py. No ML model, no cloud layer, no auth service.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3100" b="1" dirty="0">
                <a:solidFill>
                  <a:srgbClr val="E8EBF0"/>
                </a:solidFill>
                <a:latin typeface="Arial" pitchFamily="34" charset="0"/>
                <a:ea typeface="Arial" pitchFamily="34" charset="-122"/>
                <a:cs typeface="Arial" pitchFamily="34" charset="-120"/>
              </a:rPr>
              <a:t>We didn’t pick these numbers. We measured them.</a:t>
            </a:r>
            <a:endParaRPr lang="en-US" sz="3100" dirty="0"/>
          </a:p>
        </p:txBody>
      </p:sp>
      <p:sp>
        <p:nvSpPr>
          <p:cNvPr id="4" name="Text 1"/>
          <p:cNvSpPr/>
          <p:nvPr/>
        </p:nvSpPr>
        <p:spPr>
          <a:xfrm>
            <a:off x="640080" y="1627632"/>
            <a:ext cx="5029200" cy="914400"/>
          </a:xfrm>
          <a:prstGeom prst="rect">
            <a:avLst/>
          </a:prstGeom>
          <a:noFill/>
          <a:ln/>
        </p:spPr>
        <p:txBody>
          <a:bodyPr wrap="square" lIns="0" tIns="0" rIns="0" bIns="0" rtlCol="0" anchor="ctr"/>
          <a:lstStyle/>
          <a:p>
            <a:pPr indent="0" marL="0">
              <a:lnSpc>
                <a:spcPts val="2200"/>
              </a:lnSpc>
              <a:buNone/>
            </a:pPr>
            <a:r>
              <a:rPr lang="en-US" sz="1550" dirty="0">
                <a:solidFill>
                  <a:srgbClr val="E8EBF0"/>
                </a:solidFill>
                <a:latin typeface="Arial" pitchFamily="34" charset="0"/>
                <a:ea typeface="Arial" pitchFamily="34" charset="-122"/>
                <a:cs typeface="Arial" pitchFamily="34" charset="-120"/>
              </a:rPr>
              <a:t>A citizen audit coded 469 Vasanthanagar lamps on two dates, 15 days apart, in 2019. That gives a measured repair rate and a measured failure rate — so the prior is calibrated, not chosen.</a:t>
            </a:r>
            <a:endParaRPr lang="en-US" sz="1550" dirty="0"/>
          </a:p>
        </p:txBody>
      </p:sp>
      <p:sp>
        <p:nvSpPr>
          <p:cNvPr id="5" name="Text 2"/>
          <p:cNvSpPr/>
          <p:nvPr/>
        </p:nvSpPr>
        <p:spPr>
          <a:xfrm>
            <a:off x="640080" y="2743200"/>
            <a:ext cx="4937760" cy="1737360"/>
          </a:xfrm>
          <a:prstGeom prst="rect">
            <a:avLst/>
          </a:prstGeom>
          <a:solidFill>
            <a:srgbClr val="141A24"/>
          </a:solidFill>
          <a:ln/>
        </p:spPr>
        <p:txBody>
          <a:bodyPr wrap="square" lIns="0" tIns="0" rIns="0" bIns="0" rtlCol="0" anchor="t"/>
          <a:lstStyle/>
          <a:p>
            <a:pPr indent="0" marL="0">
              <a:lnSpc>
                <a:spcPts val="1800"/>
              </a:lnSpc>
              <a:buNone/>
            </a:pPr>
            <a:r>
              <a:rPr lang="en-US" sz="1250" dirty="0">
                <a:solidFill>
                  <a:srgbClr val="E8EBF0"/>
                </a:solidFill>
                <a:latin typeface="Courier New" pitchFamily="34" charset="0"/>
                <a:ea typeface="Courier New" pitchFamily="34" charset="-122"/>
                <a:cs typeface="Courier New" pitchFamily="34" charset="-120"/>
              </a:rPr>
              <a:t>                 2 July</a:t>
            </a:r>
            <a:endParaRPr lang="en-US" sz="1250" dirty="0"/>
          </a:p>
          <a:p>
            <a:pPr indent="0" marL="0">
              <a:lnSpc>
                <a:spcPts val="1800"/>
              </a:lnSpc>
              <a:buNone/>
            </a:pPr>
            <a:r>
              <a:rPr lang="en-US" sz="1250" dirty="0">
                <a:solidFill>
                  <a:srgbClr val="E8EBF0"/>
                </a:solidFill>
                <a:latin typeface="Courier New" pitchFamily="34" charset="0"/>
                <a:ea typeface="Courier New" pitchFamily="34" charset="-122"/>
                <a:cs typeface="Courier New" pitchFamily="34" charset="-120"/>
              </a:rPr>
              <a:t>  17 June    DEAD    OK</a:t>
            </a:r>
            <a:endParaRPr lang="en-US" sz="1250" dirty="0"/>
          </a:p>
          <a:p>
            <a:pPr indent="0" marL="0">
              <a:lnSpc>
                <a:spcPts val="1800"/>
              </a:lnSpc>
              <a:buNone/>
            </a:pPr>
            <a:r>
              <a:rPr lang="en-US" sz="1250" dirty="0">
                <a:solidFill>
                  <a:srgbClr val="E8EBF0"/>
                </a:solidFill>
                <a:latin typeface="Courier New" pitchFamily="34" charset="0"/>
                <a:ea typeface="Courier New" pitchFamily="34" charset="-122"/>
                <a:cs typeface="Courier New" pitchFamily="34" charset="-120"/>
              </a:rPr>
              <a:t>  DEAD         33    28   →  45.9% of dead</a:t>
            </a:r>
            <a:endParaRPr lang="en-US" sz="1250" dirty="0"/>
          </a:p>
          <a:p>
            <a:pPr indent="0" marL="0">
              <a:lnSpc>
                <a:spcPts val="1800"/>
              </a:lnSpc>
              <a:buNone/>
            </a:pPr>
            <a:r>
              <a:rPr lang="en-US" sz="1250" dirty="0">
                <a:solidFill>
                  <a:srgbClr val="E8EBF0"/>
                </a:solidFill>
                <a:latin typeface="Courier New" pitchFamily="34" charset="0"/>
                <a:ea typeface="Courier New" pitchFamily="34" charset="-122"/>
                <a:cs typeface="Courier New" pitchFamily="34" charset="-120"/>
              </a:rPr>
              <a:t>                             lamps repaired</a:t>
            </a:r>
            <a:endParaRPr lang="en-US" sz="1250" dirty="0"/>
          </a:p>
          <a:p>
            <a:pPr indent="0" marL="0">
              <a:lnSpc>
                <a:spcPts val="1800"/>
              </a:lnSpc>
              <a:buNone/>
            </a:pPr>
            <a:r>
              <a:rPr lang="en-US" sz="1250" dirty="0">
                <a:solidFill>
                  <a:srgbClr val="E8EBF0"/>
                </a:solidFill>
                <a:latin typeface="Courier New" pitchFamily="34" charset="0"/>
                <a:ea typeface="Courier New" pitchFamily="34" charset="-122"/>
                <a:cs typeface="Courier New" pitchFamily="34" charset="-120"/>
              </a:rPr>
              <a:t>  OK           15   360   →   4.0% of working</a:t>
            </a:r>
            <a:endParaRPr lang="en-US" sz="1250" dirty="0"/>
          </a:p>
          <a:p>
            <a:pPr indent="0" marL="0">
              <a:lnSpc>
                <a:spcPts val="1800"/>
              </a:lnSpc>
              <a:buNone/>
            </a:pPr>
            <a:r>
              <a:rPr lang="en-US" sz="1250" dirty="0">
                <a:solidFill>
                  <a:srgbClr val="E8EBF0"/>
                </a:solidFill>
                <a:latin typeface="Courier New" pitchFamily="34" charset="0"/>
                <a:ea typeface="Courier New" pitchFamily="34" charset="-122"/>
                <a:cs typeface="Courier New" pitchFamily="34" charset="-120"/>
              </a:rPr>
              <a:t>                             lamps died</a:t>
            </a:r>
            <a:endParaRPr lang="en-US" sz="1250" dirty="0"/>
          </a:p>
        </p:txBody>
      </p:sp>
      <p:sp>
        <p:nvSpPr>
          <p:cNvPr id="6" name="Text 3"/>
          <p:cNvSpPr/>
          <p:nvPr/>
        </p:nvSpPr>
        <p:spPr>
          <a:xfrm>
            <a:off x="640080" y="4626864"/>
            <a:ext cx="5120640" cy="310896"/>
          </a:xfrm>
          <a:prstGeom prst="rect">
            <a:avLst/>
          </a:prstGeom>
          <a:noFill/>
          <a:ln/>
        </p:spPr>
        <p:txBody>
          <a:bodyPr wrap="square" lIns="0" tIns="0" rIns="0" bIns="0" rtlCol="0" anchor="ctr"/>
          <a:lstStyle/>
          <a:p>
            <a:pPr indent="0" marL="0">
              <a:buNone/>
            </a:pPr>
            <a:r>
              <a:rPr lang="en-US" sz="1400" dirty="0">
                <a:solidFill>
                  <a:srgbClr val="E8EBF0"/>
                </a:solidFill>
                <a:latin typeface="Arial" pitchFamily="34" charset="0"/>
                <a:ea typeface="Arial" pitchFamily="34" charset="-122"/>
                <a:cs typeface="Arial" pitchFamily="34" charset="-120"/>
              </a:rPr>
              <a:t>Equilibrium dead share  =  0.040 / (0.040 + 0.459)  =  </a:t>
            </a:r>
            <a:pPr indent="0" marL="0">
              <a:buNone/>
            </a:pPr>
            <a:r>
              <a:rPr lang="en-US" sz="1400" b="1" dirty="0">
                <a:solidFill>
                  <a:srgbClr val="F2A93B"/>
                </a:solidFill>
                <a:latin typeface="Arial" pitchFamily="34" charset="0"/>
                <a:ea typeface="Arial" pitchFamily="34" charset="-122"/>
                <a:cs typeface="Arial" pitchFamily="34" charset="-120"/>
              </a:rPr>
              <a:t>8.0%</a:t>
            </a:r>
            <a:endParaRPr lang="en-US" sz="1400" dirty="0"/>
          </a:p>
        </p:txBody>
      </p:sp>
      <p:sp>
        <p:nvSpPr>
          <p:cNvPr id="7" name="Shape 4"/>
          <p:cNvSpPr/>
          <p:nvPr/>
        </p:nvSpPr>
        <p:spPr>
          <a:xfrm>
            <a:off x="5943600" y="1627632"/>
            <a:ext cx="10973" cy="3566160"/>
          </a:xfrm>
          <a:prstGeom prst="rect">
            <a:avLst/>
          </a:prstGeom>
          <a:solidFill>
            <a:srgbClr val="252C3A"/>
          </a:solidFill>
          <a:ln w="12700">
            <a:solidFill>
              <a:srgbClr val="333333"/>
            </a:solidFill>
            <a:prstDash val="solid"/>
          </a:ln>
        </p:spPr>
      </p:sp>
      <p:sp>
        <p:nvSpPr>
          <p:cNvPr id="8" name="Text 5"/>
          <p:cNvSpPr/>
          <p:nvPr/>
        </p:nvSpPr>
        <p:spPr>
          <a:xfrm>
            <a:off x="6291072" y="1627632"/>
            <a:ext cx="5257800" cy="292608"/>
          </a:xfrm>
          <a:prstGeom prst="rect">
            <a:avLst/>
          </a:prstGeom>
          <a:noFill/>
          <a:ln/>
        </p:spPr>
        <p:txBody>
          <a:bodyPr wrap="square" lIns="0" tIns="0" rIns="0" bIns="0" rtlCol="0" anchor="ctr"/>
          <a:lstStyle/>
          <a:p>
            <a:pPr indent="0" marL="0">
              <a:buNone/>
            </a:pPr>
            <a:r>
              <a:rPr lang="en-US" sz="1600" b="1" dirty="0">
                <a:solidFill>
                  <a:srgbClr val="E8EBF0"/>
                </a:solidFill>
                <a:latin typeface="Arial" pitchFamily="34" charset="0"/>
                <a:ea typeface="Arial" pitchFamily="34" charset="-122"/>
                <a:cs typeface="Arial" pitchFamily="34" charset="-120"/>
              </a:rPr>
              <a:t>The prior it produces</a:t>
            </a:r>
            <a:endParaRPr lang="en-US" sz="1600" dirty="0"/>
          </a:p>
        </p:txBody>
      </p:sp>
      <p:sp>
        <p:nvSpPr>
          <p:cNvPr id="9" name="Text 6"/>
          <p:cNvSpPr/>
          <p:nvPr/>
        </p:nvSpPr>
        <p:spPr>
          <a:xfrm>
            <a:off x="6291072" y="2139696"/>
            <a:ext cx="5257800" cy="1828800"/>
          </a:xfrm>
          <a:prstGeom prst="rect">
            <a:avLst/>
          </a:prstGeom>
          <a:solidFill>
            <a:srgbClr val="141A24"/>
          </a:solidFill>
          <a:ln/>
        </p:spPr>
        <p:txBody>
          <a:bodyPr wrap="square" lIns="0" tIns="0" rIns="0" bIns="0" rtlCol="0" anchor="t"/>
          <a:lstStyle/>
          <a:p>
            <a:pPr indent="0" marL="0">
              <a:lnSpc>
                <a:spcPts val="1800"/>
              </a:lnSpc>
              <a:buNone/>
            </a:pPr>
            <a:r>
              <a:rPr lang="en-US" sz="1250" dirty="0">
                <a:solidFill>
                  <a:srgbClr val="E8EBF0"/>
                </a:solidFill>
                <a:latin typeface="Courier New" pitchFamily="34" charset="0"/>
                <a:ea typeface="Courier New" pitchFamily="34" charset="-122"/>
                <a:cs typeface="Courier New" pitchFamily="34" charset="-120"/>
              </a:rPr>
              <a:t>P(lit)   = coverage × 0.920</a:t>
            </a:r>
            <a:endParaRPr lang="en-US" sz="1250" dirty="0"/>
          </a:p>
          <a:p>
            <a:pPr indent="0" marL="0">
              <a:lnSpc>
                <a:spcPts val="1800"/>
              </a:lnSpc>
              <a:buNone/>
            </a:pPr>
            <a:r>
              <a:rPr lang="en-US" sz="1250" dirty="0">
                <a:solidFill>
                  <a:srgbClr val="E8EBF0"/>
                </a:solidFill>
                <a:latin typeface="Courier New" pitchFamily="34" charset="0"/>
                <a:ea typeface="Courier New" pitchFamily="34" charset="-122"/>
                <a:cs typeface="Courier New" pitchFamily="34" charset="-120"/>
              </a:rPr>
              <a:t>           coverage = ward lamps/km ÷ 33.3</a:t>
            </a:r>
            <a:endParaRPr lang="en-US" sz="1250" dirty="0"/>
          </a:p>
          <a:p>
            <a:pPr indent="0" marL="0">
              <a:lnSpc>
                <a:spcPts val="1800"/>
              </a:lnSpc>
              <a:buNone/>
            </a:pPr>
            <a:r>
              <a:rPr lang="en-US" sz="1250" dirty="0">
                <a:solidFill>
                  <a:srgbClr val="E8EBF0"/>
                </a:solidFill>
                <a:latin typeface="Courier New" pitchFamily="34" charset="0"/>
                <a:ea typeface="Courier New" pitchFamily="34" charset="-122"/>
                <a:cs typeface="Courier New" pitchFamily="34" charset="-120"/>
              </a:rPr>
              <a:t>           33.3 = 30 m standard pole spacing</a:t>
            </a:r>
            <a:endParaRPr lang="en-US" sz="1250" dirty="0"/>
          </a:p>
          <a:p>
            <a:pPr indent="0" marL="0">
              <a:lnSpc>
                <a:spcPts val="1800"/>
              </a:lnSpc>
              <a:buNone/>
            </a:pPr>
            <a:r>
              <a:rPr lang="en-US" sz="1250" dirty="0">
                <a:solidFill>
                  <a:srgbClr val="E8EBF0"/>
                </a:solidFill>
                <a:latin typeface="Courier New" pitchFamily="34" charset="0"/>
                <a:ea typeface="Courier New" pitchFamily="34" charset="-122"/>
                <a:cs typeface="Courier New" pitchFamily="34" charset="-120"/>
              </a:rPr>
              <a:t>           0.920 = measured working rate</a:t>
            </a:r>
            <a:endParaRPr lang="en-US" sz="1250" dirty="0"/>
          </a:p>
          <a:p>
            <a:pPr indent="0" marL="0">
              <a:lnSpc>
                <a:spcPts val="1800"/>
              </a:lnSpc>
              <a:buNone/>
            </a:pPr>
            <a:endParaRPr lang="en-US" sz="1250" dirty="0"/>
          </a:p>
          <a:p>
            <a:pPr indent="0" marL="0">
              <a:lnSpc>
                <a:spcPts val="1800"/>
              </a:lnSpc>
              <a:buNone/>
            </a:pPr>
            <a:r>
              <a:rPr lang="en-US" sz="1250" dirty="0">
                <a:solidFill>
                  <a:srgbClr val="E8EBF0"/>
                </a:solidFill>
                <a:latin typeface="Courier New" pitchFamily="34" charset="0"/>
                <a:ea typeface="Courier New" pitchFamily="34" charset="-122"/>
                <a:cs typeface="Courier New" pitchFamily="34" charset="-120"/>
              </a:rPr>
              <a:t>Beta(α₀, β₀) = (K·P(lit), K·(1−P(lit)))</a:t>
            </a:r>
            <a:endParaRPr lang="en-US" sz="1250" dirty="0"/>
          </a:p>
          <a:p>
            <a:pPr indent="0" marL="0">
              <a:lnSpc>
                <a:spcPts val="1800"/>
              </a:lnSpc>
              <a:buNone/>
            </a:pPr>
            <a:r>
              <a:rPr lang="en-US" sz="1250" dirty="0">
                <a:solidFill>
                  <a:srgbClr val="E8EBF0"/>
                </a:solidFill>
                <a:latin typeface="Courier New" pitchFamily="34" charset="0"/>
                <a:ea typeface="Courier New" pitchFamily="34" charset="-122"/>
                <a:cs typeface="Courier New" pitchFamily="34" charset="-120"/>
              </a:rPr>
              <a:t>           K = 2, deliberately weak</a:t>
            </a:r>
            <a:endParaRPr lang="en-US" sz="1250" dirty="0"/>
          </a:p>
        </p:txBody>
      </p:sp>
      <p:sp>
        <p:nvSpPr>
          <p:cNvPr id="10" name="Text 7"/>
          <p:cNvSpPr/>
          <p:nvPr/>
        </p:nvSpPr>
        <p:spPr>
          <a:xfrm>
            <a:off x="6291072" y="4169664"/>
            <a:ext cx="5257800" cy="310896"/>
          </a:xfrm>
          <a:prstGeom prst="rect">
            <a:avLst/>
          </a:prstGeom>
          <a:noFill/>
          <a:ln/>
        </p:spPr>
        <p:txBody>
          <a:bodyPr wrap="square" lIns="0" tIns="0" rIns="0" bIns="0" rtlCol="0" anchor="ctr"/>
          <a:lstStyle/>
          <a:p>
            <a:pPr indent="0" marL="0">
              <a:buNone/>
            </a:pPr>
            <a:r>
              <a:rPr lang="en-US" sz="1500" dirty="0">
                <a:solidFill>
                  <a:srgbClr val="E8EBF0"/>
                </a:solidFill>
                <a:latin typeface="Arial" pitchFamily="34" charset="0"/>
                <a:ea typeface="Arial" pitchFamily="34" charset="-122"/>
                <a:cs typeface="Arial" pitchFamily="34" charset="-120"/>
              </a:rPr>
              <a:t>Mean P(dark) across all 11,029 segments:  </a:t>
            </a:r>
            <a:pPr indent="0" marL="0">
              <a:buNone/>
            </a:pPr>
            <a:r>
              <a:rPr lang="en-US" sz="1500" b="1" dirty="0">
                <a:solidFill>
                  <a:srgbClr val="F2A93B"/>
                </a:solidFill>
                <a:latin typeface="Arial" pitchFamily="34" charset="0"/>
                <a:ea typeface="Arial" pitchFamily="34" charset="-122"/>
                <a:cs typeface="Arial" pitchFamily="34" charset="-120"/>
              </a:rPr>
              <a:t>27.6%</a:t>
            </a:r>
            <a:endParaRPr lang="en-US" sz="1500" dirty="0"/>
          </a:p>
        </p:txBody>
      </p:sp>
      <p:sp>
        <p:nvSpPr>
          <p:cNvPr id="11" name="Text 8"/>
          <p:cNvSpPr/>
          <p:nvPr/>
        </p:nvSpPr>
        <p:spPr>
          <a:xfrm>
            <a:off x="6291072" y="4626864"/>
            <a:ext cx="5257800" cy="1005840"/>
          </a:xfrm>
          <a:prstGeom prst="rect">
            <a:avLst/>
          </a:prstGeom>
          <a:noFill/>
          <a:ln/>
        </p:spPr>
        <p:txBody>
          <a:bodyPr wrap="square" lIns="0" tIns="0" rIns="0" bIns="0" rtlCol="0" anchor="ctr"/>
          <a:lstStyle/>
          <a:p>
            <a:pPr indent="0" marL="0">
              <a:lnSpc>
                <a:spcPts val="1900"/>
              </a:lnSpc>
              <a:buNone/>
            </a:pPr>
            <a:r>
              <a:rPr lang="en-US" sz="1350" dirty="0">
                <a:solidFill>
                  <a:srgbClr val="8A94A6"/>
                </a:solidFill>
                <a:latin typeface="Arial" pitchFamily="34" charset="0"/>
                <a:ea typeface="Arial" pitchFamily="34" charset="-122"/>
                <a:cs typeface="Arial" pitchFamily="34" charset="-120"/>
              </a:rPr>
              <a:t>Two evidence weights worth naming: an OSM working=no tag moves β by 1.0; IUDX zero current after dusk would move it by 2.0. Everything decays on a 30-day half-life, so a repair clears a segment.</a:t>
            </a:r>
            <a:endParaRPr lang="en-US" sz="1350" dirty="0"/>
          </a:p>
        </p:txBody>
      </p:sp>
      <p:sp>
        <p:nvSpPr>
          <p:cNvPr id="12" name="Text 9"/>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OpenCity — Vasanthanagar streetlights database 2019, citizen audit, 469 rows. Mean P(dark) from out/stats.json.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3100" b="1" dirty="0">
                <a:solidFill>
                  <a:srgbClr val="E8EBF0"/>
                </a:solidFill>
                <a:latin typeface="Arial" pitchFamily="34" charset="0"/>
                <a:ea typeface="Arial" pitchFamily="34" charset="-122"/>
                <a:cs typeface="Arial" pitchFamily="34" charset="-120"/>
              </a:rPr>
              <a:t>One variable, opposite signs</a:t>
            </a:r>
            <a:endParaRPr lang="en-US" sz="3100" dirty="0"/>
          </a:p>
        </p:txBody>
      </p:sp>
      <p:sp>
        <p:nvSpPr>
          <p:cNvPr id="4" name="Text 1"/>
          <p:cNvSpPr/>
          <p:nvPr/>
        </p:nvSpPr>
        <p:spPr>
          <a:xfrm>
            <a:off x="640080" y="1627632"/>
            <a:ext cx="8778240" cy="914400"/>
          </a:xfrm>
          <a:prstGeom prst="rect">
            <a:avLst/>
          </a:prstGeom>
          <a:solidFill>
            <a:srgbClr val="141A24"/>
          </a:solidFill>
          <a:ln/>
        </p:spPr>
        <p:txBody>
          <a:bodyPr wrap="square" lIns="0" tIns="0" rIns="0" bIns="0" rtlCol="0" anchor="t"/>
          <a:lstStyle/>
          <a:p>
            <a:pPr indent="0" marL="0">
              <a:lnSpc>
                <a:spcPts val="2000"/>
              </a:lnSpc>
              <a:buNone/>
            </a:pPr>
            <a:r>
              <a:rPr lang="en-US" sz="1400" dirty="0">
                <a:solidFill>
                  <a:srgbClr val="E8EBF0"/>
                </a:solidFill>
                <a:latin typeface="Courier New" pitchFamily="34" charset="0"/>
                <a:ea typeface="Courier New" pitchFamily="34" charset="-122"/>
                <a:cs typeface="Courier New" pitchFamily="34" charset="-120"/>
              </a:rPr>
              <a:t>repair_priority = E · P(dark) · confidence            E multiplies</a:t>
            </a:r>
            <a:endParaRPr lang="en-US" sz="1400" dirty="0"/>
          </a:p>
          <a:p>
            <a:pPr indent="0" marL="0">
              <a:lnSpc>
                <a:spcPts val="2000"/>
              </a:lnSpc>
              <a:buNone/>
            </a:pPr>
            <a:r>
              <a:rPr lang="en-US" sz="1400" dirty="0">
                <a:solidFill>
                  <a:srgbClr val="E8EBF0"/>
                </a:solidFill>
                <a:latin typeface="Courier New" pitchFamily="34" charset="0"/>
                <a:ea typeface="Courier New" pitchFamily="34" charset="-122"/>
                <a:cs typeface="Courier New" pitchFamily="34" charset="-120"/>
              </a:rPr>
              <a:t>route_penalty   = L · (1 + λd·P(dark) + λe/E + λu·var)  E divides</a:t>
            </a:r>
            <a:endParaRPr lang="en-US" sz="1400" dirty="0"/>
          </a:p>
        </p:txBody>
      </p:sp>
      <p:sp>
        <p:nvSpPr>
          <p:cNvPr id="5" name="Shape 2"/>
          <p:cNvSpPr/>
          <p:nvPr/>
        </p:nvSpPr>
        <p:spPr>
          <a:xfrm>
            <a:off x="640080" y="2962656"/>
            <a:ext cx="5212080" cy="10973"/>
          </a:xfrm>
          <a:prstGeom prst="rect">
            <a:avLst/>
          </a:prstGeom>
          <a:solidFill>
            <a:srgbClr val="252C3A"/>
          </a:solidFill>
          <a:ln w="12700">
            <a:solidFill>
              <a:srgbClr val="333333"/>
            </a:solidFill>
            <a:prstDash val="solid"/>
          </a:ln>
        </p:spPr>
      </p:sp>
      <p:sp>
        <p:nvSpPr>
          <p:cNvPr id="6" name="Text 3"/>
          <p:cNvSpPr/>
          <p:nvPr/>
        </p:nvSpPr>
        <p:spPr>
          <a:xfrm>
            <a:off x="640080" y="3145536"/>
            <a:ext cx="5212080" cy="566928"/>
          </a:xfrm>
          <a:prstGeom prst="rect">
            <a:avLst/>
          </a:prstGeom>
          <a:noFill/>
          <a:ln/>
        </p:spPr>
        <p:txBody>
          <a:bodyPr wrap="square" lIns="0" tIns="0" rIns="0" bIns="0" rtlCol="0" anchor="ctr"/>
          <a:lstStyle/>
          <a:p>
            <a:pPr indent="0" marL="0">
              <a:lnSpc>
                <a:spcPts val="2400"/>
              </a:lnSpc>
              <a:buNone/>
            </a:pPr>
            <a:r>
              <a:rPr lang="en-US" sz="1700" b="1" dirty="0">
                <a:solidFill>
                  <a:srgbClr val="F2A93B"/>
                </a:solidFill>
                <a:latin typeface="Arial" pitchFamily="34" charset="0"/>
                <a:ea typeface="Arial" pitchFamily="34" charset="-122"/>
                <a:cs typeface="Arial" pitchFamily="34" charset="-120"/>
              </a:rPr>
              <a:t>In the repair queue, footfall is EXPOSURE</a:t>
            </a:r>
            <a:endParaRPr lang="en-US" sz="1700" dirty="0"/>
          </a:p>
        </p:txBody>
      </p:sp>
      <p:sp>
        <p:nvSpPr>
          <p:cNvPr id="7" name="Text 4"/>
          <p:cNvSpPr/>
          <p:nvPr/>
        </p:nvSpPr>
        <p:spPr>
          <a:xfrm>
            <a:off x="640080" y="3785616"/>
            <a:ext cx="5212080" cy="731520"/>
          </a:xfrm>
          <a:prstGeom prst="rect">
            <a:avLst/>
          </a:prstGeom>
          <a:noFill/>
          <a:ln/>
        </p:spPr>
        <p:txBody>
          <a:bodyPr wrap="square" lIns="0" tIns="0" rIns="0" bIns="0" rtlCol="0" anchor="ctr"/>
          <a:lstStyle/>
          <a:p>
            <a:pPr indent="0" marL="0">
              <a:lnSpc>
                <a:spcPts val="2100"/>
              </a:lnSpc>
              <a:buNone/>
            </a:pPr>
            <a:r>
              <a:rPr lang="en-US" sz="1500" dirty="0">
                <a:solidFill>
                  <a:srgbClr val="8A94A6"/>
                </a:solidFill>
                <a:latin typeface="Arial" pitchFamily="34" charset="0"/>
                <a:ea typeface="Arial" pitchFamily="34" charset="-122"/>
                <a:cs typeface="Arial" pitchFamily="34" charset="-120"/>
              </a:rPr>
              <a:t>More people at risk on a dark street, so fix it first.</a:t>
            </a:r>
            <a:endParaRPr lang="en-US" sz="1500" dirty="0"/>
          </a:p>
        </p:txBody>
      </p:sp>
      <p:sp>
        <p:nvSpPr>
          <p:cNvPr id="8" name="Shape 5"/>
          <p:cNvSpPr/>
          <p:nvPr/>
        </p:nvSpPr>
        <p:spPr>
          <a:xfrm>
            <a:off x="6345936" y="2962656"/>
            <a:ext cx="5212080" cy="10973"/>
          </a:xfrm>
          <a:prstGeom prst="rect">
            <a:avLst/>
          </a:prstGeom>
          <a:solidFill>
            <a:srgbClr val="252C3A"/>
          </a:solidFill>
          <a:ln w="12700">
            <a:solidFill>
              <a:srgbClr val="333333"/>
            </a:solidFill>
            <a:prstDash val="solid"/>
          </a:ln>
        </p:spPr>
      </p:sp>
      <p:sp>
        <p:nvSpPr>
          <p:cNvPr id="9" name="Text 6"/>
          <p:cNvSpPr/>
          <p:nvPr/>
        </p:nvSpPr>
        <p:spPr>
          <a:xfrm>
            <a:off x="6345936" y="3145536"/>
            <a:ext cx="5212080" cy="566928"/>
          </a:xfrm>
          <a:prstGeom prst="rect">
            <a:avLst/>
          </a:prstGeom>
          <a:noFill/>
          <a:ln/>
        </p:spPr>
        <p:txBody>
          <a:bodyPr wrap="square" lIns="0" tIns="0" rIns="0" bIns="0" rtlCol="0" anchor="ctr"/>
          <a:lstStyle/>
          <a:p>
            <a:pPr indent="0" marL="0">
              <a:lnSpc>
                <a:spcPts val="2400"/>
              </a:lnSpc>
              <a:buNone/>
            </a:pPr>
            <a:r>
              <a:rPr lang="en-US" sz="1700" b="1" dirty="0">
                <a:solidFill>
                  <a:srgbClr val="E8EBF0"/>
                </a:solidFill>
                <a:latin typeface="Arial" pitchFamily="34" charset="0"/>
                <a:ea typeface="Arial" pitchFamily="34" charset="-122"/>
                <a:cs typeface="Arial" pitchFamily="34" charset="-120"/>
              </a:rPr>
              <a:t>In the router, footfall is PROTECTION</a:t>
            </a:r>
            <a:endParaRPr lang="en-US" sz="1700" dirty="0"/>
          </a:p>
        </p:txBody>
      </p:sp>
      <p:sp>
        <p:nvSpPr>
          <p:cNvPr id="10" name="Text 7"/>
          <p:cNvSpPr/>
          <p:nvPr/>
        </p:nvSpPr>
        <p:spPr>
          <a:xfrm>
            <a:off x="6345936" y="3785616"/>
            <a:ext cx="5212080" cy="731520"/>
          </a:xfrm>
          <a:prstGeom prst="rect">
            <a:avLst/>
          </a:prstGeom>
          <a:noFill/>
          <a:ln/>
        </p:spPr>
        <p:txBody>
          <a:bodyPr wrap="square" lIns="0" tIns="0" rIns="0" bIns="0" rtlCol="0" anchor="ctr"/>
          <a:lstStyle/>
          <a:p>
            <a:pPr indent="0" marL="0">
              <a:lnSpc>
                <a:spcPts val="2100"/>
              </a:lnSpc>
              <a:buNone/>
            </a:pPr>
            <a:r>
              <a:rPr lang="en-US" sz="1500" dirty="0">
                <a:solidFill>
                  <a:srgbClr val="8A94A6"/>
                </a:solidFill>
                <a:latin typeface="Arial" pitchFamily="34" charset="0"/>
                <a:ea typeface="Arial" pitchFamily="34" charset="-122"/>
                <a:cs typeface="Arial" pitchFamily="34" charset="-120"/>
              </a:rPr>
              <a:t>Eyes on the street, so prefer it. A bright empty road at 01:00 is not safe.</a:t>
            </a:r>
            <a:endParaRPr lang="en-US" sz="1500" dirty="0"/>
          </a:p>
        </p:txBody>
      </p:sp>
      <p:sp>
        <p:nvSpPr>
          <p:cNvPr id="11" name="Text 8"/>
          <p:cNvSpPr/>
          <p:nvPr/>
        </p:nvSpPr>
        <p:spPr>
          <a:xfrm>
            <a:off x="640080" y="4791456"/>
            <a:ext cx="10908792" cy="822960"/>
          </a:xfrm>
          <a:prstGeom prst="rect">
            <a:avLst/>
          </a:prstGeom>
          <a:noFill/>
          <a:ln/>
        </p:spPr>
        <p:txBody>
          <a:bodyPr wrap="square" lIns="0" tIns="0" rIns="0" bIns="0" rtlCol="0" anchor="ctr"/>
          <a:lstStyle/>
          <a:p>
            <a:pPr indent="0" marL="0">
              <a:lnSpc>
                <a:spcPts val="2300"/>
              </a:lnSpc>
              <a:buNone/>
            </a:pPr>
            <a:r>
              <a:rPr lang="en-US" sz="1600" dirty="0">
                <a:solidFill>
                  <a:srgbClr val="E8EBF0"/>
                </a:solidFill>
                <a:latin typeface="Arial" pitchFamily="34" charset="0"/>
                <a:ea typeface="Arial" pitchFamily="34" charset="-122"/>
                <a:cs typeface="Arial" pitchFamily="34" charset="-120"/>
              </a:rPr>
              <a:t>Same variable, opposite sign, depending on which surface consumes it. Use one sign in both and your router confidently sends a woman down an empty, brightly lit industrial road at one in the morning.</a:t>
            </a:r>
            <a:endParaRPr lang="en-US" sz="1600" dirty="0"/>
          </a:p>
        </p:txBody>
      </p:sp>
      <p:sp>
        <p:nvSpPr>
          <p:cNvPr id="12" name="Text 9"/>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Jane Jacobs, The Death and Life of Great American Cities, 1961 — eyes on the street.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240" kern="0" dirty="0">
                <a:solidFill>
                  <a:srgbClr val="8A94A6"/>
                </a:solidFill>
                <a:latin typeface="Arial" pitchFamily="34" charset="0"/>
                <a:ea typeface="Arial" pitchFamily="34" charset="-122"/>
                <a:cs typeface="Arial" pitchFamily="34" charset="-120"/>
              </a:rPr>
              <a:t>SAME CREW. SAME BUDGET. DIFFERENT ORDER.</a:t>
            </a:r>
            <a:endParaRPr lang="en-US" sz="1200" dirty="0"/>
          </a:p>
        </p:txBody>
      </p:sp>
      <p:sp>
        <p:nvSpPr>
          <p:cNvPr id="4" name="Text 1"/>
          <p:cNvSpPr/>
          <p:nvPr/>
        </p:nvSpPr>
        <p:spPr>
          <a:xfrm>
            <a:off x="640080" y="914400"/>
            <a:ext cx="5486400" cy="2011680"/>
          </a:xfrm>
          <a:prstGeom prst="rect">
            <a:avLst/>
          </a:prstGeom>
          <a:noFill/>
          <a:ln/>
        </p:spPr>
        <p:txBody>
          <a:bodyPr wrap="none" lIns="0" tIns="0" rIns="0" bIns="0" rtlCol="0" anchor="b"/>
          <a:lstStyle/>
          <a:p>
            <a:pPr algn="l" indent="0" marL="0">
              <a:buNone/>
            </a:pPr>
            <a:r>
              <a:rPr lang="en-US" sz="14800" b="1" dirty="0">
                <a:solidFill>
                  <a:srgbClr val="F2A93B"/>
                </a:solidFill>
                <a:latin typeface="Arial" pitchFamily="34" charset="0"/>
                <a:ea typeface="Arial" pitchFamily="34" charset="-122"/>
                <a:cs typeface="Arial" pitchFamily="34" charset="-120"/>
              </a:rPr>
              <a:t>7.7</a:t>
            </a:r>
            <a:pPr algn="l" indent="0" marL="0">
              <a:buNone/>
            </a:pPr>
            <a:r>
              <a:rPr lang="en-US" sz="6500" b="1" dirty="0">
                <a:solidFill>
                  <a:srgbClr val="F2A93B"/>
                </a:solidFill>
                <a:latin typeface="Arial" pitchFamily="34" charset="0"/>
                <a:ea typeface="Arial" pitchFamily="34" charset="-122"/>
                <a:cs typeface="Arial" pitchFamily="34" charset="-120"/>
              </a:rPr>
              <a:t>×</a:t>
            </a:r>
            <a:endParaRPr lang="en-US" sz="14800" dirty="0"/>
          </a:p>
        </p:txBody>
      </p:sp>
      <p:sp>
        <p:nvSpPr>
          <p:cNvPr id="5" name="Text 2"/>
          <p:cNvSpPr/>
          <p:nvPr/>
        </p:nvSpPr>
        <p:spPr>
          <a:xfrm>
            <a:off x="640080" y="3072384"/>
            <a:ext cx="4937760" cy="2103120"/>
          </a:xfrm>
          <a:prstGeom prst="rect">
            <a:avLst/>
          </a:prstGeom>
          <a:noFill/>
          <a:ln/>
        </p:spPr>
        <p:txBody>
          <a:bodyPr wrap="square" lIns="0" tIns="0" rIns="0" bIns="0" rtlCol="0" anchor="t"/>
          <a:lstStyle/>
          <a:p>
            <a:pPr indent="0" marL="0">
              <a:lnSpc>
                <a:spcPts val="2400"/>
              </a:lnSpc>
              <a:buNone/>
            </a:pPr>
            <a:r>
              <a:rPr lang="en-US" sz="1650" dirty="0">
                <a:solidFill>
                  <a:srgbClr val="E8EBF0"/>
                </a:solidFill>
                <a:latin typeface="Arial" pitchFamily="34" charset="0"/>
                <a:ea typeface="Arial" pitchFamily="34" charset="-122"/>
                <a:cs typeface="Arial" pitchFamily="34" charset="-120"/>
              </a:rPr>
              <a:t>A crew can complete 40 repairs this week. Roshni’s 40 restore </a:t>
            </a:r>
            <a:pPr indent="0" marL="0">
              <a:lnSpc>
                <a:spcPts val="2400"/>
              </a:lnSpc>
              <a:buNone/>
            </a:pPr>
            <a:r>
              <a:rPr lang="en-US" sz="1650" b="1" dirty="0">
                <a:solidFill>
                  <a:srgbClr val="E8EBF0"/>
                </a:solidFill>
                <a:latin typeface="Arial" pitchFamily="34" charset="0"/>
                <a:ea typeface="Arial" pitchFamily="34" charset="-122"/>
                <a:cs typeface="Arial" pitchFamily="34" charset="-120"/>
              </a:rPr>
              <a:t>7.7× the exposed pedestrian-kilometres</a:t>
            </a:r>
            <a:pPr indent="0" marL="0">
              <a:lnSpc>
                <a:spcPts val="2400"/>
              </a:lnSpc>
              <a:buNone/>
            </a:pPr>
            <a:r>
              <a:rPr lang="en-US" sz="1650" dirty="0">
                <a:solidFill>
                  <a:srgbClr val="E8EBF0"/>
                </a:solidFill>
                <a:latin typeface="Arial" pitchFamily="34" charset="0"/>
                <a:ea typeface="Arial" pitchFamily="34" charset="-122"/>
                <a:cs typeface="Arial" pitchFamily="34" charset="-120"/>
              </a:rPr>
              <a:t> that the complaint queue’s first 40 restore.
</a:t>
            </a:r>
            <a:pPr indent="0" marL="0">
              <a:lnSpc>
                <a:spcPts val="2400"/>
              </a:lnSpc>
              <a:buNone/>
            </a:pPr>
            <a:r>
              <a:rPr lang="en-US" sz="1650" b="1" dirty="0">
                <a:solidFill>
                  <a:srgbClr val="F2A93B"/>
                </a:solidFill>
                <a:latin typeface="Arial" pitchFamily="34" charset="0"/>
                <a:ea typeface="Arial" pitchFamily="34" charset="-122"/>
                <a:cs typeface="Arial" pitchFamily="34" charset="-120"/>
              </a:rPr>
              <a:t>The gain is not from being cleverer inside a ward.</a:t>
            </a:r>
            <a:endParaRPr lang="en-US" sz="1650" dirty="0"/>
          </a:p>
          <a:p>
            <a:pPr indent="0" marL="0">
              <a:lnSpc>
                <a:spcPts val="2400"/>
              </a:lnSpc>
              <a:buNone/>
            </a:pPr>
            <a:r>
              <a:rPr lang="en-US" sz="1650" b="1" dirty="0">
                <a:solidFill>
                  <a:srgbClr val="F2A93B"/>
                </a:solidFill>
                <a:latin typeface="Arial" pitchFamily="34" charset="0"/>
                <a:ea typeface="Arial" pitchFamily="34" charset="-122"/>
                <a:cs typeface="Arial" pitchFamily="34" charset="-120"/>
              </a:rPr>
              <a:t>It is from visiting the right wards.</a:t>
            </a:r>
            <a:endParaRPr lang="en-US" sz="1650" dirty="0"/>
          </a:p>
        </p:txBody>
      </p:sp>
      <p:pic>
        <p:nvPicPr>
          <p:cNvPr id="6" name="Image 0" descr="assets/chart-counterfactual.png">    </p:cNvPr>
          <p:cNvPicPr>
            <a:picLocks noChangeAspect="1"/>
          </p:cNvPicPr>
          <p:nvPr/>
        </p:nvPicPr>
        <p:blipFill>
          <a:blip r:embed="rId1"/>
          <a:stretch>
            <a:fillRect/>
          </a:stretch>
        </p:blipFill>
        <p:spPr>
          <a:xfrm>
            <a:off x="5943600" y="1207008"/>
            <a:ext cx="5605272" cy="2057400"/>
          </a:xfrm>
          <a:prstGeom prst="rect">
            <a:avLst/>
          </a:prstGeom>
        </p:spPr>
      </p:pic>
      <p:sp>
        <p:nvSpPr>
          <p:cNvPr id="7" name="Text 3"/>
          <p:cNvSpPr/>
          <p:nvPr/>
        </p:nvSpPr>
        <p:spPr>
          <a:xfrm>
            <a:off x="5943600" y="3419856"/>
            <a:ext cx="5605272" cy="274320"/>
          </a:xfrm>
          <a:prstGeom prst="rect">
            <a:avLst/>
          </a:prstGeom>
          <a:noFill/>
          <a:ln/>
        </p:spPr>
        <p:txBody>
          <a:bodyPr wrap="square" lIns="0" tIns="0" rIns="0" bIns="0" rtlCol="0" anchor="ctr"/>
          <a:lstStyle/>
          <a:p>
            <a:pPr indent="0" marL="0">
              <a:buNone/>
            </a:pPr>
            <a:r>
              <a:rPr lang="en-US" sz="1200" b="1" spc="160" kern="0" dirty="0">
                <a:solidFill>
                  <a:srgbClr val="8A94A6"/>
                </a:solidFill>
                <a:latin typeface="Arial" pitchFamily="34" charset="0"/>
                <a:ea typeface="Arial" pitchFamily="34" charset="-122"/>
                <a:cs typeface="Arial" pitchFamily="34" charset="-120"/>
              </a:rPr>
              <a:t>Stress-tested four ways, volunteered</a:t>
            </a:r>
            <a:endParaRPr lang="en-US" sz="1200" dirty="0"/>
          </a:p>
        </p:txBody>
      </p:sp>
      <p:sp>
        <p:nvSpPr>
          <p:cNvPr id="8" name="Shape 4"/>
          <p:cNvSpPr/>
          <p:nvPr/>
        </p:nvSpPr>
        <p:spPr>
          <a:xfrm>
            <a:off x="5943600" y="3712464"/>
            <a:ext cx="5605272" cy="10973"/>
          </a:xfrm>
          <a:prstGeom prst="rect">
            <a:avLst/>
          </a:prstGeom>
          <a:solidFill>
            <a:srgbClr val="252C3A"/>
          </a:solidFill>
          <a:ln w="12700">
            <a:solidFill>
              <a:srgbClr val="333333"/>
            </a:solidFill>
            <a:prstDash val="solid"/>
          </a:ln>
        </p:spPr>
      </p:sp>
      <p:sp>
        <p:nvSpPr>
          <p:cNvPr id="9" name="Text 5"/>
          <p:cNvSpPr/>
          <p:nvPr/>
        </p:nvSpPr>
        <p:spPr>
          <a:xfrm>
            <a:off x="5943600" y="3803904"/>
            <a:ext cx="4800600" cy="420624"/>
          </a:xfrm>
          <a:prstGeom prst="rect">
            <a:avLst/>
          </a:prstGeom>
          <a:noFill/>
          <a:ln/>
        </p:spPr>
        <p:txBody>
          <a:bodyPr wrap="square" lIns="0" tIns="0" rIns="0" bIns="0" rtlCol="0" anchor="ctr"/>
          <a:lstStyle/>
          <a:p>
            <a:pPr indent="0" marL="0">
              <a:lnSpc>
                <a:spcPts val="1600"/>
              </a:lnSpc>
              <a:buNone/>
            </a:pPr>
            <a:r>
              <a:rPr lang="en-US" sz="1250" dirty="0">
                <a:solidFill>
                  <a:srgbClr val="E8EBF0"/>
                </a:solidFill>
                <a:latin typeface="Arial" pitchFamily="34" charset="0"/>
                <a:ea typeface="Arial" pitchFamily="34" charset="-122"/>
                <a:cs typeface="Arial" pitchFamily="34" charset="-120"/>
              </a:rPr>
              <a:t>vs the luckiest of 300 complaint-order draws</a:t>
            </a:r>
            <a:endParaRPr lang="en-US" sz="1250" dirty="0"/>
          </a:p>
        </p:txBody>
      </p:sp>
      <p:sp>
        <p:nvSpPr>
          <p:cNvPr id="10" name="Text 6"/>
          <p:cNvSpPr/>
          <p:nvPr/>
        </p:nvSpPr>
        <p:spPr>
          <a:xfrm>
            <a:off x="10652760" y="3803904"/>
            <a:ext cx="896112" cy="384048"/>
          </a:xfrm>
          <a:prstGeom prst="rect">
            <a:avLst/>
          </a:prstGeom>
          <a:noFill/>
          <a:ln/>
        </p:spPr>
        <p:txBody>
          <a:bodyPr wrap="square" lIns="0" tIns="0" rIns="0" bIns="0" rtlCol="0" anchor="ctr"/>
          <a:lstStyle/>
          <a:p>
            <a:pPr algn="r" indent="0" marL="0">
              <a:buNone/>
            </a:pPr>
            <a:r>
              <a:rPr lang="en-US" sz="1600" b="1" dirty="0">
                <a:solidFill>
                  <a:srgbClr val="E8EBF0"/>
                </a:solidFill>
                <a:latin typeface="Arial" pitchFamily="34" charset="0"/>
                <a:ea typeface="Arial" pitchFamily="34" charset="-122"/>
                <a:cs typeface="Arial" pitchFamily="34" charset="-120"/>
              </a:rPr>
              <a:t>4.9×</a:t>
            </a:r>
            <a:endParaRPr lang="en-US" sz="1600" dirty="0"/>
          </a:p>
        </p:txBody>
      </p:sp>
      <p:sp>
        <p:nvSpPr>
          <p:cNvPr id="11" name="Shape 7"/>
          <p:cNvSpPr/>
          <p:nvPr/>
        </p:nvSpPr>
        <p:spPr>
          <a:xfrm>
            <a:off x="5943600" y="4261104"/>
            <a:ext cx="5605272" cy="10973"/>
          </a:xfrm>
          <a:prstGeom prst="rect">
            <a:avLst/>
          </a:prstGeom>
          <a:solidFill>
            <a:srgbClr val="252C3A"/>
          </a:solidFill>
          <a:ln w="12700">
            <a:solidFill>
              <a:srgbClr val="333333"/>
            </a:solidFill>
            <a:prstDash val="solid"/>
          </a:ln>
        </p:spPr>
      </p:sp>
      <p:sp>
        <p:nvSpPr>
          <p:cNvPr id="12" name="Text 8"/>
          <p:cNvSpPr/>
          <p:nvPr/>
        </p:nvSpPr>
        <p:spPr>
          <a:xfrm>
            <a:off x="5943600" y="4352544"/>
            <a:ext cx="4800600" cy="420624"/>
          </a:xfrm>
          <a:prstGeom prst="rect">
            <a:avLst/>
          </a:prstGeom>
          <a:noFill/>
          <a:ln/>
        </p:spPr>
        <p:txBody>
          <a:bodyPr wrap="square" lIns="0" tIns="0" rIns="0" bIns="0" rtlCol="0" anchor="ctr"/>
          <a:lstStyle/>
          <a:p>
            <a:pPr indent="0" marL="0">
              <a:lnSpc>
                <a:spcPts val="1600"/>
              </a:lnSpc>
              <a:buNone/>
            </a:pPr>
            <a:r>
              <a:rPr lang="en-US" sz="1250" dirty="0">
                <a:solidFill>
                  <a:srgbClr val="E8EBF0"/>
                </a:solidFill>
                <a:latin typeface="Arial" pitchFamily="34" charset="0"/>
                <a:ea typeface="Arial" pitchFamily="34" charset="-122"/>
                <a:cs typeface="Arial" pitchFamily="34" charset="-120"/>
              </a:rPr>
              <a:t>vs a steelman BBMP picking the worst segment in every ward it visits</a:t>
            </a:r>
            <a:endParaRPr lang="en-US" sz="1250" dirty="0"/>
          </a:p>
        </p:txBody>
      </p:sp>
      <p:sp>
        <p:nvSpPr>
          <p:cNvPr id="13" name="Text 9"/>
          <p:cNvSpPr/>
          <p:nvPr/>
        </p:nvSpPr>
        <p:spPr>
          <a:xfrm>
            <a:off x="10652760" y="4352544"/>
            <a:ext cx="896112" cy="384048"/>
          </a:xfrm>
          <a:prstGeom prst="rect">
            <a:avLst/>
          </a:prstGeom>
          <a:noFill/>
          <a:ln/>
        </p:spPr>
        <p:txBody>
          <a:bodyPr wrap="square" lIns="0" tIns="0" rIns="0" bIns="0" rtlCol="0" anchor="ctr"/>
          <a:lstStyle/>
          <a:p>
            <a:pPr algn="r" indent="0" marL="0">
              <a:buNone/>
            </a:pPr>
            <a:r>
              <a:rPr lang="en-US" sz="1600" b="1" dirty="0">
                <a:solidFill>
                  <a:srgbClr val="F2A93B"/>
                </a:solidFill>
                <a:latin typeface="Arial" pitchFamily="34" charset="0"/>
                <a:ea typeface="Arial" pitchFamily="34" charset="-122"/>
                <a:cs typeface="Arial" pitchFamily="34" charset="-120"/>
              </a:rPr>
              <a:t>1.9×</a:t>
            </a:r>
            <a:endParaRPr lang="en-US" sz="1600" dirty="0"/>
          </a:p>
        </p:txBody>
      </p:sp>
      <p:sp>
        <p:nvSpPr>
          <p:cNvPr id="14" name="Shape 10"/>
          <p:cNvSpPr/>
          <p:nvPr/>
        </p:nvSpPr>
        <p:spPr>
          <a:xfrm>
            <a:off x="5943600" y="4809744"/>
            <a:ext cx="5605272" cy="10973"/>
          </a:xfrm>
          <a:prstGeom prst="rect">
            <a:avLst/>
          </a:prstGeom>
          <a:solidFill>
            <a:srgbClr val="252C3A"/>
          </a:solidFill>
          <a:ln w="12700">
            <a:solidFill>
              <a:srgbClr val="333333"/>
            </a:solidFill>
            <a:prstDash val="solid"/>
          </a:ln>
        </p:spPr>
      </p:sp>
      <p:sp>
        <p:nvSpPr>
          <p:cNvPr id="15" name="Text 11"/>
          <p:cNvSpPr/>
          <p:nvPr/>
        </p:nvSpPr>
        <p:spPr>
          <a:xfrm>
            <a:off x="5943600" y="4901184"/>
            <a:ext cx="4800600" cy="420624"/>
          </a:xfrm>
          <a:prstGeom prst="rect">
            <a:avLst/>
          </a:prstGeom>
          <a:noFill/>
          <a:ln/>
        </p:spPr>
        <p:txBody>
          <a:bodyPr wrap="square" lIns="0" tIns="0" rIns="0" bIns="0" rtlCol="0" anchor="ctr"/>
          <a:lstStyle/>
          <a:p>
            <a:pPr indent="0" marL="0">
              <a:lnSpc>
                <a:spcPts val="1600"/>
              </a:lnSpc>
              <a:buNone/>
            </a:pPr>
            <a:r>
              <a:rPr lang="en-US" sz="1250" dirty="0">
                <a:solidFill>
                  <a:srgbClr val="E8EBF0"/>
                </a:solidFill>
                <a:latin typeface="Arial" pitchFamily="34" charset="0"/>
                <a:ea typeface="Arial" pitchFamily="34" charset="-122"/>
                <a:cs typeface="Arial" pitchFamily="34" charset="-120"/>
              </a:rPr>
              <a:t>restricted to only the wards where we hold lamp labels</a:t>
            </a:r>
            <a:endParaRPr lang="en-US" sz="1250" dirty="0"/>
          </a:p>
        </p:txBody>
      </p:sp>
      <p:sp>
        <p:nvSpPr>
          <p:cNvPr id="16" name="Text 12"/>
          <p:cNvSpPr/>
          <p:nvPr/>
        </p:nvSpPr>
        <p:spPr>
          <a:xfrm>
            <a:off x="10652760" y="4901184"/>
            <a:ext cx="896112" cy="384048"/>
          </a:xfrm>
          <a:prstGeom prst="rect">
            <a:avLst/>
          </a:prstGeom>
          <a:noFill/>
          <a:ln/>
        </p:spPr>
        <p:txBody>
          <a:bodyPr wrap="square" lIns="0" tIns="0" rIns="0" bIns="0" rtlCol="0" anchor="ctr"/>
          <a:lstStyle/>
          <a:p>
            <a:pPr algn="r" indent="0" marL="0">
              <a:buNone/>
            </a:pPr>
            <a:r>
              <a:rPr lang="en-US" sz="1600" b="1" dirty="0">
                <a:solidFill>
                  <a:srgbClr val="E8EBF0"/>
                </a:solidFill>
                <a:latin typeface="Arial" pitchFamily="34" charset="0"/>
                <a:ea typeface="Arial" pitchFamily="34" charset="-122"/>
                <a:cs typeface="Arial" pitchFamily="34" charset="-120"/>
              </a:rPr>
              <a:t>6.4×</a:t>
            </a:r>
            <a:endParaRPr lang="en-US" sz="1600" dirty="0"/>
          </a:p>
        </p:txBody>
      </p:sp>
      <p:sp>
        <p:nvSpPr>
          <p:cNvPr id="17" name="Shape 13"/>
          <p:cNvSpPr/>
          <p:nvPr/>
        </p:nvSpPr>
        <p:spPr>
          <a:xfrm>
            <a:off x="5943600" y="5358384"/>
            <a:ext cx="5605272" cy="10973"/>
          </a:xfrm>
          <a:prstGeom prst="rect">
            <a:avLst/>
          </a:prstGeom>
          <a:solidFill>
            <a:srgbClr val="252C3A"/>
          </a:solidFill>
          <a:ln w="12700">
            <a:solidFill>
              <a:srgbClr val="333333"/>
            </a:solidFill>
            <a:prstDash val="solid"/>
          </a:ln>
        </p:spPr>
      </p:sp>
      <p:sp>
        <p:nvSpPr>
          <p:cNvPr id="18" name="Text 14"/>
          <p:cNvSpPr/>
          <p:nvPr/>
        </p:nvSpPr>
        <p:spPr>
          <a:xfrm>
            <a:off x="5943600" y="5449824"/>
            <a:ext cx="4800600" cy="420624"/>
          </a:xfrm>
          <a:prstGeom prst="rect">
            <a:avLst/>
          </a:prstGeom>
          <a:noFill/>
          <a:ln/>
        </p:spPr>
        <p:txBody>
          <a:bodyPr wrap="square" lIns="0" tIns="0" rIns="0" bIns="0" rtlCol="0" anchor="ctr"/>
          <a:lstStyle/>
          <a:p>
            <a:pPr indent="0" marL="0">
              <a:lnSpc>
                <a:spcPts val="1600"/>
              </a:lnSpc>
              <a:buNone/>
            </a:pPr>
            <a:r>
              <a:rPr lang="en-US" sz="1250" dirty="0">
                <a:solidFill>
                  <a:srgbClr val="E8EBF0"/>
                </a:solidFill>
                <a:latin typeface="Arial" pitchFamily="34" charset="0"/>
                <a:ea typeface="Arial" pitchFamily="34" charset="-122"/>
                <a:cs typeface="Arial" pitchFamily="34" charset="-120"/>
              </a:rPr>
              <a:t>every lamp label deleted — ward prior × exposure alone</a:t>
            </a:r>
            <a:endParaRPr lang="en-US" sz="1250" dirty="0"/>
          </a:p>
        </p:txBody>
      </p:sp>
      <p:sp>
        <p:nvSpPr>
          <p:cNvPr id="19" name="Text 15"/>
          <p:cNvSpPr/>
          <p:nvPr/>
        </p:nvSpPr>
        <p:spPr>
          <a:xfrm>
            <a:off x="10652760" y="5449824"/>
            <a:ext cx="896112" cy="384048"/>
          </a:xfrm>
          <a:prstGeom prst="rect">
            <a:avLst/>
          </a:prstGeom>
          <a:noFill/>
          <a:ln/>
        </p:spPr>
        <p:txBody>
          <a:bodyPr wrap="square" lIns="0" tIns="0" rIns="0" bIns="0" rtlCol="0" anchor="ctr"/>
          <a:lstStyle/>
          <a:p>
            <a:pPr algn="r" indent="0" marL="0">
              <a:buNone/>
            </a:pPr>
            <a:r>
              <a:rPr lang="en-US" sz="1600" b="1" dirty="0">
                <a:solidFill>
                  <a:srgbClr val="E8EBF0"/>
                </a:solidFill>
                <a:latin typeface="Arial" pitchFamily="34" charset="0"/>
                <a:ea typeface="Arial" pitchFamily="34" charset="-122"/>
                <a:cs typeface="Arial" pitchFamily="34" charset="-120"/>
              </a:rPr>
              <a:t>5.4×</a:t>
            </a:r>
            <a:endParaRPr lang="en-US" sz="1600" dirty="0"/>
          </a:p>
        </p:txBody>
      </p:sp>
      <p:sp>
        <p:nvSpPr>
          <p:cNvPr id="20" name="Text 16"/>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11,029 segments · 1,180 km · 33 wards · locked ORR demo bbox. Objective Σ exposure × P(dark) × length. 300 draws. out/stats.json.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2800" b="1" dirty="0">
                <a:solidFill>
                  <a:srgbClr val="E8EBF0"/>
                </a:solidFill>
                <a:latin typeface="Arial" pitchFamily="34" charset="0"/>
                <a:ea typeface="Arial" pitchFamily="34" charset="-122"/>
                <a:cs typeface="Arial" pitchFamily="34" charset="-120"/>
              </a:rPr>
              <a:t>The municipal queue</a:t>
            </a:r>
            <a:endParaRPr lang="en-US" sz="2800" dirty="0"/>
          </a:p>
        </p:txBody>
      </p:sp>
      <p:pic>
        <p:nvPicPr>
          <p:cNvPr id="4" name="Image 0" descr="assets/screen-queue.png">    </p:cNvPr>
          <p:cNvPicPr>
            <a:picLocks noChangeAspect="1"/>
          </p:cNvPicPr>
          <p:nvPr/>
        </p:nvPicPr>
        <p:blipFill>
          <a:blip r:embed="rId1"/>
          <a:stretch>
            <a:fillRect/>
          </a:stretch>
        </p:blipFill>
        <p:spPr>
          <a:xfrm>
            <a:off x="640080" y="1591056"/>
            <a:ext cx="10908792" cy="3959352"/>
          </a:xfrm>
          <a:prstGeom prst="rect">
            <a:avLst/>
          </a:prstGeom>
        </p:spPr>
      </p:pic>
      <p:sp>
        <p:nvSpPr>
          <p:cNvPr id="5" name="Text 1"/>
          <p:cNvSpPr/>
          <p:nvPr/>
        </p:nvSpPr>
        <p:spPr>
          <a:xfrm>
            <a:off x="640080" y="5779008"/>
            <a:ext cx="10908792" cy="274320"/>
          </a:xfrm>
          <a:prstGeom prst="rect">
            <a:avLst/>
          </a:prstGeom>
          <a:noFill/>
          <a:ln/>
        </p:spPr>
        <p:txBody>
          <a:bodyPr wrap="square" lIns="0" tIns="0" rIns="0" bIns="0" rtlCol="0" anchor="ctr"/>
          <a:lstStyle/>
          <a:p>
            <a:pPr indent="0" marL="0">
              <a:buNone/>
            </a:pPr>
            <a:r>
              <a:rPr lang="en-US" sz="1200" b="1" dirty="0">
                <a:solidFill>
                  <a:srgbClr val="F2A93B"/>
                </a:solidFill>
                <a:latin typeface="Arial" pitchFamily="34" charset="0"/>
                <a:ea typeface="Arial" pitchFamily="34" charset="-122"/>
                <a:cs typeface="Arial" pitchFamily="34" charset="-120"/>
              </a:rPr>
              <a:t>The ratio, live</a:t>
            </a:r>
            <a:pPr indent="0" marL="0">
              <a:buNone/>
            </a:pPr>
            <a:r>
              <a:rPr lang="en-US" sz="1200" dirty="0">
                <a:solidFill>
                  <a:srgbClr val="E8EBF0"/>
                </a:solidFill>
                <a:latin typeface="Arial" pitchFamily="34" charset="0"/>
                <a:ea typeface="Arial" pitchFamily="34" charset="-122"/>
                <a:cs typeface="Arial" pitchFamily="34" charset="-120"/>
              </a:rPr>
              <a:t>  — the budget slider recomputes in the browser.    </a:t>
            </a:r>
            <a:pPr indent="0" marL="0">
              <a:buNone/>
            </a:pPr>
            <a:r>
              <a:rPr lang="en-US" sz="1200" b="1" dirty="0">
                <a:solidFill>
                  <a:srgbClr val="E8EBF0"/>
                </a:solidFill>
                <a:latin typeface="Arial" pitchFamily="34" charset="0"/>
                <a:ea typeface="Arial" pitchFamily="34" charset="-122"/>
                <a:cs typeface="Arial" pitchFamily="34" charset="-120"/>
              </a:rPr>
              <a:t>Municipal priorities</a:t>
            </a:r>
            <a:pPr indent="0" marL="0">
              <a:buNone/>
            </a:pPr>
            <a:r>
              <a:rPr lang="en-US" sz="1200" dirty="0">
                <a:solidFill>
                  <a:srgbClr val="E8EBF0"/>
                </a:solidFill>
                <a:latin typeface="Arial" pitchFamily="34" charset="0"/>
                <a:ea typeface="Arial" pitchFamily="34" charset="-122"/>
                <a:cs typeface="Arial" pitchFamily="34" charset="-120"/>
              </a:rPr>
              <a:t>  — the municipality’s to set, not ours.    </a:t>
            </a:r>
            <a:pPr indent="0" marL="0">
              <a:buNone/>
            </a:pPr>
            <a:r>
              <a:rPr lang="en-US" sz="1200" b="1" dirty="0">
                <a:solidFill>
                  <a:srgbClr val="E8EBF0"/>
                </a:solidFill>
                <a:latin typeface="Arial" pitchFamily="34" charset="0"/>
                <a:ea typeface="Arial" pitchFamily="34" charset="-122"/>
                <a:cs typeface="Arial" pitchFamily="34" charset="-120"/>
              </a:rPr>
              <a:t>Confidence is marked</a:t>
            </a:r>
            <a:pPr indent="0" marL="0">
              <a:buNone/>
            </a:pPr>
            <a:r>
              <a:rPr lang="en-US" sz="1200" dirty="0">
                <a:solidFill>
                  <a:srgbClr val="E8EBF0"/>
                </a:solidFill>
                <a:latin typeface="Arial" pitchFamily="34" charset="0"/>
                <a:ea typeface="Arial" pitchFamily="34" charset="-122"/>
                <a:cs typeface="Arial" pitchFamily="34" charset="-120"/>
              </a:rPr>
              <a:t>  — low-confidence rows are hatched, not hidden.</a:t>
            </a:r>
            <a:endParaRPr lang="en-US" sz="1200" dirty="0"/>
          </a:p>
        </p:txBody>
      </p:sp>
      <p:sp>
        <p:nvSpPr>
          <p:cNvPr id="6" name="Text 2"/>
          <p:cNvSpPr/>
          <p:nvPr/>
        </p:nvSpPr>
        <p:spPr>
          <a:xfrm>
            <a:off x="640080" y="6272784"/>
            <a:ext cx="10908792" cy="274320"/>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Prototype, running client-side on the fixture export. No network call on the demo path.</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2800" b="1" dirty="0">
                <a:solidFill>
                  <a:srgbClr val="E8EBF0"/>
                </a:solidFill>
                <a:latin typeface="Arial" pitchFamily="34" charset="0"/>
                <a:ea typeface="Arial" pitchFamily="34" charset="-122"/>
                <a:cs typeface="Arial" pitchFamily="34" charset="-120"/>
              </a:rPr>
              <a:t>Both routes. Always.</a:t>
            </a:r>
            <a:endParaRPr lang="en-US" sz="2800" dirty="0"/>
          </a:p>
        </p:txBody>
      </p:sp>
      <p:pic>
        <p:nvPicPr>
          <p:cNvPr id="4" name="Image 0" descr="assets/screen-route.png">    </p:cNvPr>
          <p:cNvPicPr>
            <a:picLocks noChangeAspect="1"/>
          </p:cNvPicPr>
          <p:nvPr/>
        </p:nvPicPr>
        <p:blipFill>
          <a:blip r:embed="rId1"/>
          <a:stretch>
            <a:fillRect/>
          </a:stretch>
        </p:blipFill>
        <p:spPr>
          <a:xfrm>
            <a:off x="640080" y="1371600"/>
            <a:ext cx="3858768" cy="4681728"/>
          </a:xfrm>
          <a:prstGeom prst="rect">
            <a:avLst/>
          </a:prstGeom>
        </p:spPr>
      </p:pic>
      <p:sp>
        <p:nvSpPr>
          <p:cNvPr id="5" name="Shape 1"/>
          <p:cNvSpPr/>
          <p:nvPr/>
        </p:nvSpPr>
        <p:spPr>
          <a:xfrm>
            <a:off x="4773168" y="1371600"/>
            <a:ext cx="10973" cy="4681728"/>
          </a:xfrm>
          <a:prstGeom prst="rect">
            <a:avLst/>
          </a:prstGeom>
          <a:solidFill>
            <a:srgbClr val="252C3A"/>
          </a:solidFill>
          <a:ln w="12700">
            <a:solidFill>
              <a:srgbClr val="333333"/>
            </a:solidFill>
            <a:prstDash val="solid"/>
          </a:ln>
        </p:spPr>
      </p:sp>
      <p:sp>
        <p:nvSpPr>
          <p:cNvPr id="6" name="Text 2"/>
          <p:cNvSpPr/>
          <p:nvPr/>
        </p:nvSpPr>
        <p:spPr>
          <a:xfrm>
            <a:off x="5102352" y="1426464"/>
            <a:ext cx="3108960" cy="2194560"/>
          </a:xfrm>
          <a:prstGeom prst="rect">
            <a:avLst/>
          </a:prstGeom>
          <a:noFill/>
          <a:ln/>
        </p:spPr>
        <p:txBody>
          <a:bodyPr wrap="square" lIns="0" tIns="0" rIns="0" bIns="0" rtlCol="0" anchor="t"/>
          <a:lstStyle/>
          <a:p>
            <a:pPr indent="0" marL="0">
              <a:lnSpc>
                <a:spcPts val="2000"/>
              </a:lnSpc>
              <a:buNone/>
            </a:pPr>
            <a:r>
              <a:rPr lang="en-US" sz="1400" dirty="0">
                <a:solidFill>
                  <a:srgbClr val="E8EBF0"/>
                </a:solidFill>
                <a:latin typeface="Arial" pitchFamily="34" charset="0"/>
                <a:ea typeface="Arial" pitchFamily="34" charset="-122"/>
                <a:cs typeface="Arial" pitchFamily="34" charset="-120"/>
              </a:rPr>
              <a:t>Shortest:  1,575 m, and 63% of it crosses ground we are not confident about.
</a:t>
            </a:r>
            <a:pPr indent="0" marL="0">
              <a:lnSpc>
                <a:spcPts val="2000"/>
              </a:lnSpc>
              <a:buNone/>
            </a:pPr>
            <a:r>
              <a:rPr lang="en-US" sz="1400" dirty="0">
                <a:solidFill>
                  <a:srgbClr val="E8EBF0"/>
                </a:solidFill>
                <a:latin typeface="Arial" pitchFamily="34" charset="0"/>
                <a:ea typeface="Arial" pitchFamily="34" charset="-122"/>
                <a:cs typeface="Arial" pitchFamily="34" charset="-120"/>
              </a:rPr>
              <a:t>Safer:  2,021 m, 7% unknown — it routes around 18 low-confidence segments.
</a:t>
            </a:r>
            <a:pPr indent="0" marL="0">
              <a:lnSpc>
                <a:spcPts val="2000"/>
              </a:lnSpc>
              <a:buNone/>
            </a:pPr>
            <a:r>
              <a:rPr lang="en-US" sz="1400" b="1" dirty="0">
                <a:solidFill>
                  <a:srgbClr val="F2A93B"/>
                </a:solidFill>
                <a:latin typeface="Arial" pitchFamily="34" charset="0"/>
                <a:ea typeface="Arial" pitchFamily="34" charset="-122"/>
                <a:cs typeface="Arial" pitchFamily="34" charset="-120"/>
              </a:rPr>
              <a:t>Six minutes to walk on ground we actually have data for.</a:t>
            </a:r>
            <a:endParaRPr lang="en-US" sz="1400" dirty="0"/>
          </a:p>
        </p:txBody>
      </p:sp>
      <p:sp>
        <p:nvSpPr>
          <p:cNvPr id="7" name="Text 3"/>
          <p:cNvSpPr/>
          <p:nvPr/>
        </p:nvSpPr>
        <p:spPr>
          <a:xfrm>
            <a:off x="5102352" y="3877056"/>
            <a:ext cx="3108960" cy="1371600"/>
          </a:xfrm>
          <a:prstGeom prst="rect">
            <a:avLst/>
          </a:prstGeom>
          <a:noFill/>
          <a:ln/>
        </p:spPr>
        <p:txBody>
          <a:bodyPr wrap="square" lIns="0" tIns="0" rIns="0" bIns="0" rtlCol="0" anchor="ctr"/>
          <a:lstStyle/>
          <a:p>
            <a:pPr indent="0" marL="0">
              <a:lnSpc>
                <a:spcPts val="1900"/>
              </a:lnSpc>
              <a:buNone/>
            </a:pPr>
            <a:r>
              <a:rPr lang="en-US" sz="1250" dirty="0">
                <a:solidFill>
                  <a:srgbClr val="8A94A6"/>
                </a:solidFill>
                <a:latin typeface="Arial" pitchFamily="34" charset="0"/>
                <a:ea typeface="Arial" pitchFamily="34" charset="-122"/>
                <a:cs typeface="Arial" pitchFamily="34" charset="-120"/>
              </a:rPr>
              <a:t>The shortest route is always shown beside the safer one. We do not auto-select and we do not hide it — the choice is the walker’s, and we say plainly which stretches we have no data for.</a:t>
            </a:r>
            <a:endParaRPr lang="en-US" sz="1250" dirty="0"/>
          </a:p>
        </p:txBody>
      </p:sp>
      <p:sp>
        <p:nvSpPr>
          <p:cNvPr id="8" name="Shape 4"/>
          <p:cNvSpPr/>
          <p:nvPr/>
        </p:nvSpPr>
        <p:spPr>
          <a:xfrm>
            <a:off x="8467344" y="1371600"/>
            <a:ext cx="10973" cy="4681728"/>
          </a:xfrm>
          <a:prstGeom prst="rect">
            <a:avLst/>
          </a:prstGeom>
          <a:solidFill>
            <a:srgbClr val="252C3A"/>
          </a:solidFill>
          <a:ln w="12700">
            <a:solidFill>
              <a:srgbClr val="333333"/>
            </a:solidFill>
            <a:prstDash val="solid"/>
          </a:ln>
        </p:spPr>
      </p:sp>
      <p:sp>
        <p:nvSpPr>
          <p:cNvPr id="9" name="Text 5"/>
          <p:cNvSpPr/>
          <p:nvPr/>
        </p:nvSpPr>
        <p:spPr>
          <a:xfrm>
            <a:off x="8814816" y="1426464"/>
            <a:ext cx="2734056" cy="548640"/>
          </a:xfrm>
          <a:prstGeom prst="rect">
            <a:avLst/>
          </a:prstGeom>
          <a:noFill/>
          <a:ln/>
        </p:spPr>
        <p:txBody>
          <a:bodyPr wrap="square" lIns="0" tIns="0" rIns="0" bIns="0" rtlCol="0" anchor="ctr"/>
          <a:lstStyle/>
          <a:p>
            <a:pPr indent="0" marL="0">
              <a:lnSpc>
                <a:spcPts val="2600"/>
              </a:lnSpc>
              <a:buNone/>
            </a:pPr>
            <a:r>
              <a:rPr lang="en-US" sz="1900" b="1" dirty="0">
                <a:solidFill>
                  <a:srgbClr val="E8EBF0"/>
                </a:solidFill>
                <a:latin typeface="Arial" pitchFamily="34" charset="0"/>
                <a:ea typeface="Arial" pitchFamily="34" charset="-122"/>
                <a:cs typeface="Arial" pitchFamily="34" charset="-120"/>
              </a:rPr>
              <a:t>Routing cannot fix the worst streets</a:t>
            </a:r>
            <a:endParaRPr lang="en-US" sz="1900" dirty="0"/>
          </a:p>
        </p:txBody>
      </p:sp>
      <p:sp>
        <p:nvSpPr>
          <p:cNvPr id="10" name="Text 6"/>
          <p:cNvSpPr/>
          <p:nvPr/>
        </p:nvSpPr>
        <p:spPr>
          <a:xfrm>
            <a:off x="8814816" y="2103120"/>
            <a:ext cx="2734056" cy="822960"/>
          </a:xfrm>
          <a:prstGeom prst="rect">
            <a:avLst/>
          </a:prstGeom>
          <a:noFill/>
          <a:ln/>
        </p:spPr>
        <p:txBody>
          <a:bodyPr wrap="square" lIns="0" tIns="0" rIns="0" bIns="0" rtlCol="0" anchor="ctr"/>
          <a:lstStyle/>
          <a:p>
            <a:pPr indent="0" marL="0">
              <a:lnSpc>
                <a:spcPts val="1900"/>
              </a:lnSpc>
              <a:buNone/>
            </a:pPr>
            <a:r>
              <a:rPr lang="en-US" sz="1300" dirty="0">
                <a:solidFill>
                  <a:srgbClr val="8A94A6"/>
                </a:solidFill>
                <a:latin typeface="Arial" pitchFamily="34" charset="0"/>
                <a:ea typeface="Arial" pitchFamily="34" charset="-122"/>
                <a:cs typeface="Arial" pitchFamily="34" charset="-120"/>
              </a:rPr>
              <a:t>Bypass test on the 25 worst segments: delete the segment, look for another way between its endpoints.</a:t>
            </a:r>
            <a:endParaRPr lang="en-US" sz="1300" dirty="0"/>
          </a:p>
        </p:txBody>
      </p:sp>
      <p:sp>
        <p:nvSpPr>
          <p:cNvPr id="11" name="Text 7"/>
          <p:cNvSpPr/>
          <p:nvPr/>
        </p:nvSpPr>
        <p:spPr>
          <a:xfrm>
            <a:off x="8814816" y="3200400"/>
            <a:ext cx="2734056" cy="658368"/>
          </a:xfrm>
          <a:prstGeom prst="rect">
            <a:avLst/>
          </a:prstGeom>
          <a:noFill/>
          <a:ln/>
        </p:spPr>
        <p:txBody>
          <a:bodyPr wrap="square" lIns="0" tIns="0" rIns="0" bIns="0" rtlCol="0" anchor="t"/>
          <a:lstStyle/>
          <a:p>
            <a:pPr indent="0" marL="0">
              <a:lnSpc>
                <a:spcPts val="1700"/>
              </a:lnSpc>
              <a:buNone/>
            </a:pPr>
            <a:r>
              <a:rPr lang="en-US" sz="2100" b="1" dirty="0">
                <a:solidFill>
                  <a:srgbClr val="F2A93B"/>
                </a:solidFill>
                <a:latin typeface="Arial" pitchFamily="34" charset="0"/>
                <a:ea typeface="Arial" pitchFamily="34" charset="-122"/>
                <a:cs typeface="Arial" pitchFamily="34" charset="-120"/>
              </a:rPr>
              <a:t>6</a:t>
            </a:r>
            <a:pPr indent="0" marL="0">
              <a:lnSpc>
                <a:spcPts val="1700"/>
              </a:lnSpc>
              <a:buNone/>
            </a:pPr>
            <a:r>
              <a:rPr lang="en-US" sz="1200" dirty="0">
                <a:solidFill>
                  <a:srgbClr val="E8EBF0"/>
                </a:solidFill>
                <a:latin typeface="Arial" pitchFamily="34" charset="0"/>
                <a:ea typeface="Arial" pitchFamily="34" charset="-122"/>
                <a:cs typeface="Arial" pitchFamily="34" charset="-120"/>
              </a:rPr>
              <a:t>   have no walkable alternative at all</a:t>
            </a:r>
            <a:endParaRPr lang="en-US" sz="2100" dirty="0"/>
          </a:p>
        </p:txBody>
      </p:sp>
      <p:sp>
        <p:nvSpPr>
          <p:cNvPr id="12" name="Text 8"/>
          <p:cNvSpPr/>
          <p:nvPr/>
        </p:nvSpPr>
        <p:spPr>
          <a:xfrm>
            <a:off x="8814816" y="3968496"/>
            <a:ext cx="2734056" cy="658368"/>
          </a:xfrm>
          <a:prstGeom prst="rect">
            <a:avLst/>
          </a:prstGeom>
          <a:noFill/>
          <a:ln/>
        </p:spPr>
        <p:txBody>
          <a:bodyPr wrap="square" lIns="0" tIns="0" rIns="0" bIns="0" rtlCol="0" anchor="t"/>
          <a:lstStyle/>
          <a:p>
            <a:pPr indent="0" marL="0">
              <a:lnSpc>
                <a:spcPts val="1700"/>
              </a:lnSpc>
              <a:buNone/>
            </a:pPr>
            <a:r>
              <a:rPr lang="en-US" sz="2100" b="1" dirty="0">
                <a:solidFill>
                  <a:srgbClr val="F2A93B"/>
                </a:solidFill>
                <a:latin typeface="Arial" pitchFamily="34" charset="0"/>
                <a:ea typeface="Arial" pitchFamily="34" charset="-122"/>
                <a:cs typeface="Arial" pitchFamily="34" charset="-120"/>
              </a:rPr>
              <a:t>19</a:t>
            </a:r>
            <a:pPr indent="0" marL="0">
              <a:lnSpc>
                <a:spcPts val="1700"/>
              </a:lnSpc>
              <a:buNone/>
            </a:pPr>
            <a:r>
              <a:rPr lang="en-US" sz="1200" dirty="0">
                <a:solidFill>
                  <a:srgbClr val="E8EBF0"/>
                </a:solidFill>
                <a:latin typeface="Arial" pitchFamily="34" charset="0"/>
                <a:ea typeface="Arial" pitchFamily="34" charset="-122"/>
                <a:cs typeface="Arial" pitchFamily="34" charset="-120"/>
              </a:rPr>
              <a:t>   have a bypass over 3× the segment’s length</a:t>
            </a:r>
            <a:endParaRPr lang="en-US" sz="2100" dirty="0"/>
          </a:p>
        </p:txBody>
      </p:sp>
      <p:sp>
        <p:nvSpPr>
          <p:cNvPr id="13" name="Text 9"/>
          <p:cNvSpPr/>
          <p:nvPr/>
        </p:nvSpPr>
        <p:spPr>
          <a:xfrm>
            <a:off x="8814816" y="4736592"/>
            <a:ext cx="2734056" cy="658368"/>
          </a:xfrm>
          <a:prstGeom prst="rect">
            <a:avLst/>
          </a:prstGeom>
          <a:noFill/>
          <a:ln/>
        </p:spPr>
        <p:txBody>
          <a:bodyPr wrap="square" lIns="0" tIns="0" rIns="0" bIns="0" rtlCol="0" anchor="t"/>
          <a:lstStyle/>
          <a:p>
            <a:pPr indent="0" marL="0">
              <a:lnSpc>
                <a:spcPts val="1700"/>
              </a:lnSpc>
              <a:buNone/>
            </a:pPr>
            <a:r>
              <a:rPr lang="en-US" sz="2100" b="1" dirty="0">
                <a:solidFill>
                  <a:srgbClr val="F2A93B"/>
                </a:solidFill>
                <a:latin typeface="Arial" pitchFamily="34" charset="0"/>
                <a:ea typeface="Arial" pitchFamily="34" charset="-122"/>
                <a:cs typeface="Arial" pitchFamily="34" charset="-120"/>
              </a:rPr>
              <a:t>17.9×</a:t>
            </a:r>
            <a:pPr indent="0" marL="0">
              <a:lnSpc>
                <a:spcPts val="1700"/>
              </a:lnSpc>
              <a:buNone/>
            </a:pPr>
            <a:r>
              <a:rPr lang="en-US" sz="1200" dirty="0">
                <a:solidFill>
                  <a:srgbClr val="E8EBF0"/>
                </a:solidFill>
                <a:latin typeface="Arial" pitchFamily="34" charset="0"/>
                <a:ea typeface="Arial" pitchFamily="34" charset="-122"/>
                <a:cs typeface="Arial" pitchFamily="34" charset="-120"/>
              </a:rPr>
              <a:t>   median bypass · worst 206.9×</a:t>
            </a:r>
            <a:endParaRPr lang="en-US" sz="2100" dirty="0"/>
          </a:p>
        </p:txBody>
      </p:sp>
      <p:sp>
        <p:nvSpPr>
          <p:cNvPr id="14" name="Text 10"/>
          <p:cNvSpPr/>
          <p:nvPr/>
        </p:nvSpPr>
        <p:spPr>
          <a:xfrm>
            <a:off x="8814816" y="5212080"/>
            <a:ext cx="2734056" cy="914400"/>
          </a:xfrm>
          <a:prstGeom prst="rect">
            <a:avLst/>
          </a:prstGeom>
          <a:noFill/>
          <a:ln/>
        </p:spPr>
        <p:txBody>
          <a:bodyPr wrap="square" lIns="0" tIns="0" rIns="0" bIns="0" rtlCol="0" anchor="ctr"/>
          <a:lstStyle/>
          <a:p>
            <a:pPr indent="0" marL="0">
              <a:lnSpc>
                <a:spcPts val="1900"/>
              </a:lnSpc>
              <a:buNone/>
            </a:pPr>
            <a:r>
              <a:rPr lang="en-US" sz="1350" b="1" dirty="0">
                <a:solidFill>
                  <a:srgbClr val="E8EBF0"/>
                </a:solidFill>
                <a:latin typeface="Arial" pitchFamily="34" charset="0"/>
                <a:ea typeface="Arial" pitchFamily="34" charset="-122"/>
                <a:cs typeface="Arial" pitchFamily="34" charset="-120"/>
              </a:rPr>
              <a:t>On the streets that most need fixing there is nowhere else to walk. Routing cannot solve them. Only repair can.</a:t>
            </a:r>
            <a:endParaRPr lang="en-US" sz="1350" dirty="0"/>
          </a:p>
        </p:txBody>
      </p:sp>
      <p:sp>
        <p:nvSpPr>
          <p:cNvPr id="15" name="Text 11"/>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out/routes.json, query 1. Bypass test over the 25 highest-priority segments in the corridor.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2800" b="1" dirty="0">
                <a:solidFill>
                  <a:srgbClr val="E8EBF0"/>
                </a:solidFill>
                <a:latin typeface="Arial" pitchFamily="34" charset="0"/>
                <a:ea typeface="Arial" pitchFamily="34" charset="-122"/>
                <a:cs typeface="Arial" pitchFamily="34" charset="-120"/>
              </a:rPr>
              <a:t>The empty state is the feature</a:t>
            </a:r>
            <a:endParaRPr lang="en-US" sz="2800" dirty="0"/>
          </a:p>
        </p:txBody>
      </p:sp>
      <p:pic>
        <p:nvPicPr>
          <p:cNvPr id="4" name="Image 0" descr="assets/screen-report.png">    </p:cNvPr>
          <p:cNvPicPr>
            <a:picLocks noChangeAspect="1"/>
          </p:cNvPicPr>
          <p:nvPr/>
        </p:nvPicPr>
        <p:blipFill>
          <a:blip r:embed="rId1"/>
          <a:stretch>
            <a:fillRect/>
          </a:stretch>
        </p:blipFill>
        <p:spPr>
          <a:xfrm>
            <a:off x="640080" y="1371600"/>
            <a:ext cx="3950208" cy="4681728"/>
          </a:xfrm>
          <a:prstGeom prst="rect">
            <a:avLst/>
          </a:prstGeom>
        </p:spPr>
      </p:pic>
      <p:sp>
        <p:nvSpPr>
          <p:cNvPr id="5" name="Shape 1"/>
          <p:cNvSpPr/>
          <p:nvPr/>
        </p:nvSpPr>
        <p:spPr>
          <a:xfrm>
            <a:off x="4846320" y="1371600"/>
            <a:ext cx="10973" cy="4681728"/>
          </a:xfrm>
          <a:prstGeom prst="rect">
            <a:avLst/>
          </a:prstGeom>
          <a:solidFill>
            <a:srgbClr val="252C3A"/>
          </a:solidFill>
          <a:ln w="12700">
            <a:solidFill>
              <a:srgbClr val="333333"/>
            </a:solidFill>
            <a:prstDash val="solid"/>
          </a:ln>
        </p:spPr>
      </p:sp>
      <p:sp>
        <p:nvSpPr>
          <p:cNvPr id="6" name="Text 2"/>
          <p:cNvSpPr/>
          <p:nvPr/>
        </p:nvSpPr>
        <p:spPr>
          <a:xfrm>
            <a:off x="5175504" y="1426464"/>
            <a:ext cx="2926080" cy="3108960"/>
          </a:xfrm>
          <a:prstGeom prst="rect">
            <a:avLst/>
          </a:prstGeom>
          <a:noFill/>
          <a:ln/>
        </p:spPr>
        <p:txBody>
          <a:bodyPr wrap="square" lIns="0" tIns="0" rIns="0" bIns="0" rtlCol="0" anchor="t"/>
          <a:lstStyle/>
          <a:p>
            <a:pPr indent="0" marL="0">
              <a:lnSpc>
                <a:spcPts val="2000"/>
              </a:lnSpc>
              <a:buNone/>
            </a:pPr>
            <a:r>
              <a:rPr lang="en-US" sz="1350" dirty="0">
                <a:solidFill>
                  <a:srgbClr val="E8EBF0"/>
                </a:solidFill>
                <a:latin typeface="Arial" pitchFamily="34" charset="0"/>
                <a:ea typeface="Arial" pitchFamily="34" charset="-122"/>
                <a:cs typeface="Arial" pitchFamily="34" charset="-120"/>
              </a:rPr>
              <a:t>The empty state is not “no reports yet.” It is </a:t>
            </a:r>
            <a:pPr indent="0" marL="0">
              <a:lnSpc>
                <a:spcPts val="2000"/>
              </a:lnSpc>
              <a:buNone/>
            </a:pPr>
            <a:r>
              <a:rPr lang="en-US" sz="1350" b="1" dirty="0">
                <a:solidFill>
                  <a:srgbClr val="F2A93B"/>
                </a:solidFill>
                <a:latin typeface="Arial" pitchFamily="34" charset="0"/>
                <a:ea typeface="Arial" pitchFamily="34" charset="-122"/>
                <a:cs typeface="Arial" pitchFamily="34" charset="-120"/>
              </a:rPr>
              <a:t>“streets worth checking tonight”</a:t>
            </a:r>
            <a:pPr indent="0" marL="0">
              <a:lnSpc>
                <a:spcPts val="2000"/>
              </a:lnSpc>
              <a:buNone/>
            </a:pPr>
            <a:r>
              <a:rPr lang="en-US" sz="1350" dirty="0">
                <a:solidFill>
                  <a:srgbClr val="E8EBF0"/>
                </a:solidFill>
                <a:latin typeface="Arial" pitchFamily="34" charset="0"/>
                <a:ea typeface="Arial" pitchFamily="34" charset="-122"/>
                <a:cs typeface="Arial" pitchFamily="34" charset="-120"/>
              </a:rPr>
              <a:t> — so the app directs reporting instead of waiting for it.
</a:t>
            </a:r>
            <a:pPr indent="0" marL="0">
              <a:lnSpc>
                <a:spcPts val="2000"/>
              </a:lnSpc>
              <a:buNone/>
            </a:pPr>
            <a:r>
              <a:rPr lang="en-US" sz="1350" b="1" dirty="0">
                <a:solidFill>
                  <a:srgbClr val="E8EBF0"/>
                </a:solidFill>
                <a:latin typeface="Arial" pitchFamily="34" charset="0"/>
                <a:ea typeface="Arial" pitchFamily="34" charset="-122"/>
                <a:cs typeface="Arial" pitchFamily="34" charset="-120"/>
              </a:rPr>
              <a:t>93.7% of our 11,029 segments have no lamp evidence at all</a:t>
            </a:r>
            <a:pPr indent="0" marL="0">
              <a:lnSpc>
                <a:spcPts val="2000"/>
              </a:lnSpc>
              <a:buNone/>
            </a:pPr>
            <a:r>
              <a:rPr lang="en-US" sz="1350" dirty="0">
                <a:solidFill>
                  <a:srgbClr val="E8EBF0"/>
                </a:solidFill>
                <a:latin typeface="Arial" pitchFamily="34" charset="0"/>
                <a:ea typeface="Arial" pitchFamily="34" charset="-122"/>
                <a:cs typeface="Arial" pitchFamily="34" charset="-120"/>
              </a:rPr>
              <a:t> and run on the ward prior alone. That is not a flaw we are hiding — it is why every segment carries a variance, and it is what this screen is for.</a:t>
            </a:r>
            <a:endParaRPr lang="en-US" sz="1350" dirty="0"/>
          </a:p>
        </p:txBody>
      </p:sp>
      <p:sp>
        <p:nvSpPr>
          <p:cNvPr id="7" name="Text 3"/>
          <p:cNvSpPr/>
          <p:nvPr/>
        </p:nvSpPr>
        <p:spPr>
          <a:xfrm>
            <a:off x="5175504" y="4663440"/>
            <a:ext cx="2926080" cy="1097280"/>
          </a:xfrm>
          <a:prstGeom prst="rect">
            <a:avLst/>
          </a:prstGeom>
          <a:noFill/>
          <a:ln/>
        </p:spPr>
        <p:txBody>
          <a:bodyPr wrap="square" lIns="0" tIns="0" rIns="0" bIns="0" rtlCol="0" anchor="ctr"/>
          <a:lstStyle/>
          <a:p>
            <a:pPr indent="0" marL="0">
              <a:lnSpc>
                <a:spcPts val="1800"/>
              </a:lnSpc>
              <a:buNone/>
            </a:pPr>
            <a:r>
              <a:rPr lang="en-US" sz="1250" dirty="0">
                <a:solidFill>
                  <a:srgbClr val="8A94A6"/>
                </a:solidFill>
                <a:latin typeface="Arial" pitchFamily="34" charset="0"/>
                <a:ea typeface="Arial" pitchFamily="34" charset="-122"/>
                <a:cs typeface="Arial" pitchFamily="34" charset="-120"/>
              </a:rPr>
              <a:t>A report is worth most exactly where we are least sure and most people walk. That is what this screen ranks by.</a:t>
            </a:r>
            <a:endParaRPr lang="en-US" sz="1250" dirty="0"/>
          </a:p>
        </p:txBody>
      </p:sp>
      <p:sp>
        <p:nvSpPr>
          <p:cNvPr id="8" name="Shape 4"/>
          <p:cNvSpPr/>
          <p:nvPr/>
        </p:nvSpPr>
        <p:spPr>
          <a:xfrm>
            <a:off x="8357616" y="1371600"/>
            <a:ext cx="10973" cy="4681728"/>
          </a:xfrm>
          <a:prstGeom prst="rect">
            <a:avLst/>
          </a:prstGeom>
          <a:solidFill>
            <a:srgbClr val="252C3A"/>
          </a:solidFill>
          <a:ln w="12700">
            <a:solidFill>
              <a:srgbClr val="333333"/>
            </a:solidFill>
            <a:prstDash val="solid"/>
          </a:ln>
        </p:spPr>
      </p:sp>
      <p:pic>
        <p:nvPicPr>
          <p:cNvPr id="9" name="Image 1" descr="assets/chart-curve.png">    </p:cNvPr>
          <p:cNvPicPr>
            <a:picLocks noChangeAspect="1"/>
          </p:cNvPicPr>
          <p:nvPr/>
        </p:nvPicPr>
        <p:blipFill>
          <a:blip r:embed="rId2"/>
          <a:stretch>
            <a:fillRect/>
          </a:stretch>
        </p:blipFill>
        <p:spPr>
          <a:xfrm>
            <a:off x="8631936" y="1426464"/>
            <a:ext cx="2916936" cy="1709928"/>
          </a:xfrm>
          <a:prstGeom prst="rect">
            <a:avLst/>
          </a:prstGeom>
        </p:spPr>
      </p:pic>
      <p:sp>
        <p:nvSpPr>
          <p:cNvPr id="10" name="Text 5"/>
          <p:cNvSpPr/>
          <p:nvPr/>
        </p:nvSpPr>
        <p:spPr>
          <a:xfrm>
            <a:off x="8631936" y="3310128"/>
            <a:ext cx="2916936" cy="1828800"/>
          </a:xfrm>
          <a:prstGeom prst="rect">
            <a:avLst/>
          </a:prstGeom>
          <a:noFill/>
          <a:ln/>
        </p:spPr>
        <p:txBody>
          <a:bodyPr wrap="square" lIns="0" tIns="0" rIns="0" bIns="0" rtlCol="0" anchor="ctr"/>
          <a:lstStyle/>
          <a:p>
            <a:pPr indent="0" marL="0">
              <a:lnSpc>
                <a:spcPts val="1900"/>
              </a:lnSpc>
              <a:buNone/>
            </a:pPr>
            <a:r>
              <a:rPr lang="en-US" sz="1300" dirty="0">
                <a:solidFill>
                  <a:srgbClr val="E8EBF0"/>
                </a:solidFill>
                <a:latin typeface="Arial" pitchFamily="34" charset="0"/>
                <a:ea typeface="Arial" pitchFamily="34" charset="-122"/>
                <a:cs typeface="Arial" pitchFamily="34" charset="-120"/>
              </a:rPr>
              <a:t>With zero reports the prior-only ranking already captures </a:t>
            </a:r>
            <a:pPr indent="0" marL="0">
              <a:lnSpc>
                <a:spcPts val="1900"/>
              </a:lnSpc>
              <a:buNone/>
            </a:pPr>
            <a:r>
              <a:rPr lang="en-US" sz="1300" b="1" dirty="0">
                <a:solidFill>
                  <a:srgbClr val="F2A93B"/>
                </a:solidFill>
                <a:latin typeface="Arial" pitchFamily="34" charset="0"/>
                <a:ea typeface="Arial" pitchFamily="34" charset="-122"/>
                <a:cs typeface="Arial" pitchFamily="34" charset="-120"/>
              </a:rPr>
              <a:t>56%</a:t>
            </a:r>
            <a:pPr indent="0" marL="0">
              <a:lnSpc>
                <a:spcPts val="1900"/>
              </a:lnSpc>
              <a:buNone/>
            </a:pPr>
            <a:r>
              <a:rPr lang="en-US" sz="1300" dirty="0">
                <a:solidFill>
                  <a:srgbClr val="E8EBF0"/>
                </a:solidFill>
                <a:latin typeface="Arial" pitchFamily="34" charset="0"/>
                <a:ea typeface="Arial" pitchFamily="34" charset="-122"/>
                <a:cs typeface="Arial" pitchFamily="34" charset="-120"/>
              </a:rPr>
              <a:t> of what a perfectly-informed ranking would restore. 400 targeted reports takes it to </a:t>
            </a:r>
            <a:pPr indent="0" marL="0">
              <a:lnSpc>
                <a:spcPts val="1900"/>
              </a:lnSpc>
              <a:buNone/>
            </a:pPr>
            <a:r>
              <a:rPr lang="en-US" sz="1300" b="1" dirty="0">
                <a:solidFill>
                  <a:srgbClr val="F2A93B"/>
                </a:solidFill>
                <a:latin typeface="Arial" pitchFamily="34" charset="0"/>
                <a:ea typeface="Arial" pitchFamily="34" charset="-122"/>
                <a:cs typeface="Arial" pitchFamily="34" charset="-120"/>
              </a:rPr>
              <a:t>76%</a:t>
            </a:r>
            <a:pPr indent="0" marL="0">
              <a:lnSpc>
                <a:spcPts val="1900"/>
              </a:lnSpc>
              <a:buNone/>
            </a:pPr>
            <a:r>
              <a:rPr lang="en-US" sz="1300" dirty="0">
                <a:solidFill>
                  <a:srgbClr val="E8EBF0"/>
                </a:solidFill>
                <a:latin typeface="Arial" pitchFamily="34" charset="0"/>
                <a:ea typeface="Arial" pitchFamily="34" charset="-122"/>
                <a:cs typeface="Arial" pitchFamily="34" charset="-120"/>
              </a:rPr>
              <a:t>; 400 random reports reach only 63%.</a:t>
            </a:r>
            <a:endParaRPr lang="en-US" sz="1300" dirty="0"/>
          </a:p>
        </p:txBody>
      </p:sp>
      <p:sp>
        <p:nvSpPr>
          <p:cNvPr id="11" name="Text 6"/>
          <p:cNvSpPr/>
          <p:nvPr/>
        </p:nvSpPr>
        <p:spPr>
          <a:xfrm>
            <a:off x="8631936" y="5303520"/>
            <a:ext cx="2916936" cy="548640"/>
          </a:xfrm>
          <a:prstGeom prst="rect">
            <a:avLst/>
          </a:prstGeom>
          <a:noFill/>
          <a:ln/>
        </p:spPr>
        <p:txBody>
          <a:bodyPr wrap="square" lIns="0" tIns="0" rIns="0" bIns="0" rtlCol="0" anchor="ctr"/>
          <a:lstStyle/>
          <a:p>
            <a:pPr indent="0" marL="0">
              <a:lnSpc>
                <a:spcPts val="1600"/>
              </a:lnSpc>
              <a:buNone/>
            </a:pPr>
            <a:r>
              <a:rPr lang="en-US" sz="1150" i="1" dirty="0">
                <a:solidFill>
                  <a:srgbClr val="8A94A6"/>
                </a:solidFill>
                <a:latin typeface="Arial" pitchFamily="34" charset="0"/>
                <a:ea typeface="Arial" pitchFamily="34" charset="-122"/>
                <a:cs typeface="Arial" pitchFamily="34" charset="-120"/>
              </a:rPr>
              <a:t>Simulation, not a field trial — labelled as one in out/curve.json.</a:t>
            </a:r>
            <a:endParaRPr lang="en-US" sz="1150" dirty="0"/>
          </a:p>
        </p:txBody>
      </p:sp>
      <p:sp>
        <p:nvSpPr>
          <p:cNvPr id="12" name="Text 7"/>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690 of 11,029 segments carry any OSM lamp evidence. out/stats.json · out/curve.json.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2800" b="1" dirty="0">
                <a:solidFill>
                  <a:srgbClr val="E8EBF0"/>
                </a:solidFill>
                <a:latin typeface="Arial" pitchFamily="34" charset="0"/>
                <a:ea typeface="Arial" pitchFamily="34" charset="-122"/>
                <a:cs typeface="Arial" pitchFamily="34" charset="-120"/>
              </a:rPr>
              <a:t>How would you validate a footfall estimate with no official data?</a:t>
            </a:r>
            <a:endParaRPr lang="en-US" sz="2800" dirty="0"/>
          </a:p>
        </p:txBody>
      </p:sp>
      <p:sp>
        <p:nvSpPr>
          <p:cNvPr id="4" name="Text 1"/>
          <p:cNvSpPr/>
          <p:nvPr/>
        </p:nvSpPr>
        <p:spPr>
          <a:xfrm>
            <a:off x="640080" y="1481328"/>
            <a:ext cx="10908792" cy="548640"/>
          </a:xfrm>
          <a:prstGeom prst="rect">
            <a:avLst/>
          </a:prstGeom>
          <a:noFill/>
          <a:ln/>
        </p:spPr>
        <p:txBody>
          <a:bodyPr wrap="square" lIns="0" tIns="0" rIns="0" bIns="0" rtlCol="0" anchor="ctr"/>
          <a:lstStyle/>
          <a:p>
            <a:pPr indent="0" marL="0">
              <a:lnSpc>
                <a:spcPts val="2000"/>
              </a:lnSpc>
              <a:buNone/>
            </a:pPr>
            <a:r>
              <a:rPr lang="en-US" sz="1450" dirty="0">
                <a:solidFill>
                  <a:srgbClr val="E8EBF0"/>
                </a:solidFill>
                <a:latin typeface="Arial" pitchFamily="34" charset="0"/>
                <a:ea typeface="Arial" pitchFamily="34" charset="-122"/>
                <a:cs typeface="Arial" pitchFamily="34" charset="-120"/>
              </a:rPr>
              <a:t>Validation needs a signal you did not use to build the estimate. </a:t>
            </a:r>
            <a:pPr indent="0" marL="0">
              <a:lnSpc>
                <a:spcPts val="2000"/>
              </a:lnSpc>
              <a:buNone/>
            </a:pPr>
            <a:r>
              <a:rPr lang="en-US" sz="1450" dirty="0">
                <a:solidFill>
                  <a:srgbClr val="8A94A6"/>
                </a:solidFill>
                <a:latin typeface="Arial" pitchFamily="34" charset="0"/>
                <a:ea typeface="Arial" pitchFamily="34" charset="-122"/>
                <a:cs typeface="Arial" pitchFamily="34" charset="-120"/>
              </a:rPr>
              <a:t>And you are validating an ordering, not a magnitude — “412 pedestrians an hour” is unfalsifiable; “these streets rank above those” is checkable.</a:t>
            </a:r>
            <a:endParaRPr lang="en-US" sz="1450" dirty="0"/>
          </a:p>
        </p:txBody>
      </p:sp>
      <p:pic>
        <p:nvPicPr>
          <p:cNvPr id="5" name="Image 0" descr="assets/chart-scatter.png">    </p:cNvPr>
          <p:cNvPicPr>
            <a:picLocks noChangeAspect="1"/>
          </p:cNvPicPr>
          <p:nvPr/>
        </p:nvPicPr>
        <p:blipFill>
          <a:blip r:embed="rId1"/>
          <a:stretch>
            <a:fillRect/>
          </a:stretch>
        </p:blipFill>
        <p:spPr>
          <a:xfrm>
            <a:off x="603504" y="2139696"/>
            <a:ext cx="5943600" cy="3913632"/>
          </a:xfrm>
          <a:prstGeom prst="rect">
            <a:avLst/>
          </a:prstGeom>
        </p:spPr>
      </p:pic>
      <p:sp>
        <p:nvSpPr>
          <p:cNvPr id="6" name="Shape 2"/>
          <p:cNvSpPr/>
          <p:nvPr/>
        </p:nvSpPr>
        <p:spPr>
          <a:xfrm>
            <a:off x="6528816" y="2139696"/>
            <a:ext cx="10973" cy="3913632"/>
          </a:xfrm>
          <a:prstGeom prst="rect">
            <a:avLst/>
          </a:prstGeom>
          <a:solidFill>
            <a:srgbClr val="252C3A"/>
          </a:solidFill>
          <a:ln w="12700">
            <a:solidFill>
              <a:srgbClr val="333333"/>
            </a:solidFill>
            <a:prstDash val="solid"/>
          </a:ln>
        </p:spPr>
      </p:sp>
      <p:sp>
        <p:nvSpPr>
          <p:cNvPr id="7" name="Text 3"/>
          <p:cNvSpPr/>
          <p:nvPr/>
        </p:nvSpPr>
        <p:spPr>
          <a:xfrm>
            <a:off x="6876288" y="2139696"/>
            <a:ext cx="4672584" cy="310896"/>
          </a:xfrm>
          <a:prstGeom prst="rect">
            <a:avLst/>
          </a:prstGeom>
          <a:noFill/>
          <a:ln/>
        </p:spPr>
        <p:txBody>
          <a:bodyPr wrap="square" lIns="0" tIns="0" rIns="0" bIns="0" rtlCol="0" anchor="ctr"/>
          <a:lstStyle/>
          <a:p>
            <a:pPr indent="0" marL="0">
              <a:buNone/>
            </a:pPr>
            <a:r>
              <a:rPr lang="en-US" sz="1600" b="1" dirty="0">
                <a:solidFill>
                  <a:srgbClr val="E8EBF0"/>
                </a:solidFill>
                <a:latin typeface="Arial" pitchFamily="34" charset="0"/>
                <a:ea typeface="Arial" pitchFamily="34" charset="-122"/>
                <a:cs typeface="Arial" pitchFamily="34" charset="-120"/>
              </a:rPr>
              <a:t>We got a null first, and went looking for why</a:t>
            </a:r>
            <a:endParaRPr lang="en-US" sz="1600" dirty="0"/>
          </a:p>
        </p:txBody>
      </p:sp>
      <p:sp>
        <p:nvSpPr>
          <p:cNvPr id="8" name="Text 4"/>
          <p:cNvSpPr/>
          <p:nvPr/>
        </p:nvSpPr>
        <p:spPr>
          <a:xfrm>
            <a:off x="6876288" y="2523744"/>
            <a:ext cx="4672584" cy="2286000"/>
          </a:xfrm>
          <a:prstGeom prst="rect">
            <a:avLst/>
          </a:prstGeom>
          <a:noFill/>
          <a:ln/>
        </p:spPr>
        <p:txBody>
          <a:bodyPr wrap="square" lIns="0" tIns="0" rIns="0" bIns="0" rtlCol="0" anchor="ctr"/>
          <a:lstStyle/>
          <a:p>
            <a:pPr indent="0" marL="0">
              <a:lnSpc>
                <a:spcPts val="1800"/>
              </a:lnSpc>
              <a:buNone/>
            </a:pPr>
            <a:r>
              <a:rPr lang="en-US" sz="1300" dirty="0">
                <a:solidFill>
                  <a:srgbClr val="8A94A6"/>
                </a:solidFill>
                <a:latin typeface="Arial" pitchFamily="34" charset="0"/>
                <a:ea typeface="Arial" pitchFamily="34" charset="-122"/>
                <a:cs typeface="Arial" pitchFamily="34" charset="-120"/>
              </a:rPr>
              <a:t>The first answer was ρ = 0.03. Two proxies that should have agreed didn’t. So we went looking, and found we were keying the walk graph on </a:t>
            </a:r>
            <a:pPr indent="0" marL="0">
              <a:lnSpc>
                <a:spcPts val="1800"/>
              </a:lnSpc>
              <a:buNone/>
            </a:pPr>
            <a:r>
              <a:rPr lang="en-US" sz="1300" b="1" dirty="0">
                <a:solidFill>
                  <a:srgbClr val="8A94A6"/>
                </a:solidFill>
                <a:latin typeface="Arial" pitchFamily="34" charset="0"/>
                <a:ea typeface="Arial" pitchFamily="34" charset="-122"/>
                <a:cs typeface="Arial" pitchFamily="34" charset="-120"/>
              </a:rPr>
              <a:t>rounded coordinates</a:t>
            </a:r>
            <a:pPr indent="0" marL="0">
              <a:lnSpc>
                <a:spcPts val="1800"/>
              </a:lnSpc>
              <a:buNone/>
            </a:pPr>
            <a:r>
              <a:rPr lang="en-US" sz="1300" dirty="0">
                <a:solidFill>
                  <a:srgbClr val="8A94A6"/>
                </a:solidFill>
                <a:latin typeface="Arial" pitchFamily="34" charset="0"/>
                <a:ea typeface="Arial" pitchFamily="34" charset="-122"/>
                <a:cs typeface="Arial" pitchFamily="34" charset="-120"/>
              </a:rPr>
              <a:t> — junctions where two roads genuinely meet weren’t merging. The network had shattered, and the betweenness we were feeding the model was computed over 55% of the city.
</a:t>
            </a:r>
            <a:pPr indent="0" marL="0">
              <a:lnSpc>
                <a:spcPts val="1800"/>
              </a:lnSpc>
              <a:buNone/>
            </a:pPr>
            <a:r>
              <a:rPr lang="en-US" sz="1300" dirty="0">
                <a:solidFill>
                  <a:srgbClr val="8A94A6"/>
                </a:solidFill>
                <a:latin typeface="Arial" pitchFamily="34" charset="0"/>
                <a:ea typeface="Arial" pitchFamily="34" charset="-122"/>
                <a:cs typeface="Arial" pitchFamily="34" charset="-120"/>
              </a:rPr>
              <a:t>Keyed it on OSM node ids, re-ran over eight times the area. 98.4% now connects and ρ = 0.30 — and 0.44 against night bus departures.</a:t>
            </a:r>
            <a:endParaRPr lang="en-US" sz="1300" dirty="0"/>
          </a:p>
        </p:txBody>
      </p:sp>
      <p:sp>
        <p:nvSpPr>
          <p:cNvPr id="9" name="Shape 5"/>
          <p:cNvSpPr/>
          <p:nvPr/>
        </p:nvSpPr>
        <p:spPr>
          <a:xfrm>
            <a:off x="6876288" y="4901184"/>
            <a:ext cx="4672584" cy="10973"/>
          </a:xfrm>
          <a:prstGeom prst="rect">
            <a:avLst/>
          </a:prstGeom>
          <a:solidFill>
            <a:srgbClr val="252C3A"/>
          </a:solidFill>
          <a:ln w="12700">
            <a:solidFill>
              <a:srgbClr val="333333"/>
            </a:solidFill>
            <a:prstDash val="solid"/>
          </a:ln>
        </p:spPr>
      </p:sp>
      <p:sp>
        <p:nvSpPr>
          <p:cNvPr id="10" name="Text 6"/>
          <p:cNvSpPr/>
          <p:nvPr/>
        </p:nvSpPr>
        <p:spPr>
          <a:xfrm>
            <a:off x="6876288" y="5029200"/>
            <a:ext cx="3017520" cy="274320"/>
          </a:xfrm>
          <a:prstGeom prst="rect">
            <a:avLst/>
          </a:prstGeom>
          <a:noFill/>
          <a:ln/>
        </p:spPr>
        <p:txBody>
          <a:bodyPr wrap="square" lIns="0" tIns="0" rIns="0" bIns="0" rtlCol="0" anchor="ctr"/>
          <a:lstStyle/>
          <a:p>
            <a:pPr indent="0" marL="0">
              <a:buNone/>
            </a:pPr>
            <a:r>
              <a:rPr lang="en-US" sz="1200" dirty="0">
                <a:solidFill>
                  <a:srgbClr val="E8EBF0"/>
                </a:solidFill>
                <a:latin typeface="Arial" pitchFamily="34" charset="0"/>
                <a:ea typeface="Arial" pitchFamily="34" charset="-122"/>
                <a:cs typeface="Arial" pitchFamily="34" charset="-120"/>
              </a:rPr>
              <a:t>Convergent</a:t>
            </a:r>
            <a:endParaRPr lang="en-US" sz="1200" dirty="0"/>
          </a:p>
        </p:txBody>
      </p:sp>
      <p:sp>
        <p:nvSpPr>
          <p:cNvPr id="11" name="Text 7"/>
          <p:cNvSpPr/>
          <p:nvPr/>
        </p:nvSpPr>
        <p:spPr>
          <a:xfrm>
            <a:off x="9966960" y="5029200"/>
            <a:ext cx="1645920" cy="274320"/>
          </a:xfrm>
          <a:prstGeom prst="rect">
            <a:avLst/>
          </a:prstGeom>
          <a:noFill/>
          <a:ln/>
        </p:spPr>
        <p:txBody>
          <a:bodyPr wrap="square" lIns="0" tIns="0" rIns="0" bIns="0" rtlCol="0" anchor="ctr"/>
          <a:lstStyle/>
          <a:p>
            <a:pPr algn="r" indent="0" marL="0">
              <a:buNone/>
            </a:pPr>
            <a:r>
              <a:rPr lang="en-US" sz="1200" b="1" dirty="0">
                <a:solidFill>
                  <a:srgbClr val="F2A93B"/>
                </a:solidFill>
                <a:latin typeface="Arial" pitchFamily="34" charset="0"/>
                <a:ea typeface="Arial" pitchFamily="34" charset="-122"/>
                <a:cs typeface="Arial" pitchFamily="34" charset="-120"/>
              </a:rPr>
              <a:t>ρ = +0.30, and +0.44 vs night bus</a:t>
            </a:r>
            <a:endParaRPr lang="en-US" sz="1200" dirty="0"/>
          </a:p>
        </p:txBody>
      </p:sp>
      <p:sp>
        <p:nvSpPr>
          <p:cNvPr id="12" name="Text 8"/>
          <p:cNvSpPr/>
          <p:nvPr/>
        </p:nvSpPr>
        <p:spPr>
          <a:xfrm>
            <a:off x="6876288" y="5413248"/>
            <a:ext cx="3017520" cy="274320"/>
          </a:xfrm>
          <a:prstGeom prst="rect">
            <a:avLst/>
          </a:prstGeom>
          <a:noFill/>
          <a:ln/>
        </p:spPr>
        <p:txBody>
          <a:bodyPr wrap="square" lIns="0" tIns="0" rIns="0" bIns="0" rtlCol="0" anchor="ctr"/>
          <a:lstStyle/>
          <a:p>
            <a:pPr indent="0" marL="0">
              <a:buNone/>
            </a:pPr>
            <a:r>
              <a:rPr lang="en-US" sz="1200" dirty="0">
                <a:solidFill>
                  <a:srgbClr val="8A94A6"/>
                </a:solidFill>
                <a:latin typeface="Arial" pitchFamily="34" charset="0"/>
                <a:ea typeface="Arial" pitchFamily="34" charset="-122"/>
                <a:cs typeface="Arial" pitchFamily="34" charset="-120"/>
              </a:rPr>
              <a:t>Criterion — night pedestrian crashes</a:t>
            </a:r>
            <a:endParaRPr lang="en-US" sz="1200" dirty="0"/>
          </a:p>
        </p:txBody>
      </p:sp>
      <p:sp>
        <p:nvSpPr>
          <p:cNvPr id="13" name="Text 9"/>
          <p:cNvSpPr/>
          <p:nvPr/>
        </p:nvSpPr>
        <p:spPr>
          <a:xfrm>
            <a:off x="9966960" y="5413248"/>
            <a:ext cx="1645920" cy="274320"/>
          </a:xfrm>
          <a:prstGeom prst="rect">
            <a:avLst/>
          </a:prstGeom>
          <a:noFill/>
          <a:ln/>
        </p:spPr>
        <p:txBody>
          <a:bodyPr wrap="square" lIns="0" tIns="0" rIns="0" bIns="0" rtlCol="0" anchor="ctr"/>
          <a:lstStyle/>
          <a:p>
            <a:pPr algn="r" indent="0" marL="0">
              <a:buNone/>
            </a:pPr>
            <a:r>
              <a:rPr lang="en-US" sz="1200" dirty="0">
                <a:solidFill>
                  <a:srgbClr val="8A94A6"/>
                </a:solidFill>
                <a:latin typeface="Arial" pitchFamily="34" charset="0"/>
                <a:ea typeface="Arial" pitchFamily="34" charset="-122"/>
                <a:cs typeface="Arial" pitchFamily="34" charset="-120"/>
              </a:rPr>
              <a:t>not yet measured</a:t>
            </a:r>
            <a:endParaRPr lang="en-US" sz="1200" dirty="0"/>
          </a:p>
        </p:txBody>
      </p:sp>
      <p:sp>
        <p:nvSpPr>
          <p:cNvPr id="14" name="Text 10"/>
          <p:cNvSpPr/>
          <p:nvPr/>
        </p:nvSpPr>
        <p:spPr>
          <a:xfrm>
            <a:off x="6876288" y="5797296"/>
            <a:ext cx="3017520" cy="274320"/>
          </a:xfrm>
          <a:prstGeom prst="rect">
            <a:avLst/>
          </a:prstGeom>
          <a:noFill/>
          <a:ln/>
        </p:spPr>
        <p:txBody>
          <a:bodyPr wrap="square" lIns="0" tIns="0" rIns="0" bIns="0" rtlCol="0" anchor="ctr"/>
          <a:lstStyle/>
          <a:p>
            <a:pPr indent="0" marL="0">
              <a:buNone/>
            </a:pPr>
            <a:r>
              <a:rPr lang="en-US" sz="1200" dirty="0">
                <a:solidFill>
                  <a:srgbClr val="8A94A6"/>
                </a:solidFill>
                <a:latin typeface="Arial" pitchFamily="34" charset="0"/>
                <a:ea typeface="Arial" pitchFamily="34" charset="-122"/>
                <a:cs typeface="Arial" pitchFamily="34" charset="-120"/>
              </a:rPr>
              <a:t>Ground truth — stratified field counts</a:t>
            </a:r>
            <a:endParaRPr lang="en-US" sz="1200" dirty="0"/>
          </a:p>
        </p:txBody>
      </p:sp>
      <p:sp>
        <p:nvSpPr>
          <p:cNvPr id="15" name="Text 11"/>
          <p:cNvSpPr/>
          <p:nvPr/>
        </p:nvSpPr>
        <p:spPr>
          <a:xfrm>
            <a:off x="9966960" y="5797296"/>
            <a:ext cx="1645920" cy="274320"/>
          </a:xfrm>
          <a:prstGeom prst="rect">
            <a:avLst/>
          </a:prstGeom>
          <a:noFill/>
          <a:ln/>
        </p:spPr>
        <p:txBody>
          <a:bodyPr wrap="square" lIns="0" tIns="0" rIns="0" bIns="0" rtlCol="0" anchor="ctr"/>
          <a:lstStyle/>
          <a:p>
            <a:pPr algn="r" indent="0" marL="0">
              <a:buNone/>
            </a:pPr>
            <a:r>
              <a:rPr lang="en-US" sz="1200" dirty="0">
                <a:solidFill>
                  <a:srgbClr val="8A94A6"/>
                </a:solidFill>
                <a:latin typeface="Arial" pitchFamily="34" charset="0"/>
                <a:ea typeface="Arial" pitchFamily="34" charset="-122"/>
                <a:cs typeface="Arial" pitchFamily="34" charset="-120"/>
              </a:rPr>
              <a:t>not yet measured</a:t>
            </a:r>
            <a:endParaRPr lang="en-US" sz="1200" dirty="0"/>
          </a:p>
        </p:txBody>
      </p:sp>
      <p:sp>
        <p:nvSpPr>
          <p:cNvPr id="16" name="Text 12"/>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out/stats.json · data/pipeline.py · BMTC GTFS via Vonter/bmtc-gtfs. Scatter is all 11,029 segments.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3100" b="1" dirty="0">
                <a:solidFill>
                  <a:srgbClr val="E8EBF0"/>
                </a:solidFill>
                <a:latin typeface="Arial" pitchFamily="34" charset="0"/>
                <a:ea typeface="Arial" pitchFamily="34" charset="-122"/>
                <a:cs typeface="Arial" pitchFamily="34" charset="-120"/>
              </a:rPr>
              <a:t>The data exists. It’s one approval away.</a:t>
            </a:r>
            <a:endParaRPr lang="en-US" sz="3100" dirty="0"/>
          </a:p>
        </p:txBody>
      </p:sp>
      <p:sp>
        <p:nvSpPr>
          <p:cNvPr id="4" name="Text 1"/>
          <p:cNvSpPr/>
          <p:nvPr/>
        </p:nvSpPr>
        <p:spPr>
          <a:xfrm>
            <a:off x="640080" y="1627632"/>
            <a:ext cx="5120640" cy="256032"/>
          </a:xfrm>
          <a:prstGeom prst="rect">
            <a:avLst/>
          </a:prstGeom>
          <a:noFill/>
          <a:ln/>
        </p:spPr>
        <p:txBody>
          <a:bodyPr wrap="square" lIns="0" tIns="0" rIns="0" bIns="0" rtlCol="0" anchor="ctr"/>
          <a:lstStyle/>
          <a:p>
            <a:pPr indent="0" marL="0">
              <a:buNone/>
            </a:pPr>
            <a:r>
              <a:rPr lang="en-US" sz="1100" b="1" spc="200" kern="0" dirty="0">
                <a:solidFill>
                  <a:srgbClr val="8A94A6"/>
                </a:solidFill>
                <a:latin typeface="Arial" pitchFamily="34" charset="0"/>
                <a:ea typeface="Arial" pitchFamily="34" charset="-122"/>
                <a:cs typeface="Arial" pitchFamily="34" charset="-120"/>
              </a:rPr>
              <a:t>HAVE — OPEN, IN HAND</a:t>
            </a:r>
            <a:endParaRPr lang="en-US" sz="1100" dirty="0"/>
          </a:p>
        </p:txBody>
      </p:sp>
      <p:sp>
        <p:nvSpPr>
          <p:cNvPr id="5" name="Shape 2"/>
          <p:cNvSpPr/>
          <p:nvPr/>
        </p:nvSpPr>
        <p:spPr>
          <a:xfrm>
            <a:off x="640080" y="1920240"/>
            <a:ext cx="5120640" cy="10973"/>
          </a:xfrm>
          <a:prstGeom prst="rect">
            <a:avLst/>
          </a:prstGeom>
          <a:solidFill>
            <a:srgbClr val="252C3A"/>
          </a:solidFill>
          <a:ln w="12700">
            <a:solidFill>
              <a:srgbClr val="333333"/>
            </a:solidFill>
            <a:prstDash val="solid"/>
          </a:ln>
        </p:spPr>
      </p:sp>
      <p:sp>
        <p:nvSpPr>
          <p:cNvPr id="6" name="Text 3"/>
          <p:cNvSpPr/>
          <p:nvPr/>
        </p:nvSpPr>
        <p:spPr>
          <a:xfrm>
            <a:off x="640080" y="2084832"/>
            <a:ext cx="5120640" cy="365760"/>
          </a:xfrm>
          <a:prstGeom prst="rect">
            <a:avLst/>
          </a:prstGeom>
          <a:noFill/>
          <a:ln/>
        </p:spPr>
        <p:txBody>
          <a:bodyPr wrap="square" lIns="0" tIns="0" rIns="0" bIns="0" rtlCol="0" anchor="ctr"/>
          <a:lstStyle/>
          <a:p>
            <a:pPr indent="0" marL="0">
              <a:lnSpc>
                <a:spcPts val="1900"/>
              </a:lnSpc>
              <a:buNone/>
            </a:pPr>
            <a:r>
              <a:rPr lang="en-US" sz="1350" dirty="0">
                <a:solidFill>
                  <a:srgbClr val="E8EBF0"/>
                </a:solidFill>
                <a:latin typeface="Arial" pitchFamily="34" charset="0"/>
                <a:ea typeface="Arial" pitchFamily="34" charset="-122"/>
                <a:cs typeface="Arial" pitchFamily="34" charset="-120"/>
              </a:rPr>
              <a:t>126,974 grievances for 2025 · six years available</a:t>
            </a:r>
            <a:endParaRPr lang="en-US" sz="1350" dirty="0"/>
          </a:p>
        </p:txBody>
      </p:sp>
      <p:sp>
        <p:nvSpPr>
          <p:cNvPr id="7" name="Text 4"/>
          <p:cNvSpPr/>
          <p:nvPr/>
        </p:nvSpPr>
        <p:spPr>
          <a:xfrm>
            <a:off x="640080" y="2487168"/>
            <a:ext cx="5120640" cy="365760"/>
          </a:xfrm>
          <a:prstGeom prst="rect">
            <a:avLst/>
          </a:prstGeom>
          <a:noFill/>
          <a:ln/>
        </p:spPr>
        <p:txBody>
          <a:bodyPr wrap="square" lIns="0" tIns="0" rIns="0" bIns="0" rtlCol="0" anchor="ctr"/>
          <a:lstStyle/>
          <a:p>
            <a:pPr indent="0" marL="0">
              <a:lnSpc>
                <a:spcPts val="1900"/>
              </a:lnSpc>
              <a:buNone/>
            </a:pPr>
            <a:r>
              <a:rPr lang="en-US" sz="1350" dirty="0">
                <a:solidFill>
                  <a:srgbClr val="E8EBF0"/>
                </a:solidFill>
                <a:latin typeface="Arial" pitchFamily="34" charset="0"/>
                <a:ea typeface="Arial" pitchFamily="34" charset="-122"/>
                <a:cs typeface="Arial" pitchFamily="34" charset="-120"/>
              </a:rPr>
              <a:t>1,508 mapped lamps · 1,128 labelled working / not working</a:t>
            </a:r>
            <a:endParaRPr lang="en-US" sz="1350" dirty="0"/>
          </a:p>
        </p:txBody>
      </p:sp>
      <p:sp>
        <p:nvSpPr>
          <p:cNvPr id="8" name="Text 5"/>
          <p:cNvSpPr/>
          <p:nvPr/>
        </p:nvSpPr>
        <p:spPr>
          <a:xfrm>
            <a:off x="640080" y="2889504"/>
            <a:ext cx="5120640" cy="365760"/>
          </a:xfrm>
          <a:prstGeom prst="rect">
            <a:avLst/>
          </a:prstGeom>
          <a:noFill/>
          <a:ln/>
        </p:spPr>
        <p:txBody>
          <a:bodyPr wrap="square" lIns="0" tIns="0" rIns="0" bIns="0" rtlCol="0" anchor="ctr"/>
          <a:lstStyle/>
          <a:p>
            <a:pPr indent="0" marL="0">
              <a:lnSpc>
                <a:spcPts val="1900"/>
              </a:lnSpc>
              <a:buNone/>
            </a:pPr>
            <a:r>
              <a:rPr lang="en-US" sz="1350" dirty="0">
                <a:solidFill>
                  <a:srgbClr val="E8EBF0"/>
                </a:solidFill>
                <a:latin typeface="Arial" pitchFamily="34" charset="0"/>
                <a:ea typeface="Arial" pitchFamily="34" charset="-122"/>
                <a:cs typeface="Arial" pitchFamily="34" charset="-120"/>
              </a:rPr>
              <a:t>Per-lamp KML for the ORR corridor and Bellandur/HSR</a:t>
            </a:r>
            <a:endParaRPr lang="en-US" sz="1350" dirty="0"/>
          </a:p>
        </p:txBody>
      </p:sp>
      <p:sp>
        <p:nvSpPr>
          <p:cNvPr id="9" name="Text 6"/>
          <p:cNvSpPr/>
          <p:nvPr/>
        </p:nvSpPr>
        <p:spPr>
          <a:xfrm>
            <a:off x="640080" y="3291840"/>
            <a:ext cx="5120640" cy="365760"/>
          </a:xfrm>
          <a:prstGeom prst="rect">
            <a:avLst/>
          </a:prstGeom>
          <a:noFill/>
          <a:ln/>
        </p:spPr>
        <p:txBody>
          <a:bodyPr wrap="square" lIns="0" tIns="0" rIns="0" bIns="0" rtlCol="0" anchor="ctr"/>
          <a:lstStyle/>
          <a:p>
            <a:pPr indent="0" marL="0">
              <a:lnSpc>
                <a:spcPts val="1900"/>
              </a:lnSpc>
              <a:buNone/>
            </a:pPr>
            <a:r>
              <a:rPr lang="en-US" sz="1350" dirty="0">
                <a:solidFill>
                  <a:srgbClr val="E8EBF0"/>
                </a:solidFill>
                <a:latin typeface="Arial" pitchFamily="34" charset="0"/>
                <a:ea typeface="Arial" pitchFamily="34" charset="-122"/>
                <a:cs typeface="Arial" pitchFamily="34" charset="-120"/>
              </a:rPr>
              <a:t>Lamp counts for all 198 wards — 421,113 lamps</a:t>
            </a:r>
            <a:endParaRPr lang="en-US" sz="1350" dirty="0"/>
          </a:p>
        </p:txBody>
      </p:sp>
      <p:sp>
        <p:nvSpPr>
          <p:cNvPr id="10" name="Text 7"/>
          <p:cNvSpPr/>
          <p:nvPr/>
        </p:nvSpPr>
        <p:spPr>
          <a:xfrm>
            <a:off x="640080" y="3694176"/>
            <a:ext cx="5120640" cy="365760"/>
          </a:xfrm>
          <a:prstGeom prst="rect">
            <a:avLst/>
          </a:prstGeom>
          <a:noFill/>
          <a:ln/>
        </p:spPr>
        <p:txBody>
          <a:bodyPr wrap="square" lIns="0" tIns="0" rIns="0" bIns="0" rtlCol="0" anchor="ctr"/>
          <a:lstStyle/>
          <a:p>
            <a:pPr indent="0" marL="0">
              <a:lnSpc>
                <a:spcPts val="1900"/>
              </a:lnSpc>
              <a:buNone/>
            </a:pPr>
            <a:r>
              <a:rPr lang="en-US" sz="1350" dirty="0">
                <a:solidFill>
                  <a:srgbClr val="E8EBF0"/>
                </a:solidFill>
                <a:latin typeface="Arial" pitchFamily="34" charset="0"/>
                <a:ea typeface="Arial" pitchFamily="34" charset="-122"/>
                <a:cs typeface="Arial" pitchFamily="34" charset="-120"/>
              </a:rPr>
              <a:t>BMTC GTFS with per-stop departure times</a:t>
            </a:r>
            <a:endParaRPr lang="en-US" sz="1350" dirty="0"/>
          </a:p>
        </p:txBody>
      </p:sp>
      <p:sp>
        <p:nvSpPr>
          <p:cNvPr id="11" name="Text 8"/>
          <p:cNvSpPr/>
          <p:nvPr/>
        </p:nvSpPr>
        <p:spPr>
          <a:xfrm>
            <a:off x="640080" y="4096512"/>
            <a:ext cx="5120640" cy="365760"/>
          </a:xfrm>
          <a:prstGeom prst="rect">
            <a:avLst/>
          </a:prstGeom>
          <a:noFill/>
          <a:ln/>
        </p:spPr>
        <p:txBody>
          <a:bodyPr wrap="square" lIns="0" tIns="0" rIns="0" bIns="0" rtlCol="0" anchor="ctr"/>
          <a:lstStyle/>
          <a:p>
            <a:pPr indent="0" marL="0">
              <a:lnSpc>
                <a:spcPts val="1900"/>
              </a:lnSpc>
              <a:buNone/>
            </a:pPr>
            <a:r>
              <a:rPr lang="en-US" sz="1350" dirty="0">
                <a:solidFill>
                  <a:srgbClr val="E8EBF0"/>
                </a:solidFill>
                <a:latin typeface="Arial" pitchFamily="34" charset="0"/>
                <a:ea typeface="Arial" pitchFamily="34" charset="-122"/>
                <a:cs typeface="Arial" pitchFamily="34" charset="-120"/>
              </a:rPr>
              <a:t>A two-date citizen lamp audit, 469 lamps</a:t>
            </a:r>
            <a:endParaRPr lang="en-US" sz="1350" dirty="0"/>
          </a:p>
        </p:txBody>
      </p:sp>
      <p:sp>
        <p:nvSpPr>
          <p:cNvPr id="12" name="Text 9"/>
          <p:cNvSpPr/>
          <p:nvPr/>
        </p:nvSpPr>
        <p:spPr>
          <a:xfrm>
            <a:off x="640080" y="4498848"/>
            <a:ext cx="5120640" cy="365760"/>
          </a:xfrm>
          <a:prstGeom prst="rect">
            <a:avLst/>
          </a:prstGeom>
          <a:noFill/>
          <a:ln/>
        </p:spPr>
        <p:txBody>
          <a:bodyPr wrap="square" lIns="0" tIns="0" rIns="0" bIns="0" rtlCol="0" anchor="ctr"/>
          <a:lstStyle/>
          <a:p>
            <a:pPr indent="0" marL="0">
              <a:lnSpc>
                <a:spcPts val="1900"/>
              </a:lnSpc>
              <a:buNone/>
            </a:pPr>
            <a:r>
              <a:rPr lang="en-US" sz="1350" dirty="0">
                <a:solidFill>
                  <a:srgbClr val="E8EBF0"/>
                </a:solidFill>
                <a:latin typeface="Arial" pitchFamily="34" charset="0"/>
                <a:ea typeface="Arial" pitchFamily="34" charset="-122"/>
                <a:cs typeface="Arial" pitchFamily="34" charset="-120"/>
              </a:rPr>
              <a:t>Night pedestrian crash reports</a:t>
            </a:r>
            <a:endParaRPr lang="en-US" sz="1350" dirty="0"/>
          </a:p>
        </p:txBody>
      </p:sp>
      <p:sp>
        <p:nvSpPr>
          <p:cNvPr id="13" name="Shape 10"/>
          <p:cNvSpPr/>
          <p:nvPr/>
        </p:nvSpPr>
        <p:spPr>
          <a:xfrm>
            <a:off x="5943600" y="1627632"/>
            <a:ext cx="10973" cy="3977640"/>
          </a:xfrm>
          <a:prstGeom prst="rect">
            <a:avLst/>
          </a:prstGeom>
          <a:solidFill>
            <a:srgbClr val="252C3A"/>
          </a:solidFill>
          <a:ln w="12700">
            <a:solidFill>
              <a:srgbClr val="333333"/>
            </a:solidFill>
            <a:prstDash val="solid"/>
          </a:ln>
        </p:spPr>
      </p:sp>
      <p:sp>
        <p:nvSpPr>
          <p:cNvPr id="14" name="Text 11"/>
          <p:cNvSpPr/>
          <p:nvPr/>
        </p:nvSpPr>
        <p:spPr>
          <a:xfrm>
            <a:off x="6428232" y="1627632"/>
            <a:ext cx="5120640" cy="256032"/>
          </a:xfrm>
          <a:prstGeom prst="rect">
            <a:avLst/>
          </a:prstGeom>
          <a:noFill/>
          <a:ln/>
        </p:spPr>
        <p:txBody>
          <a:bodyPr wrap="square" lIns="0" tIns="0" rIns="0" bIns="0" rtlCol="0" anchor="ctr"/>
          <a:lstStyle/>
          <a:p>
            <a:pPr indent="0" marL="0">
              <a:buNone/>
            </a:pPr>
            <a:r>
              <a:rPr lang="en-US" sz="1100" b="1" spc="200" kern="0" dirty="0">
                <a:solidFill>
                  <a:srgbClr val="F2A93B"/>
                </a:solidFill>
                <a:latin typeface="Arial" pitchFamily="34" charset="0"/>
                <a:ea typeface="Arial" pitchFamily="34" charset="-122"/>
                <a:cs typeface="Arial" pitchFamily="34" charset="-120"/>
              </a:rPr>
              <a:t>GATED — CATALOGUED, ONE APPROVAL AWAY</a:t>
            </a:r>
            <a:endParaRPr lang="en-US" sz="1100" dirty="0"/>
          </a:p>
        </p:txBody>
      </p:sp>
      <p:sp>
        <p:nvSpPr>
          <p:cNvPr id="15" name="Shape 12"/>
          <p:cNvSpPr/>
          <p:nvPr/>
        </p:nvSpPr>
        <p:spPr>
          <a:xfrm>
            <a:off x="6428232" y="1920240"/>
            <a:ext cx="5120640" cy="10973"/>
          </a:xfrm>
          <a:prstGeom prst="rect">
            <a:avLst/>
          </a:prstGeom>
          <a:solidFill>
            <a:srgbClr val="252C3A"/>
          </a:solidFill>
          <a:ln w="12700">
            <a:solidFill>
              <a:srgbClr val="333333"/>
            </a:solidFill>
            <a:prstDash val="solid"/>
          </a:ln>
        </p:spPr>
      </p:sp>
      <p:sp>
        <p:nvSpPr>
          <p:cNvPr id="16" name="Text 13"/>
          <p:cNvSpPr/>
          <p:nvPr/>
        </p:nvSpPr>
        <p:spPr>
          <a:xfrm>
            <a:off x="6428232" y="2084832"/>
            <a:ext cx="5120640" cy="1005840"/>
          </a:xfrm>
          <a:prstGeom prst="rect">
            <a:avLst/>
          </a:prstGeom>
          <a:noFill/>
          <a:ln/>
        </p:spPr>
        <p:txBody>
          <a:bodyPr wrap="square" lIns="0" tIns="0" rIns="0" bIns="0" rtlCol="0" anchor="ctr"/>
          <a:lstStyle/>
          <a:p>
            <a:pPr indent="0" marL="0">
              <a:lnSpc>
                <a:spcPts val="1800"/>
              </a:lnSpc>
              <a:buNone/>
            </a:pPr>
            <a:r>
              <a:rPr lang="en-US" sz="1300" dirty="0">
                <a:solidFill>
                  <a:srgbClr val="8A94A6"/>
                </a:solidFill>
                <a:latin typeface="Arial" pitchFamily="34" charset="0"/>
                <a:ea typeface="Arial" pitchFamily="34" charset="-122"/>
                <a:cs typeface="Arial" pitchFamily="34" charset="-120"/>
              </a:rPr>
              <a:t>IUDX · Electronics City Industrial Township Authority
</a:t>
            </a:r>
            <a:pPr indent="0" marL="0">
              <a:lnSpc>
                <a:spcPts val="1800"/>
              </a:lnSpc>
              <a:buNone/>
            </a:pPr>
            <a:r>
              <a:rPr lang="en-US" sz="1300" b="1" dirty="0">
                <a:solidFill>
                  <a:srgbClr val="E8EBF0"/>
                </a:solidFill>
                <a:latin typeface="Arial" pitchFamily="34" charset="0"/>
                <a:ea typeface="Arial" pitchFamily="34" charset="-122"/>
                <a:cs typeface="Arial" pitchFamily="34" charset="-120"/>
              </a:rPr>
              <a:t>“Streetlights Location Info in Electronic City, Bengaluru”</a:t>
            </a:r>
            <a:pPr indent="0" marL="0">
              <a:lnSpc>
                <a:spcPts val="1800"/>
              </a:lnSpc>
              <a:buNone/>
            </a:pPr>
            <a:r>
              <a:rPr lang="en-US" sz="1300" dirty="0">
                <a:solidFill>
                  <a:srgbClr val="8A94A6"/>
                </a:solidFill>
                <a:latin typeface="Arial" pitchFamily="34" charset="0"/>
                <a:ea typeface="Arial" pitchFamily="34" charset="-122"/>
                <a:cs typeface="Arial" pitchFamily="34" charset="-120"/>
              </a:rPr>
              <a:t>  — with an hourly current-and-voltage companion. Marked Private. The sample record is public:</a:t>
            </a:r>
            <a:endParaRPr lang="en-US" sz="1300" dirty="0"/>
          </a:p>
        </p:txBody>
      </p:sp>
      <p:sp>
        <p:nvSpPr>
          <p:cNvPr id="17" name="Text 14"/>
          <p:cNvSpPr/>
          <p:nvPr/>
        </p:nvSpPr>
        <p:spPr>
          <a:xfrm>
            <a:off x="6428232" y="3310128"/>
            <a:ext cx="5120640" cy="841248"/>
          </a:xfrm>
          <a:prstGeom prst="rect">
            <a:avLst/>
          </a:prstGeom>
          <a:solidFill>
            <a:srgbClr val="141A24"/>
          </a:solidFill>
          <a:ln/>
        </p:spPr>
        <p:txBody>
          <a:bodyPr wrap="square" lIns="0" tIns="0" rIns="0" bIns="0" rtlCol="0" anchor="t"/>
          <a:lstStyle/>
          <a:p>
            <a:pPr indent="0" marL="0">
              <a:lnSpc>
                <a:spcPts val="1700"/>
              </a:lnSpc>
              <a:buNone/>
            </a:pPr>
            <a:r>
              <a:rPr lang="en-US" sz="1200" dirty="0">
                <a:solidFill>
                  <a:srgbClr val="E8EBF0"/>
                </a:solidFill>
                <a:latin typeface="Courier New" pitchFamily="34" charset="0"/>
                <a:ea typeface="Courier New" pitchFamily="34" charset="-122"/>
                <a:cs typeface="Courier New" pitchFamily="34" charset="-120"/>
              </a:rPr>
              <a:t>{"deviceID": "L0302",</a:t>
            </a:r>
            <a:endParaRPr lang="en-US" sz="1200" dirty="0"/>
          </a:p>
          <a:p>
            <a:pPr indent="0" marL="0">
              <a:lnSpc>
                <a:spcPts val="1700"/>
              </a:lnSpc>
              <a:buNone/>
            </a:pPr>
            <a:r>
              <a:rPr lang="en-US" sz="1200" dirty="0">
                <a:solidFill>
                  <a:srgbClr val="E8EBF0"/>
                </a:solidFill>
                <a:latin typeface="Courier New" pitchFamily="34" charset="0"/>
                <a:ea typeface="Courier New" pitchFamily="34" charset="-122"/>
                <a:cs typeface="Courier New" pitchFamily="34" charset="-120"/>
              </a:rPr>
              <a:t> "location": {"type": "Point",</a:t>
            </a:r>
            <a:endParaRPr lang="en-US" sz="1200" dirty="0"/>
          </a:p>
          <a:p>
            <a:pPr indent="0" marL="0">
              <a:lnSpc>
                <a:spcPts val="1700"/>
              </a:lnSpc>
              <a:buNone/>
            </a:pPr>
            <a:r>
              <a:rPr lang="en-US" sz="1200" dirty="0">
                <a:solidFill>
                  <a:srgbClr val="E8EBF0"/>
                </a:solidFill>
                <a:latin typeface="Courier New" pitchFamily="34" charset="0"/>
                <a:ea typeface="Courier New" pitchFamily="34" charset="-122"/>
                <a:cs typeface="Courier New" pitchFamily="34" charset="-120"/>
              </a:rPr>
              <a:t>   "coordinates": [77.666046, 12.841758]}}</a:t>
            </a:r>
            <a:endParaRPr lang="en-US" sz="1200" dirty="0"/>
          </a:p>
        </p:txBody>
      </p:sp>
      <p:sp>
        <p:nvSpPr>
          <p:cNvPr id="18" name="Text 15"/>
          <p:cNvSpPr/>
          <p:nvPr/>
        </p:nvSpPr>
        <p:spPr>
          <a:xfrm>
            <a:off x="6428232" y="4315968"/>
            <a:ext cx="5120640" cy="1371600"/>
          </a:xfrm>
          <a:prstGeom prst="rect">
            <a:avLst/>
          </a:prstGeom>
          <a:noFill/>
          <a:ln/>
        </p:spPr>
        <p:txBody>
          <a:bodyPr wrap="square" lIns="0" tIns="0" rIns="0" bIns="0" rtlCol="0" anchor="ctr"/>
          <a:lstStyle/>
          <a:p>
            <a:pPr indent="0" marL="0">
              <a:lnSpc>
                <a:spcPts val="1800"/>
              </a:lnSpc>
              <a:buNone/>
            </a:pPr>
            <a:r>
              <a:rPr lang="en-US" sz="1300" dirty="0">
                <a:solidFill>
                  <a:srgbClr val="8A94A6"/>
                </a:solidFill>
                <a:latin typeface="Arial" pitchFamily="34" charset="0"/>
                <a:ea typeface="Arial" pitchFamily="34" charset="-122"/>
                <a:cs typeface="Arial" pitchFamily="34" charset="-120"/>
              </a:rPr>
              <a:t>Roshni’s lamp record is that record, copied verbatim. </a:t>
            </a:r>
            <a:pPr indent="0" marL="0">
              <a:lnSpc>
                <a:spcPts val="1800"/>
              </a:lnSpc>
              <a:buNone/>
            </a:pPr>
            <a:r>
              <a:rPr lang="en-US" sz="1300" b="1" dirty="0">
                <a:solidFill>
                  <a:srgbClr val="E8EBF0"/>
                </a:solidFill>
                <a:latin typeface="Arial" pitchFamily="34" charset="0"/>
                <a:ea typeface="Arial" pitchFamily="34" charset="-122"/>
                <a:cs typeface="Arial" pitchFamily="34" charset="-120"/>
              </a:rPr>
              <a:t>“We plug into the municipal feed the day access is granted” is a schema fact, not a promise.</a:t>
            </a:r>
            <a:pPr indent="0" marL="0">
              <a:lnSpc>
                <a:spcPts val="1800"/>
              </a:lnSpc>
              <a:buNone/>
            </a:pPr>
            <a:r>
              <a:rPr lang="en-US" sz="1300" dirty="0">
                <a:solidFill>
                  <a:srgbClr val="8A94A6"/>
                </a:solidFill>
                <a:latin typeface="Arial" pitchFamily="34" charset="0"/>
                <a:ea typeface="Arial" pitchFamily="34" charset="-122"/>
                <a:cs typeface="Arial" pitchFamily="34" charset="-120"/>
              </a:rPr>
              <a:t> When it opens, the prior is replaced by measurement and the bands collapse. The queue, the exposure model, the knapsack and all three screens are unchanged.</a:t>
            </a:r>
            <a:endParaRPr lang="en-US" sz="1300" dirty="0"/>
          </a:p>
        </p:txBody>
      </p:sp>
      <p:sp>
        <p:nvSpPr>
          <p:cNvPr id="19" name="Text 16"/>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93 Indian cities publish streetlight counts through MoHUA’s Smart Cities portal. Zero publish coordinates — D24 is a KPI return, not an asset register.</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3100" b="1" dirty="0">
                <a:solidFill>
                  <a:srgbClr val="E8EBF0"/>
                </a:solidFill>
                <a:latin typeface="Arial" pitchFamily="34" charset="0"/>
                <a:ea typeface="Arial" pitchFamily="34" charset="-122"/>
                <a:cs typeface="Arial" pitchFamily="34" charset="-120"/>
              </a:rPr>
              <a:t>Four things we get wrong, on purpose, out loud</a:t>
            </a:r>
            <a:endParaRPr lang="en-US" sz="3100" dirty="0"/>
          </a:p>
        </p:txBody>
      </p:sp>
      <p:sp>
        <p:nvSpPr>
          <p:cNvPr id="4" name="Text 1"/>
          <p:cNvSpPr/>
          <p:nvPr/>
        </p:nvSpPr>
        <p:spPr>
          <a:xfrm>
            <a:off x="640080" y="1627632"/>
            <a:ext cx="365760" cy="365760"/>
          </a:xfrm>
          <a:prstGeom prst="rect">
            <a:avLst/>
          </a:prstGeom>
          <a:noFill/>
          <a:ln/>
        </p:spPr>
        <p:txBody>
          <a:bodyPr wrap="square" lIns="0" tIns="0" rIns="0" bIns="0" rtlCol="0" anchor="ctr"/>
          <a:lstStyle/>
          <a:p>
            <a:pPr indent="0" marL="0">
              <a:buNone/>
            </a:pPr>
            <a:r>
              <a:rPr lang="en-US" sz="2000" b="1" dirty="0">
                <a:solidFill>
                  <a:srgbClr val="F2A93B"/>
                </a:solidFill>
                <a:latin typeface="Arial" pitchFamily="34" charset="0"/>
                <a:ea typeface="Arial" pitchFamily="34" charset="-122"/>
                <a:cs typeface="Arial" pitchFamily="34" charset="-120"/>
              </a:rPr>
              <a:t>1</a:t>
            </a:r>
            <a:endParaRPr lang="en-US" sz="2000" dirty="0"/>
          </a:p>
        </p:txBody>
      </p:sp>
      <p:sp>
        <p:nvSpPr>
          <p:cNvPr id="5" name="Text 2"/>
          <p:cNvSpPr/>
          <p:nvPr/>
        </p:nvSpPr>
        <p:spPr>
          <a:xfrm>
            <a:off x="1115568" y="1627632"/>
            <a:ext cx="10424160" cy="274320"/>
          </a:xfrm>
          <a:prstGeom prst="rect">
            <a:avLst/>
          </a:prstGeom>
          <a:noFill/>
          <a:ln/>
        </p:spPr>
        <p:txBody>
          <a:bodyPr wrap="square" lIns="0" tIns="0" rIns="0" bIns="0" rtlCol="0" anchor="ctr"/>
          <a:lstStyle/>
          <a:p>
            <a:pPr indent="0" marL="0">
              <a:buNone/>
            </a:pPr>
            <a:r>
              <a:rPr lang="en-US" sz="1550" b="1" dirty="0">
                <a:solidFill>
                  <a:srgbClr val="E8EBF0"/>
                </a:solidFill>
                <a:latin typeface="Arial" pitchFamily="34" charset="0"/>
                <a:ea typeface="Arial" pitchFamily="34" charset="-122"/>
                <a:cs typeface="Arial" pitchFamily="34" charset="-120"/>
              </a:rPr>
              <a:t>93.7% of our segments run on a ward prior alone</a:t>
            </a:r>
            <a:endParaRPr lang="en-US" sz="1550" dirty="0"/>
          </a:p>
        </p:txBody>
      </p:sp>
      <p:sp>
        <p:nvSpPr>
          <p:cNvPr id="6" name="Text 3"/>
          <p:cNvSpPr/>
          <p:nvPr/>
        </p:nvSpPr>
        <p:spPr>
          <a:xfrm>
            <a:off x="1115568" y="1956816"/>
            <a:ext cx="10424160" cy="694944"/>
          </a:xfrm>
          <a:prstGeom prst="rect">
            <a:avLst/>
          </a:prstGeom>
          <a:noFill/>
          <a:ln/>
        </p:spPr>
        <p:txBody>
          <a:bodyPr wrap="square" lIns="0" tIns="0" rIns="0" bIns="0" rtlCol="0" anchor="ctr"/>
          <a:lstStyle/>
          <a:p>
            <a:pPr indent="0" marL="0">
              <a:lnSpc>
                <a:spcPts val="1800"/>
              </a:lnSpc>
              <a:buNone/>
            </a:pPr>
            <a:r>
              <a:rPr lang="en-US" sz="1350" dirty="0">
                <a:solidFill>
                  <a:srgbClr val="B9C0CC"/>
                </a:solidFill>
                <a:latin typeface="Arial" pitchFamily="34" charset="0"/>
                <a:ea typeface="Arial" pitchFamily="34" charset="-122"/>
                <a:cs typeface="Arial" pitchFamily="34" charset="-120"/>
              </a:rPr>
              <a:t>690 of 11,029 carry any lamp evidence. Every other one carries a confidence band that says so — the router avoids the least-certain fifth of the network and the report screen targets it. But most of the map is an estimate, and we would rather say that than have you find it.</a:t>
            </a:r>
            <a:endParaRPr lang="en-US" sz="1350" dirty="0"/>
          </a:p>
        </p:txBody>
      </p:sp>
      <p:sp>
        <p:nvSpPr>
          <p:cNvPr id="7" name="Text 4"/>
          <p:cNvSpPr/>
          <p:nvPr/>
        </p:nvSpPr>
        <p:spPr>
          <a:xfrm>
            <a:off x="640080" y="2633472"/>
            <a:ext cx="365760" cy="365760"/>
          </a:xfrm>
          <a:prstGeom prst="rect">
            <a:avLst/>
          </a:prstGeom>
          <a:noFill/>
          <a:ln/>
        </p:spPr>
        <p:txBody>
          <a:bodyPr wrap="square" lIns="0" tIns="0" rIns="0" bIns="0" rtlCol="0" anchor="ctr"/>
          <a:lstStyle/>
          <a:p>
            <a:pPr indent="0" marL="0">
              <a:buNone/>
            </a:pPr>
            <a:r>
              <a:rPr lang="en-US" sz="2000" b="1" dirty="0">
                <a:solidFill>
                  <a:srgbClr val="F2A93B"/>
                </a:solidFill>
                <a:latin typeface="Arial" pitchFamily="34" charset="0"/>
                <a:ea typeface="Arial" pitchFamily="34" charset="-122"/>
                <a:cs typeface="Arial" pitchFamily="34" charset="-120"/>
              </a:rPr>
              <a:t>2</a:t>
            </a:r>
            <a:endParaRPr lang="en-US" sz="2000" dirty="0"/>
          </a:p>
        </p:txBody>
      </p:sp>
      <p:sp>
        <p:nvSpPr>
          <p:cNvPr id="8" name="Text 5"/>
          <p:cNvSpPr/>
          <p:nvPr/>
        </p:nvSpPr>
        <p:spPr>
          <a:xfrm>
            <a:off x="1115568" y="2633472"/>
            <a:ext cx="10424160" cy="274320"/>
          </a:xfrm>
          <a:prstGeom prst="rect">
            <a:avLst/>
          </a:prstGeom>
          <a:noFill/>
          <a:ln/>
        </p:spPr>
        <p:txBody>
          <a:bodyPr wrap="square" lIns="0" tIns="0" rIns="0" bIns="0" rtlCol="0" anchor="ctr"/>
          <a:lstStyle/>
          <a:p>
            <a:pPr indent="0" marL="0">
              <a:buNone/>
            </a:pPr>
            <a:r>
              <a:rPr lang="en-US" sz="1550" b="1" dirty="0">
                <a:solidFill>
                  <a:srgbClr val="E8EBF0"/>
                </a:solidFill>
                <a:latin typeface="Arial" pitchFamily="34" charset="0"/>
                <a:ea typeface="Arial" pitchFamily="34" charset="-122"/>
                <a:cs typeface="Arial" pitchFamily="34" charset="-120"/>
              </a:rPr>
              <a:t>Our labelled lamps are geographically concentrated</a:t>
            </a:r>
            <a:endParaRPr lang="en-US" sz="1550" dirty="0"/>
          </a:p>
        </p:txBody>
      </p:sp>
      <p:sp>
        <p:nvSpPr>
          <p:cNvPr id="9" name="Text 6"/>
          <p:cNvSpPr/>
          <p:nvPr/>
        </p:nvSpPr>
        <p:spPr>
          <a:xfrm>
            <a:off x="1115568" y="2962656"/>
            <a:ext cx="10424160" cy="694944"/>
          </a:xfrm>
          <a:prstGeom prst="rect">
            <a:avLst/>
          </a:prstGeom>
          <a:noFill/>
          <a:ln/>
        </p:spPr>
        <p:txBody>
          <a:bodyPr wrap="square" lIns="0" tIns="0" rIns="0" bIns="0" rtlCol="0" anchor="ctr"/>
          <a:lstStyle/>
          <a:p>
            <a:pPr indent="0" marL="0">
              <a:lnSpc>
                <a:spcPts val="1800"/>
              </a:lnSpc>
              <a:buNone/>
            </a:pPr>
            <a:r>
              <a:rPr lang="en-US" sz="1350" dirty="0">
                <a:solidFill>
                  <a:srgbClr val="B9C0CC"/>
                </a:solidFill>
                <a:latin typeface="Arial" pitchFamily="34" charset="0"/>
                <a:ea typeface="Arial" pitchFamily="34" charset="-122"/>
                <a:cs typeface="Arial" pitchFamily="34" charset="-120"/>
              </a:rPr>
              <a:t>OSM’s working tags come from citizen surveys, and those surveys walked some wards and not others. We tested whether that flatters the result: restricted to surveyed wards it is 6.4×, with every label deleted 5.4×. It survives — but the concentration is real.</a:t>
            </a:r>
            <a:endParaRPr lang="en-US" sz="1350" dirty="0"/>
          </a:p>
        </p:txBody>
      </p:sp>
      <p:sp>
        <p:nvSpPr>
          <p:cNvPr id="10" name="Text 7"/>
          <p:cNvSpPr/>
          <p:nvPr/>
        </p:nvSpPr>
        <p:spPr>
          <a:xfrm>
            <a:off x="640080" y="3639312"/>
            <a:ext cx="365760" cy="365760"/>
          </a:xfrm>
          <a:prstGeom prst="rect">
            <a:avLst/>
          </a:prstGeom>
          <a:noFill/>
          <a:ln/>
        </p:spPr>
        <p:txBody>
          <a:bodyPr wrap="square" lIns="0" tIns="0" rIns="0" bIns="0" rtlCol="0" anchor="ctr"/>
          <a:lstStyle/>
          <a:p>
            <a:pPr indent="0" marL="0">
              <a:buNone/>
            </a:pPr>
            <a:r>
              <a:rPr lang="en-US" sz="2000" b="1" dirty="0">
                <a:solidFill>
                  <a:srgbClr val="F2A93B"/>
                </a:solidFill>
                <a:latin typeface="Arial" pitchFamily="34" charset="0"/>
                <a:ea typeface="Arial" pitchFamily="34" charset="-122"/>
                <a:cs typeface="Arial" pitchFamily="34" charset="-120"/>
              </a:rPr>
              <a:t>3</a:t>
            </a:r>
            <a:endParaRPr lang="en-US" sz="2000" dirty="0"/>
          </a:p>
        </p:txBody>
      </p:sp>
      <p:sp>
        <p:nvSpPr>
          <p:cNvPr id="11" name="Text 8"/>
          <p:cNvSpPr/>
          <p:nvPr/>
        </p:nvSpPr>
        <p:spPr>
          <a:xfrm>
            <a:off x="1115568" y="3639312"/>
            <a:ext cx="10424160" cy="274320"/>
          </a:xfrm>
          <a:prstGeom prst="rect">
            <a:avLst/>
          </a:prstGeom>
          <a:noFill/>
          <a:ln/>
        </p:spPr>
        <p:txBody>
          <a:bodyPr wrap="square" lIns="0" tIns="0" rIns="0" bIns="0" rtlCol="0" anchor="ctr"/>
          <a:lstStyle/>
          <a:p>
            <a:pPr indent="0" marL="0">
              <a:buNone/>
            </a:pPr>
            <a:r>
              <a:rPr lang="en-US" sz="1550" b="1" dirty="0">
                <a:solidFill>
                  <a:srgbClr val="E8EBF0"/>
                </a:solidFill>
                <a:latin typeface="Arial" pitchFamily="34" charset="0"/>
                <a:ea typeface="Arial" pitchFamily="34" charset="-122"/>
                <a:cs typeface="Arial" pitchFamily="34" charset="-120"/>
              </a:rPr>
              <a:t>We cannot filter night activity the way we designed</a:t>
            </a:r>
            <a:endParaRPr lang="en-US" sz="1550" dirty="0"/>
          </a:p>
        </p:txBody>
      </p:sp>
      <p:sp>
        <p:nvSpPr>
          <p:cNvPr id="12" name="Text 9"/>
          <p:cNvSpPr/>
          <p:nvPr/>
        </p:nvSpPr>
        <p:spPr>
          <a:xfrm>
            <a:off x="1115568" y="3968496"/>
            <a:ext cx="10424160" cy="694944"/>
          </a:xfrm>
          <a:prstGeom prst="rect">
            <a:avLst/>
          </a:prstGeom>
          <a:noFill/>
          <a:ln/>
        </p:spPr>
        <p:txBody>
          <a:bodyPr wrap="square" lIns="0" tIns="0" rIns="0" bIns="0" rtlCol="0" anchor="ctr"/>
          <a:lstStyle/>
          <a:p>
            <a:pPr indent="0" marL="0">
              <a:lnSpc>
                <a:spcPts val="1800"/>
              </a:lnSpc>
              <a:buNone/>
            </a:pPr>
            <a:r>
              <a:rPr lang="en-US" sz="1350" dirty="0">
                <a:solidFill>
                  <a:srgbClr val="B9C0CC"/>
                </a:solidFill>
                <a:latin typeface="Arial" pitchFamily="34" charset="0"/>
                <a:ea typeface="Arial" pitchFamily="34" charset="-122"/>
                <a:cs typeface="Arial" pitchFamily="34" charset="-120"/>
              </a:rPr>
              <a:t>OSM records opening_hours for 6.7% of POIs in our corridor — 78 of 1,157 — so we weight by POI class instead. And Google’s review counts, which we do not have, undercount thelas and tea stalls: exactly the population most exposed to dark streets.</a:t>
            </a:r>
            <a:endParaRPr lang="en-US" sz="1350" dirty="0"/>
          </a:p>
        </p:txBody>
      </p:sp>
      <p:sp>
        <p:nvSpPr>
          <p:cNvPr id="13" name="Text 10"/>
          <p:cNvSpPr/>
          <p:nvPr/>
        </p:nvSpPr>
        <p:spPr>
          <a:xfrm>
            <a:off x="640080" y="4645152"/>
            <a:ext cx="365760" cy="365760"/>
          </a:xfrm>
          <a:prstGeom prst="rect">
            <a:avLst/>
          </a:prstGeom>
          <a:noFill/>
          <a:ln/>
        </p:spPr>
        <p:txBody>
          <a:bodyPr wrap="square" lIns="0" tIns="0" rIns="0" bIns="0" rtlCol="0" anchor="ctr"/>
          <a:lstStyle/>
          <a:p>
            <a:pPr indent="0" marL="0">
              <a:buNone/>
            </a:pPr>
            <a:r>
              <a:rPr lang="en-US" sz="2000" b="1" dirty="0">
                <a:solidFill>
                  <a:srgbClr val="F2A93B"/>
                </a:solidFill>
                <a:latin typeface="Arial" pitchFamily="34" charset="0"/>
                <a:ea typeface="Arial" pitchFamily="34" charset="-122"/>
                <a:cs typeface="Arial" pitchFamily="34" charset="-120"/>
              </a:rPr>
              <a:t>4</a:t>
            </a:r>
            <a:endParaRPr lang="en-US" sz="2000" dirty="0"/>
          </a:p>
        </p:txBody>
      </p:sp>
      <p:sp>
        <p:nvSpPr>
          <p:cNvPr id="14" name="Text 11"/>
          <p:cNvSpPr/>
          <p:nvPr/>
        </p:nvSpPr>
        <p:spPr>
          <a:xfrm>
            <a:off x="1115568" y="4645152"/>
            <a:ext cx="10424160" cy="274320"/>
          </a:xfrm>
          <a:prstGeom prst="rect">
            <a:avLst/>
          </a:prstGeom>
          <a:noFill/>
          <a:ln/>
        </p:spPr>
        <p:txBody>
          <a:bodyPr wrap="square" lIns="0" tIns="0" rIns="0" bIns="0" rtlCol="0" anchor="ctr"/>
          <a:lstStyle/>
          <a:p>
            <a:pPr indent="0" marL="0">
              <a:buNone/>
            </a:pPr>
            <a:r>
              <a:rPr lang="en-US" sz="1550" b="1" dirty="0">
                <a:solidFill>
                  <a:srgbClr val="E8EBF0"/>
                </a:solidFill>
                <a:latin typeface="Arial" pitchFamily="34" charset="0"/>
                <a:ea typeface="Arial" pitchFamily="34" charset="-122"/>
                <a:cs typeface="Arial" pitchFamily="34" charset="-120"/>
              </a:rPr>
              <a:t>The working tags are survey-biased, and canopy is missing entirely</a:t>
            </a:r>
            <a:endParaRPr lang="en-US" sz="1550" dirty="0"/>
          </a:p>
        </p:txBody>
      </p:sp>
      <p:sp>
        <p:nvSpPr>
          <p:cNvPr id="15" name="Text 12"/>
          <p:cNvSpPr/>
          <p:nvPr/>
        </p:nvSpPr>
        <p:spPr>
          <a:xfrm>
            <a:off x="1115568" y="4974336"/>
            <a:ext cx="10424160" cy="694944"/>
          </a:xfrm>
          <a:prstGeom prst="rect">
            <a:avLst/>
          </a:prstGeom>
          <a:noFill/>
          <a:ln/>
        </p:spPr>
        <p:txBody>
          <a:bodyPr wrap="square" lIns="0" tIns="0" rIns="0" bIns="0" rtlCol="0" anchor="ctr"/>
          <a:lstStyle/>
          <a:p>
            <a:pPr indent="0" marL="0">
              <a:lnSpc>
                <a:spcPts val="1800"/>
              </a:lnSpc>
              <a:buNone/>
            </a:pPr>
            <a:r>
              <a:rPr lang="en-US" sz="1350" dirty="0">
                <a:solidFill>
                  <a:srgbClr val="B9C0CC"/>
                </a:solidFill>
                <a:latin typeface="Arial" pitchFamily="34" charset="0"/>
                <a:ea typeface="Arial" pitchFamily="34" charset="-122"/>
                <a:cs typeface="Arial" pitchFamily="34" charset="-120"/>
              </a:rPr>
              <a:t>657 broken to 471 working is a property of who went out mapping, not Bengaluru’s outage rate — we use them as labels, never as a base rate. Tree canopy is a large effect here and we have no data for it at all.</a:t>
            </a:r>
            <a:endParaRPr lang="en-US" sz="1350" dirty="0"/>
          </a:p>
        </p:txBody>
      </p:sp>
      <p:sp>
        <p:nvSpPr>
          <p:cNvPr id="16" name="Text 13"/>
          <p:cNvSpPr/>
          <p:nvPr/>
        </p:nvSpPr>
        <p:spPr>
          <a:xfrm>
            <a:off x="1115568" y="5742432"/>
            <a:ext cx="10424160" cy="384048"/>
          </a:xfrm>
          <a:prstGeom prst="rect">
            <a:avLst/>
          </a:prstGeom>
          <a:noFill/>
          <a:ln/>
        </p:spPr>
        <p:txBody>
          <a:bodyPr wrap="square" lIns="0" tIns="0" rIns="0" bIns="0" rtlCol="0" anchor="ctr"/>
          <a:lstStyle/>
          <a:p>
            <a:pPr indent="0" marL="0">
              <a:lnSpc>
                <a:spcPts val="1800"/>
              </a:lnSpc>
              <a:buNone/>
            </a:pPr>
            <a:r>
              <a:rPr lang="en-US" sz="1300" dirty="0">
                <a:solidFill>
                  <a:srgbClr val="E8EBF0"/>
                </a:solidFill>
                <a:latin typeface="Arial" pitchFamily="34" charset="0"/>
                <a:ea typeface="Arial" pitchFamily="34" charset="-122"/>
                <a:cs typeface="Arial" pitchFamily="34" charset="-120"/>
              </a:rPr>
              <a:t>And one we are asked about: VIIRS nighttime lights are 500 m per pixel — five to ten city blocks — so they cannot tell you a street is dark. We do not use them that way.</a:t>
            </a:r>
            <a:endParaRPr lang="en-US" sz="1300" dirty="0"/>
          </a:p>
        </p:txBody>
      </p:sp>
      <p:sp>
        <p:nvSpPr>
          <p:cNvPr id="17" name="Shape 14"/>
          <p:cNvSpPr/>
          <p:nvPr/>
        </p:nvSpPr>
        <p:spPr>
          <a:xfrm>
            <a:off x="1115568" y="5632704"/>
            <a:ext cx="10424160" cy="10973"/>
          </a:xfrm>
          <a:prstGeom prst="rect">
            <a:avLst/>
          </a:prstGeom>
          <a:solidFill>
            <a:srgbClr val="252C3A"/>
          </a:solidFill>
          <a:ln w="12700">
            <a:solidFill>
              <a:srgbClr val="333333"/>
            </a:solidFill>
            <a:prstDash val="solid"/>
          </a:ln>
        </p:spPr>
      </p:sp>
      <p:sp>
        <p:nvSpPr>
          <p:cNvPr id="18" name="Text 15"/>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out/stats.json, pipeline run 22 Aug 2026. Volunteered before being asked, on purpose.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3100" b="1" dirty="0">
                <a:solidFill>
                  <a:srgbClr val="E8EBF0"/>
                </a:solidFill>
                <a:latin typeface="Arial" pitchFamily="34" charset="0"/>
                <a:ea typeface="Arial" pitchFamily="34" charset="-122"/>
                <a:cs typeface="Arial" pitchFamily="34" charset="-120"/>
              </a:rPr>
              <a:t>What another week buys</a:t>
            </a:r>
            <a:endParaRPr lang="en-US" sz="3100" dirty="0"/>
          </a:p>
        </p:txBody>
      </p:sp>
      <p:sp>
        <p:nvSpPr>
          <p:cNvPr id="4" name="Text 1"/>
          <p:cNvSpPr/>
          <p:nvPr/>
        </p:nvSpPr>
        <p:spPr>
          <a:xfrm>
            <a:off x="640080" y="1517904"/>
            <a:ext cx="6766560" cy="274320"/>
          </a:xfrm>
          <a:prstGeom prst="rect">
            <a:avLst/>
          </a:prstGeom>
          <a:noFill/>
          <a:ln/>
        </p:spPr>
        <p:txBody>
          <a:bodyPr wrap="square" lIns="0" tIns="0" rIns="0" bIns="0" rtlCol="0" anchor="ctr"/>
          <a:lstStyle/>
          <a:p>
            <a:pPr indent="0" marL="0">
              <a:buNone/>
            </a:pPr>
            <a:r>
              <a:rPr lang="en-US" sz="1400" dirty="0">
                <a:solidFill>
                  <a:srgbClr val="8A94A6"/>
                </a:solidFill>
                <a:latin typeface="Arial" pitchFamily="34" charset="0"/>
                <a:ea typeface="Arial" pitchFamily="34" charset="-122"/>
                <a:cs typeface="Arial" pitchFamily="34" charset="-120"/>
              </a:rPr>
              <a:t>Answered with what we would try to learn, not with features.</a:t>
            </a:r>
            <a:endParaRPr lang="en-US" sz="1400" dirty="0"/>
          </a:p>
        </p:txBody>
      </p:sp>
      <p:sp>
        <p:nvSpPr>
          <p:cNvPr id="5" name="Shape 2"/>
          <p:cNvSpPr/>
          <p:nvPr/>
        </p:nvSpPr>
        <p:spPr>
          <a:xfrm>
            <a:off x="640080" y="1883664"/>
            <a:ext cx="6766560" cy="10973"/>
          </a:xfrm>
          <a:prstGeom prst="rect">
            <a:avLst/>
          </a:prstGeom>
          <a:solidFill>
            <a:srgbClr val="252C3A"/>
          </a:solidFill>
          <a:ln w="12700">
            <a:solidFill>
              <a:srgbClr val="333333"/>
            </a:solidFill>
            <a:prstDash val="solid"/>
          </a:ln>
        </p:spPr>
      </p:sp>
      <p:sp>
        <p:nvSpPr>
          <p:cNvPr id="6" name="Text 3"/>
          <p:cNvSpPr/>
          <p:nvPr/>
        </p:nvSpPr>
        <p:spPr>
          <a:xfrm>
            <a:off x="640080" y="2048256"/>
            <a:ext cx="6766560" cy="256032"/>
          </a:xfrm>
          <a:prstGeom prst="rect">
            <a:avLst/>
          </a:prstGeom>
          <a:noFill/>
          <a:ln/>
        </p:spPr>
        <p:txBody>
          <a:bodyPr wrap="square" lIns="0" tIns="0" rIns="0" bIns="0" rtlCol="0" anchor="ctr"/>
          <a:lstStyle/>
          <a:p>
            <a:pPr indent="0" marL="0">
              <a:buNone/>
            </a:pPr>
            <a:r>
              <a:rPr lang="en-US" sz="1500" b="1" dirty="0">
                <a:solidFill>
                  <a:srgbClr val="E8EBF0"/>
                </a:solidFill>
                <a:latin typeface="Arial" pitchFamily="34" charset="0"/>
                <a:ea typeface="Arial" pitchFamily="34" charset="-122"/>
                <a:cs typeface="Arial" pitchFamily="34" charset="-120"/>
              </a:rPr>
              <a:t>Close the criterion-validation leg</a:t>
            </a:r>
            <a:endParaRPr lang="en-US" sz="1500" dirty="0"/>
          </a:p>
        </p:txBody>
      </p:sp>
      <p:sp>
        <p:nvSpPr>
          <p:cNvPr id="7" name="Text 4"/>
          <p:cNvSpPr/>
          <p:nvPr/>
        </p:nvSpPr>
        <p:spPr>
          <a:xfrm>
            <a:off x="640080" y="2340864"/>
            <a:ext cx="6766560" cy="566928"/>
          </a:xfrm>
          <a:prstGeom prst="rect">
            <a:avLst/>
          </a:prstGeom>
          <a:noFill/>
          <a:ln/>
        </p:spPr>
        <p:txBody>
          <a:bodyPr wrap="square" lIns="0" tIns="0" rIns="0" bIns="0" rtlCol="0" anchor="ctr"/>
          <a:lstStyle/>
          <a:p>
            <a:pPr indent="0" marL="0">
              <a:lnSpc>
                <a:spcPts val="1700"/>
              </a:lnSpc>
              <a:buNone/>
            </a:pPr>
            <a:r>
              <a:rPr lang="en-US" sz="1250" dirty="0">
                <a:solidFill>
                  <a:srgbClr val="B9C0CC"/>
                </a:solidFill>
                <a:latin typeface="Arial" pitchFamily="34" charset="0"/>
                <a:ea typeface="Arial" pitchFamily="34" charset="-122"/>
                <a:cs typeface="Arial" pitchFamily="34" charset="-120"/>
              </a:rPr>
              <a:t>Mine the Bengaluru Traffic Police crash reports for the night pedestrian split. It is the only non-circular validator we have left.</a:t>
            </a:r>
            <a:endParaRPr lang="en-US" sz="1250" dirty="0"/>
          </a:p>
        </p:txBody>
      </p:sp>
      <p:sp>
        <p:nvSpPr>
          <p:cNvPr id="8" name="Text 5"/>
          <p:cNvSpPr/>
          <p:nvPr/>
        </p:nvSpPr>
        <p:spPr>
          <a:xfrm>
            <a:off x="640080" y="3017520"/>
            <a:ext cx="6766560" cy="256032"/>
          </a:xfrm>
          <a:prstGeom prst="rect">
            <a:avLst/>
          </a:prstGeom>
          <a:noFill/>
          <a:ln/>
        </p:spPr>
        <p:txBody>
          <a:bodyPr wrap="square" lIns="0" tIns="0" rIns="0" bIns="0" rtlCol="0" anchor="ctr"/>
          <a:lstStyle/>
          <a:p>
            <a:pPr indent="0" marL="0">
              <a:buNone/>
            </a:pPr>
            <a:r>
              <a:rPr lang="en-US" sz="1500" b="1" dirty="0">
                <a:solidFill>
                  <a:srgbClr val="E8EBF0"/>
                </a:solidFill>
                <a:latin typeface="Arial" pitchFamily="34" charset="0"/>
                <a:ea typeface="Arial" pitchFamily="34" charset="-122"/>
                <a:cs typeface="Arial" pitchFamily="34" charset="-120"/>
              </a:rPr>
              <a:t>Find out whether the ordering is right</a:t>
            </a:r>
            <a:endParaRPr lang="en-US" sz="1500" dirty="0"/>
          </a:p>
        </p:txBody>
      </p:sp>
      <p:sp>
        <p:nvSpPr>
          <p:cNvPr id="9" name="Text 6"/>
          <p:cNvSpPr/>
          <p:nvPr/>
        </p:nvSpPr>
        <p:spPr>
          <a:xfrm>
            <a:off x="640080" y="3310128"/>
            <a:ext cx="6766560" cy="566928"/>
          </a:xfrm>
          <a:prstGeom prst="rect">
            <a:avLst/>
          </a:prstGeom>
          <a:noFill/>
          <a:ln/>
        </p:spPr>
        <p:txBody>
          <a:bodyPr wrap="square" lIns="0" tIns="0" rIns="0" bIns="0" rtlCol="0" anchor="ctr"/>
          <a:lstStyle/>
          <a:p>
            <a:pPr indent="0" marL="0">
              <a:lnSpc>
                <a:spcPts val="1700"/>
              </a:lnSpc>
              <a:buNone/>
            </a:pPr>
            <a:r>
              <a:rPr lang="en-US" sz="1250" dirty="0">
                <a:solidFill>
                  <a:srgbClr val="B9C0CC"/>
                </a:solidFill>
                <a:latin typeface="Arial" pitchFamily="34" charset="0"/>
                <a:ea typeface="Arial" pitchFamily="34" charset="-122"/>
                <a:cs typeface="Arial" pitchFamily="34" charset="-120"/>
              </a:rPr>
              <a:t>Stratified field pedestrian counts at 21:30, and a rank correlation against what the model predicted.</a:t>
            </a:r>
            <a:endParaRPr lang="en-US" sz="1250" dirty="0"/>
          </a:p>
        </p:txBody>
      </p:sp>
      <p:sp>
        <p:nvSpPr>
          <p:cNvPr id="10" name="Text 7"/>
          <p:cNvSpPr/>
          <p:nvPr/>
        </p:nvSpPr>
        <p:spPr>
          <a:xfrm>
            <a:off x="640080" y="3986784"/>
            <a:ext cx="6766560" cy="256032"/>
          </a:xfrm>
          <a:prstGeom prst="rect">
            <a:avLst/>
          </a:prstGeom>
          <a:noFill/>
          <a:ln/>
        </p:spPr>
        <p:txBody>
          <a:bodyPr wrap="square" lIns="0" tIns="0" rIns="0" bIns="0" rtlCol="0" anchor="ctr"/>
          <a:lstStyle/>
          <a:p>
            <a:pPr indent="0" marL="0">
              <a:buNone/>
            </a:pPr>
            <a:r>
              <a:rPr lang="en-US" sz="1500" b="1" dirty="0">
                <a:solidFill>
                  <a:srgbClr val="E8EBF0"/>
                </a:solidFill>
                <a:latin typeface="Arial" pitchFamily="34" charset="0"/>
                <a:ea typeface="Arial" pitchFamily="34" charset="-122"/>
                <a:cs typeface="Arial" pitchFamily="34" charset="-120"/>
              </a:rPr>
              <a:t>Find out where the model stops transferring</a:t>
            </a:r>
            <a:endParaRPr lang="en-US" sz="1500" dirty="0"/>
          </a:p>
        </p:txBody>
      </p:sp>
      <p:sp>
        <p:nvSpPr>
          <p:cNvPr id="11" name="Text 8"/>
          <p:cNvSpPr/>
          <p:nvPr/>
        </p:nvSpPr>
        <p:spPr>
          <a:xfrm>
            <a:off x="640080" y="4279392"/>
            <a:ext cx="6766560" cy="566928"/>
          </a:xfrm>
          <a:prstGeom prst="rect">
            <a:avLst/>
          </a:prstGeom>
          <a:noFill/>
          <a:ln/>
        </p:spPr>
        <p:txBody>
          <a:bodyPr wrap="square" lIns="0" tIns="0" rIns="0" bIns="0" rtlCol="0" anchor="ctr"/>
          <a:lstStyle/>
          <a:p>
            <a:pPr indent="0" marL="0">
              <a:lnSpc>
                <a:spcPts val="1700"/>
              </a:lnSpc>
              <a:buNone/>
            </a:pPr>
            <a:r>
              <a:rPr lang="en-US" sz="1250" dirty="0">
                <a:solidFill>
                  <a:srgbClr val="B9C0CC"/>
                </a:solidFill>
                <a:latin typeface="Arial" pitchFamily="34" charset="0"/>
                <a:ea typeface="Arial" pitchFamily="34" charset="-122"/>
                <a:cs typeface="Arial" pitchFamily="34" charset="-120"/>
              </a:rPr>
              <a:t>Fit across wards of genuinely different urban form and report the degradation. Where it does not transfer, the system should refuse to guess and ask for a report — that behaviour is already built.</a:t>
            </a:r>
            <a:endParaRPr lang="en-US" sz="1250" dirty="0"/>
          </a:p>
        </p:txBody>
      </p:sp>
      <p:sp>
        <p:nvSpPr>
          <p:cNvPr id="12" name="Text 9"/>
          <p:cNvSpPr/>
          <p:nvPr/>
        </p:nvSpPr>
        <p:spPr>
          <a:xfrm>
            <a:off x="640080" y="4956048"/>
            <a:ext cx="6766560" cy="256032"/>
          </a:xfrm>
          <a:prstGeom prst="rect">
            <a:avLst/>
          </a:prstGeom>
          <a:noFill/>
          <a:ln/>
        </p:spPr>
        <p:txBody>
          <a:bodyPr wrap="square" lIns="0" tIns="0" rIns="0" bIns="0" rtlCol="0" anchor="ctr"/>
          <a:lstStyle/>
          <a:p>
            <a:pPr indent="0" marL="0">
              <a:buNone/>
            </a:pPr>
            <a:r>
              <a:rPr lang="en-US" sz="1500" b="1" dirty="0">
                <a:solidFill>
                  <a:srgbClr val="E8EBF0"/>
                </a:solidFill>
                <a:latin typeface="Arial" pitchFamily="34" charset="0"/>
                <a:ea typeface="Arial" pitchFamily="34" charset="-122"/>
                <a:cs typeface="Arial" pitchFamily="34" charset="-120"/>
              </a:rPr>
              <a:t>Ask “closed, or fixed?”</a:t>
            </a:r>
            <a:endParaRPr lang="en-US" sz="1500" dirty="0"/>
          </a:p>
        </p:txBody>
      </p:sp>
      <p:sp>
        <p:nvSpPr>
          <p:cNvPr id="13" name="Text 10"/>
          <p:cNvSpPr/>
          <p:nvPr/>
        </p:nvSpPr>
        <p:spPr>
          <a:xfrm>
            <a:off x="640080" y="5248656"/>
            <a:ext cx="6766560" cy="566928"/>
          </a:xfrm>
          <a:prstGeom prst="rect">
            <a:avLst/>
          </a:prstGeom>
          <a:noFill/>
          <a:ln/>
        </p:spPr>
        <p:txBody>
          <a:bodyPr wrap="square" lIns="0" tIns="0" rIns="0" bIns="0" rtlCol="0" anchor="ctr"/>
          <a:lstStyle/>
          <a:p>
            <a:pPr indent="0" marL="0">
              <a:lnSpc>
                <a:spcPts val="1700"/>
              </a:lnSpc>
              <a:buNone/>
            </a:pPr>
            <a:r>
              <a:rPr lang="en-US" sz="1250" dirty="0">
                <a:solidFill>
                  <a:srgbClr val="B9C0CC"/>
                </a:solidFill>
                <a:latin typeface="Arial" pitchFamily="34" charset="0"/>
                <a:ea typeface="Arial" pitchFamily="34" charset="-122"/>
                <a:cs typeface="Arial" pitchFamily="34" charset="-120"/>
              </a:rPr>
              <a:t>BBMP closes 96.4% of electrical complaints. Roshni is the first thing that can verify a closure with the person who reported it — a metric a commissioner does not have today.</a:t>
            </a:r>
            <a:endParaRPr lang="en-US" sz="1250" dirty="0"/>
          </a:p>
        </p:txBody>
      </p:sp>
      <p:sp>
        <p:nvSpPr>
          <p:cNvPr id="14" name="Shape 11"/>
          <p:cNvSpPr/>
          <p:nvPr/>
        </p:nvSpPr>
        <p:spPr>
          <a:xfrm>
            <a:off x="7973568" y="1627632"/>
            <a:ext cx="10973" cy="3968496"/>
          </a:xfrm>
          <a:prstGeom prst="rect">
            <a:avLst/>
          </a:prstGeom>
          <a:solidFill>
            <a:srgbClr val="252C3A"/>
          </a:solidFill>
          <a:ln w="12700">
            <a:solidFill>
              <a:srgbClr val="333333"/>
            </a:solidFill>
            <a:prstDash val="solid"/>
          </a:ln>
        </p:spPr>
      </p:sp>
      <p:sp>
        <p:nvSpPr>
          <p:cNvPr id="15" name="Text 12"/>
          <p:cNvSpPr/>
          <p:nvPr/>
        </p:nvSpPr>
        <p:spPr>
          <a:xfrm>
            <a:off x="8321040" y="1627632"/>
            <a:ext cx="3200400" cy="274320"/>
          </a:xfrm>
          <a:prstGeom prst="rect">
            <a:avLst/>
          </a:prstGeom>
          <a:noFill/>
          <a:ln/>
        </p:spPr>
        <p:txBody>
          <a:bodyPr wrap="square" lIns="0" tIns="0" rIns="0" bIns="0" rtlCol="0" anchor="ctr"/>
          <a:lstStyle/>
          <a:p>
            <a:pPr indent="0" marL="0">
              <a:buNone/>
            </a:pPr>
            <a:r>
              <a:rPr lang="en-US" sz="1100" b="1" spc="220" kern="0" dirty="0">
                <a:solidFill>
                  <a:srgbClr val="8A94A6"/>
                </a:solidFill>
                <a:latin typeface="Arial" pitchFamily="34" charset="0"/>
                <a:ea typeface="Arial" pitchFamily="34" charset="-122"/>
                <a:cs typeface="Arial" pitchFamily="34" charset="-120"/>
              </a:rPr>
              <a:t>THE ASK</a:t>
            </a:r>
            <a:endParaRPr lang="en-US" sz="1100" dirty="0"/>
          </a:p>
        </p:txBody>
      </p:sp>
      <p:sp>
        <p:nvSpPr>
          <p:cNvPr id="16" name="Text 13"/>
          <p:cNvSpPr/>
          <p:nvPr/>
        </p:nvSpPr>
        <p:spPr>
          <a:xfrm>
            <a:off x="8321040" y="2029968"/>
            <a:ext cx="3227832" cy="1097280"/>
          </a:xfrm>
          <a:prstGeom prst="rect">
            <a:avLst/>
          </a:prstGeom>
          <a:noFill/>
          <a:ln/>
        </p:spPr>
        <p:txBody>
          <a:bodyPr wrap="square" lIns="0" tIns="0" rIns="0" bIns="0" rtlCol="0" anchor="ctr"/>
          <a:lstStyle/>
          <a:p>
            <a:pPr indent="0" marL="0">
              <a:lnSpc>
                <a:spcPts val="2100"/>
              </a:lnSpc>
              <a:buNone/>
            </a:pPr>
            <a:r>
              <a:rPr lang="en-US" sz="1500" dirty="0">
                <a:solidFill>
                  <a:srgbClr val="E8EBF0"/>
                </a:solidFill>
                <a:latin typeface="Arial" pitchFamily="34" charset="0"/>
                <a:ea typeface="Arial" pitchFamily="34" charset="-122"/>
                <a:cs typeface="Arial" pitchFamily="34" charset="-120"/>
              </a:rPr>
              <a:t>The data exists, for our city, one approval away — and we already speak its schema.</a:t>
            </a:r>
            <a:endParaRPr lang="en-US" sz="1500" dirty="0"/>
          </a:p>
        </p:txBody>
      </p:sp>
      <p:sp>
        <p:nvSpPr>
          <p:cNvPr id="17" name="Text 14"/>
          <p:cNvSpPr/>
          <p:nvPr/>
        </p:nvSpPr>
        <p:spPr>
          <a:xfrm>
            <a:off x="8321040" y="2999232"/>
            <a:ext cx="3227832" cy="731520"/>
          </a:xfrm>
          <a:prstGeom prst="rect">
            <a:avLst/>
          </a:prstGeom>
          <a:noFill/>
          <a:ln/>
        </p:spPr>
        <p:txBody>
          <a:bodyPr wrap="square" lIns="0" tIns="0" rIns="0" bIns="0" rtlCol="0" anchor="ctr"/>
          <a:lstStyle/>
          <a:p>
            <a:pPr indent="0" marL="0">
              <a:lnSpc>
                <a:spcPts val="2500"/>
              </a:lnSpc>
              <a:buNone/>
            </a:pPr>
            <a:r>
              <a:rPr lang="en-US" sz="1900" b="1" dirty="0">
                <a:solidFill>
                  <a:srgbClr val="F2A93B"/>
                </a:solidFill>
                <a:latin typeface="Arial" pitchFamily="34" charset="0"/>
                <a:ea typeface="Arial" pitchFamily="34" charset="-122"/>
                <a:cs typeface="Arial" pitchFamily="34" charset="-120"/>
              </a:rPr>
              <a:t>Approve the IUDX request.</a:t>
            </a:r>
            <a:endParaRPr lang="en-US" sz="1900" dirty="0"/>
          </a:p>
        </p:txBody>
      </p:sp>
      <p:sp>
        <p:nvSpPr>
          <p:cNvPr id="18" name="Text 15"/>
          <p:cNvSpPr/>
          <p:nvPr/>
        </p:nvSpPr>
        <p:spPr>
          <a:xfrm>
            <a:off x="8321040" y="4425696"/>
            <a:ext cx="3227832" cy="914400"/>
          </a:xfrm>
          <a:prstGeom prst="rect">
            <a:avLst/>
          </a:prstGeom>
          <a:noFill/>
          <a:ln/>
        </p:spPr>
        <p:txBody>
          <a:bodyPr wrap="none" lIns="0" tIns="0" rIns="0" bIns="0" rtlCol="0" anchor="b"/>
          <a:lstStyle/>
          <a:p>
            <a:pPr indent="0" marL="0">
              <a:buNone/>
            </a:pPr>
            <a:r>
              <a:rPr lang="en-US" sz="6200" b="1" dirty="0">
                <a:solidFill>
                  <a:srgbClr val="F2A93B"/>
                </a:solidFill>
                <a:latin typeface="Arial" pitchFamily="34" charset="0"/>
                <a:ea typeface="Arial" pitchFamily="34" charset="-122"/>
                <a:cs typeface="Arial" pitchFamily="34" charset="-120"/>
              </a:rPr>
              <a:t>7.7</a:t>
            </a:r>
            <a:pPr indent="0" marL="0">
              <a:buNone/>
            </a:pPr>
            <a:r>
              <a:rPr lang="en-US" sz="2800" b="1" dirty="0">
                <a:solidFill>
                  <a:srgbClr val="F2A93B"/>
                </a:solidFill>
                <a:latin typeface="Arial" pitchFamily="34" charset="0"/>
                <a:ea typeface="Arial" pitchFamily="34" charset="-122"/>
                <a:cs typeface="Arial" pitchFamily="34" charset="-120"/>
              </a:rPr>
              <a:t>×</a:t>
            </a:r>
            <a:endParaRPr lang="en-US" sz="6200" dirty="0"/>
          </a:p>
        </p:txBody>
      </p:sp>
      <p:sp>
        <p:nvSpPr>
          <p:cNvPr id="19" name="Text 16"/>
          <p:cNvSpPr/>
          <p:nvPr/>
        </p:nvSpPr>
        <p:spPr>
          <a:xfrm>
            <a:off x="8321040" y="5376672"/>
            <a:ext cx="3227832" cy="365760"/>
          </a:xfrm>
          <a:prstGeom prst="rect">
            <a:avLst/>
          </a:prstGeom>
          <a:noFill/>
          <a:ln/>
        </p:spPr>
        <p:txBody>
          <a:bodyPr wrap="square" lIns="0" tIns="0" rIns="0" bIns="0" rtlCol="0" anchor="ctr"/>
          <a:lstStyle/>
          <a:p>
            <a:pPr indent="0" marL="0">
              <a:lnSpc>
                <a:spcPts val="1800"/>
              </a:lnSpc>
              <a:buNone/>
            </a:pPr>
            <a:r>
              <a:rPr lang="en-US" sz="1300" dirty="0">
                <a:solidFill>
                  <a:srgbClr val="8A94A6"/>
                </a:solidFill>
                <a:latin typeface="Arial" pitchFamily="34" charset="0"/>
                <a:ea typeface="Arial" pitchFamily="34" charset="-122"/>
                <a:cs typeface="Arial" pitchFamily="34" charset="-120"/>
              </a:rPr>
              <a:t>Same crew. Same budget. Different order.</a:t>
            </a:r>
            <a:endParaRPr lang="en-US" sz="1300" dirty="0"/>
          </a:p>
        </p:txBody>
      </p:sp>
      <p:sp>
        <p:nvSpPr>
          <p:cNvPr id="20" name="Text 17"/>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First number they hear and the last.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nvSpPr>
        <p:spPr>
          <a:xfrm>
            <a:off x="640080" y="475488"/>
            <a:ext cx="10908792" cy="868680"/>
          </a:xfrm>
          <a:prstGeom prst="rect">
            <a:avLst/>
          </a:prstGeom>
          <a:noFill/>
          <a:ln/>
        </p:spPr>
        <p:txBody>
          <a:bodyPr wrap="square" lIns="0" tIns="0" rIns="0" bIns="0" rtlCol="0" anchor="t"/>
          <a:lstStyle/>
          <a:p>
            <a:pPr indent="0" marL="0">
              <a:lnSpc>
                <a:spcPts val="3800"/>
              </a:lnSpc>
              <a:buNone/>
            </a:pPr>
            <a:r>
              <a:rPr lang="en-US" sz="2600" b="1" dirty="0">
                <a:solidFill>
                  <a:srgbClr val="E8EBF0"/>
                </a:solidFill>
                <a:latin typeface="Arial" pitchFamily="34" charset="0"/>
                <a:ea typeface="Arial" pitchFamily="34" charset="-122"/>
                <a:cs typeface="Arial" pitchFamily="34" charset="-120"/>
              </a:rPr>
              <a:t>Appendix — every number, and where it came from</a:t>
            </a:r>
            <a:endParaRPr lang="en-US" sz="2600" dirty="0"/>
          </a:p>
        </p:txBody>
      </p:sp>
      <p:sp>
        <p:nvSpPr>
          <p:cNvPr id="4" name="Shape 1"/>
          <p:cNvSpPr/>
          <p:nvPr/>
        </p:nvSpPr>
        <p:spPr>
          <a:xfrm>
            <a:off x="640080" y="1554480"/>
            <a:ext cx="5212080" cy="10973"/>
          </a:xfrm>
          <a:prstGeom prst="rect">
            <a:avLst/>
          </a:prstGeom>
          <a:solidFill>
            <a:srgbClr val="252C3A"/>
          </a:solidFill>
          <a:ln w="12700">
            <a:solidFill>
              <a:srgbClr val="333333"/>
            </a:solidFill>
            <a:prstDash val="solid"/>
          </a:ln>
        </p:spPr>
      </p:sp>
      <p:sp>
        <p:nvSpPr>
          <p:cNvPr id="5" name="Text 2"/>
          <p:cNvSpPr/>
          <p:nvPr/>
        </p:nvSpPr>
        <p:spPr>
          <a:xfrm>
            <a:off x="640080" y="1655064"/>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126,974</a:t>
            </a:r>
            <a:endParaRPr lang="en-US" sz="1400" dirty="0"/>
          </a:p>
        </p:txBody>
      </p:sp>
      <p:sp>
        <p:nvSpPr>
          <p:cNvPr id="6" name="Text 3"/>
          <p:cNvSpPr/>
          <p:nvPr/>
        </p:nvSpPr>
        <p:spPr>
          <a:xfrm>
            <a:off x="2651760" y="1682496"/>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civic complaints, 1 Jan – 19 Jun 2025</a:t>
            </a:r>
            <a:endParaRPr lang="en-US" sz="1250" dirty="0"/>
          </a:p>
        </p:txBody>
      </p:sp>
      <p:sp>
        <p:nvSpPr>
          <p:cNvPr id="7" name="Shape 4"/>
          <p:cNvSpPr/>
          <p:nvPr/>
        </p:nvSpPr>
        <p:spPr>
          <a:xfrm>
            <a:off x="640080" y="2121408"/>
            <a:ext cx="5212080" cy="10973"/>
          </a:xfrm>
          <a:prstGeom prst="rect">
            <a:avLst/>
          </a:prstGeom>
          <a:solidFill>
            <a:srgbClr val="252C3A"/>
          </a:solidFill>
          <a:ln w="12700">
            <a:solidFill>
              <a:srgbClr val="333333"/>
            </a:solidFill>
            <a:prstDash val="solid"/>
          </a:ln>
        </p:spPr>
      </p:sp>
      <p:sp>
        <p:nvSpPr>
          <p:cNvPr id="8" name="Text 5"/>
          <p:cNvSpPr/>
          <p:nvPr/>
        </p:nvSpPr>
        <p:spPr>
          <a:xfrm>
            <a:off x="640080" y="2221992"/>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39,847 · 31.4%</a:t>
            </a:r>
            <a:endParaRPr lang="en-US" sz="1400" dirty="0"/>
          </a:p>
        </p:txBody>
      </p:sp>
      <p:sp>
        <p:nvSpPr>
          <p:cNvPr id="9" name="Text 6"/>
          <p:cNvSpPr/>
          <p:nvPr/>
        </p:nvSpPr>
        <p:spPr>
          <a:xfrm>
            <a:off x="2651760" y="2249424"/>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of them “Street Light Not Working”</a:t>
            </a:r>
            <a:endParaRPr lang="en-US" sz="1250" dirty="0"/>
          </a:p>
        </p:txBody>
      </p:sp>
      <p:sp>
        <p:nvSpPr>
          <p:cNvPr id="10" name="Shape 7"/>
          <p:cNvSpPr/>
          <p:nvPr/>
        </p:nvSpPr>
        <p:spPr>
          <a:xfrm>
            <a:off x="640080" y="2688336"/>
            <a:ext cx="5212080" cy="10973"/>
          </a:xfrm>
          <a:prstGeom prst="rect">
            <a:avLst/>
          </a:prstGeom>
          <a:solidFill>
            <a:srgbClr val="252C3A"/>
          </a:solidFill>
          <a:ln w="12700">
            <a:solidFill>
              <a:srgbClr val="333333"/>
            </a:solidFill>
            <a:prstDash val="solid"/>
          </a:ln>
        </p:spPr>
      </p:sp>
      <p:sp>
        <p:nvSpPr>
          <p:cNvPr id="11" name="Text 8"/>
          <p:cNvSpPr/>
          <p:nvPr/>
        </p:nvSpPr>
        <p:spPr>
          <a:xfrm>
            <a:off x="640080" y="2788920"/>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96.4%</a:t>
            </a:r>
            <a:endParaRPr lang="en-US" sz="1400" dirty="0"/>
          </a:p>
        </p:txBody>
      </p:sp>
      <p:sp>
        <p:nvSpPr>
          <p:cNvPr id="12" name="Text 9"/>
          <p:cNvSpPr/>
          <p:nvPr/>
        </p:nvSpPr>
        <p:spPr>
          <a:xfrm>
            <a:off x="2651760" y="2816352"/>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electrical closure rate (40,632 / 42,138)</a:t>
            </a:r>
            <a:endParaRPr lang="en-US" sz="1250" dirty="0"/>
          </a:p>
        </p:txBody>
      </p:sp>
      <p:sp>
        <p:nvSpPr>
          <p:cNvPr id="13" name="Shape 10"/>
          <p:cNvSpPr/>
          <p:nvPr/>
        </p:nvSpPr>
        <p:spPr>
          <a:xfrm>
            <a:off x="640080" y="3255264"/>
            <a:ext cx="5212080" cy="10973"/>
          </a:xfrm>
          <a:prstGeom prst="rect">
            <a:avLst/>
          </a:prstGeom>
          <a:solidFill>
            <a:srgbClr val="252C3A"/>
          </a:solidFill>
          <a:ln w="12700">
            <a:solidFill>
              <a:srgbClr val="333333"/>
            </a:solidFill>
            <a:prstDash val="solid"/>
          </a:ln>
        </p:spPr>
      </p:sp>
      <p:sp>
        <p:nvSpPr>
          <p:cNvPr id="14" name="Text 11"/>
          <p:cNvSpPr/>
          <p:nvPr/>
        </p:nvSpPr>
        <p:spPr>
          <a:xfrm>
            <a:off x="640080" y="3355848"/>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58.0%</a:t>
            </a:r>
            <a:endParaRPr lang="en-US" sz="1400" dirty="0"/>
          </a:p>
        </p:txBody>
      </p:sp>
      <p:sp>
        <p:nvSpPr>
          <p:cNvPr id="15" name="Text 12"/>
          <p:cNvSpPr/>
          <p:nvPr/>
        </p:nvSpPr>
        <p:spPr>
          <a:xfrm>
            <a:off x="2651760" y="3383280"/>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road-maintenance closure rate</a:t>
            </a:r>
            <a:endParaRPr lang="en-US" sz="1250" dirty="0"/>
          </a:p>
        </p:txBody>
      </p:sp>
      <p:sp>
        <p:nvSpPr>
          <p:cNvPr id="16" name="Shape 13"/>
          <p:cNvSpPr/>
          <p:nvPr/>
        </p:nvSpPr>
        <p:spPr>
          <a:xfrm>
            <a:off x="640080" y="3822192"/>
            <a:ext cx="5212080" cy="10973"/>
          </a:xfrm>
          <a:prstGeom prst="rect">
            <a:avLst/>
          </a:prstGeom>
          <a:solidFill>
            <a:srgbClr val="252C3A"/>
          </a:solidFill>
          <a:ln w="12700">
            <a:solidFill>
              <a:srgbClr val="333333"/>
            </a:solidFill>
            <a:prstDash val="solid"/>
          </a:ln>
        </p:spPr>
      </p:sp>
      <p:sp>
        <p:nvSpPr>
          <p:cNvPr id="17" name="Text 14"/>
          <p:cNvSpPr/>
          <p:nvPr/>
        </p:nvSpPr>
        <p:spPr>
          <a:xfrm>
            <a:off x="640080" y="3922776"/>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421,113</a:t>
            </a:r>
            <a:endParaRPr lang="en-US" sz="1400" dirty="0"/>
          </a:p>
        </p:txBody>
      </p:sp>
      <p:sp>
        <p:nvSpPr>
          <p:cNvPr id="18" name="Text 15"/>
          <p:cNvSpPr/>
          <p:nvPr/>
        </p:nvSpPr>
        <p:spPr>
          <a:xfrm>
            <a:off x="2651760" y="3950208"/>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streetlights across 198 BBMP wards</a:t>
            </a:r>
            <a:endParaRPr lang="en-US" sz="1250" dirty="0"/>
          </a:p>
        </p:txBody>
      </p:sp>
      <p:sp>
        <p:nvSpPr>
          <p:cNvPr id="19" name="Shape 16"/>
          <p:cNvSpPr/>
          <p:nvPr/>
        </p:nvSpPr>
        <p:spPr>
          <a:xfrm>
            <a:off x="640080" y="4389120"/>
            <a:ext cx="5212080" cy="10973"/>
          </a:xfrm>
          <a:prstGeom prst="rect">
            <a:avLst/>
          </a:prstGeom>
          <a:solidFill>
            <a:srgbClr val="252C3A"/>
          </a:solidFill>
          <a:ln w="12700">
            <a:solidFill>
              <a:srgbClr val="333333"/>
            </a:solidFill>
            <a:prstDash val="solid"/>
          </a:ln>
        </p:spPr>
      </p:sp>
      <p:sp>
        <p:nvSpPr>
          <p:cNvPr id="20" name="Text 17"/>
          <p:cNvSpPr/>
          <p:nvPr/>
        </p:nvSpPr>
        <p:spPr>
          <a:xfrm>
            <a:off x="640080" y="4489704"/>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11,029</a:t>
            </a:r>
            <a:endParaRPr lang="en-US" sz="1400" dirty="0"/>
          </a:p>
        </p:txBody>
      </p:sp>
      <p:sp>
        <p:nvSpPr>
          <p:cNvPr id="21" name="Text 18"/>
          <p:cNvSpPr/>
          <p:nvPr/>
        </p:nvSpPr>
        <p:spPr>
          <a:xfrm>
            <a:off x="2651760" y="4517136"/>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segments scored · 1,180 km · 33 wards</a:t>
            </a:r>
            <a:endParaRPr lang="en-US" sz="1250" dirty="0"/>
          </a:p>
        </p:txBody>
      </p:sp>
      <p:sp>
        <p:nvSpPr>
          <p:cNvPr id="22" name="Shape 19"/>
          <p:cNvSpPr/>
          <p:nvPr/>
        </p:nvSpPr>
        <p:spPr>
          <a:xfrm>
            <a:off x="640080" y="4956048"/>
            <a:ext cx="5212080" cy="10973"/>
          </a:xfrm>
          <a:prstGeom prst="rect">
            <a:avLst/>
          </a:prstGeom>
          <a:solidFill>
            <a:srgbClr val="252C3A"/>
          </a:solidFill>
          <a:ln w="12700">
            <a:solidFill>
              <a:srgbClr val="333333"/>
            </a:solidFill>
            <a:prstDash val="solid"/>
          </a:ln>
        </p:spPr>
      </p:sp>
      <p:sp>
        <p:nvSpPr>
          <p:cNvPr id="23" name="Text 20"/>
          <p:cNvSpPr/>
          <p:nvPr/>
        </p:nvSpPr>
        <p:spPr>
          <a:xfrm>
            <a:off x="640080" y="5056632"/>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95,557</a:t>
            </a:r>
            <a:endParaRPr lang="en-US" sz="1400" dirty="0"/>
          </a:p>
        </p:txBody>
      </p:sp>
      <p:sp>
        <p:nvSpPr>
          <p:cNvPr id="24" name="Text 21"/>
          <p:cNvSpPr/>
          <p:nvPr/>
        </p:nvSpPr>
        <p:spPr>
          <a:xfrm>
            <a:off x="2651760" y="5084064"/>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walk-graph nodes · 98.4% one component</a:t>
            </a:r>
            <a:endParaRPr lang="en-US" sz="1250" dirty="0"/>
          </a:p>
        </p:txBody>
      </p:sp>
      <p:sp>
        <p:nvSpPr>
          <p:cNvPr id="25" name="Shape 22"/>
          <p:cNvSpPr/>
          <p:nvPr/>
        </p:nvSpPr>
        <p:spPr>
          <a:xfrm>
            <a:off x="640080" y="5522976"/>
            <a:ext cx="5212080" cy="10973"/>
          </a:xfrm>
          <a:prstGeom prst="rect">
            <a:avLst/>
          </a:prstGeom>
          <a:solidFill>
            <a:srgbClr val="252C3A"/>
          </a:solidFill>
          <a:ln w="12700">
            <a:solidFill>
              <a:srgbClr val="333333"/>
            </a:solidFill>
            <a:prstDash val="solid"/>
          </a:ln>
        </p:spPr>
      </p:sp>
      <p:sp>
        <p:nvSpPr>
          <p:cNvPr id="26" name="Shape 23"/>
          <p:cNvSpPr/>
          <p:nvPr/>
        </p:nvSpPr>
        <p:spPr>
          <a:xfrm>
            <a:off x="6345936" y="1554480"/>
            <a:ext cx="5212080" cy="10973"/>
          </a:xfrm>
          <a:prstGeom prst="rect">
            <a:avLst/>
          </a:prstGeom>
          <a:solidFill>
            <a:srgbClr val="252C3A"/>
          </a:solidFill>
          <a:ln w="12700">
            <a:solidFill>
              <a:srgbClr val="333333"/>
            </a:solidFill>
            <a:prstDash val="solid"/>
          </a:ln>
        </p:spPr>
      </p:sp>
      <p:sp>
        <p:nvSpPr>
          <p:cNvPr id="27" name="Text 24"/>
          <p:cNvSpPr/>
          <p:nvPr/>
        </p:nvSpPr>
        <p:spPr>
          <a:xfrm>
            <a:off x="6345936" y="1655064"/>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1,508 / 1,128</a:t>
            </a:r>
            <a:endParaRPr lang="en-US" sz="1400" dirty="0"/>
          </a:p>
        </p:txBody>
      </p:sp>
      <p:sp>
        <p:nvSpPr>
          <p:cNvPr id="28" name="Text 25"/>
          <p:cNvSpPr/>
          <p:nvPr/>
        </p:nvSpPr>
        <p:spPr>
          <a:xfrm>
            <a:off x="8357616" y="1682496"/>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lamps in snapshot / labelled working=yes|no</a:t>
            </a:r>
            <a:endParaRPr lang="en-US" sz="1250" dirty="0"/>
          </a:p>
        </p:txBody>
      </p:sp>
      <p:sp>
        <p:nvSpPr>
          <p:cNvPr id="29" name="Shape 26"/>
          <p:cNvSpPr/>
          <p:nvPr/>
        </p:nvSpPr>
        <p:spPr>
          <a:xfrm>
            <a:off x="6345936" y="2121408"/>
            <a:ext cx="5212080" cy="10973"/>
          </a:xfrm>
          <a:prstGeom prst="rect">
            <a:avLst/>
          </a:prstGeom>
          <a:solidFill>
            <a:srgbClr val="252C3A"/>
          </a:solidFill>
          <a:ln w="12700">
            <a:solidFill>
              <a:srgbClr val="333333"/>
            </a:solidFill>
            <a:prstDash val="solid"/>
          </a:ln>
        </p:spPr>
      </p:sp>
      <p:sp>
        <p:nvSpPr>
          <p:cNvPr id="30" name="Text 27"/>
          <p:cNvSpPr/>
          <p:nvPr/>
        </p:nvSpPr>
        <p:spPr>
          <a:xfrm>
            <a:off x="6345936" y="2221992"/>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690 · 6.3%</a:t>
            </a:r>
            <a:endParaRPr lang="en-US" sz="1400" dirty="0"/>
          </a:p>
        </p:txBody>
      </p:sp>
      <p:sp>
        <p:nvSpPr>
          <p:cNvPr id="31" name="Text 28"/>
          <p:cNvSpPr/>
          <p:nvPr/>
        </p:nvSpPr>
        <p:spPr>
          <a:xfrm>
            <a:off x="8357616" y="2249424"/>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segments with any lamp evidence</a:t>
            </a:r>
            <a:endParaRPr lang="en-US" sz="1250" dirty="0"/>
          </a:p>
        </p:txBody>
      </p:sp>
      <p:sp>
        <p:nvSpPr>
          <p:cNvPr id="32" name="Shape 29"/>
          <p:cNvSpPr/>
          <p:nvPr/>
        </p:nvSpPr>
        <p:spPr>
          <a:xfrm>
            <a:off x="6345936" y="2688336"/>
            <a:ext cx="5212080" cy="10973"/>
          </a:xfrm>
          <a:prstGeom prst="rect">
            <a:avLst/>
          </a:prstGeom>
          <a:solidFill>
            <a:srgbClr val="252C3A"/>
          </a:solidFill>
          <a:ln w="12700">
            <a:solidFill>
              <a:srgbClr val="333333"/>
            </a:solidFill>
            <a:prstDash val="solid"/>
          </a:ln>
        </p:spPr>
      </p:sp>
      <p:sp>
        <p:nvSpPr>
          <p:cNvPr id="33" name="Text 30"/>
          <p:cNvSpPr/>
          <p:nvPr/>
        </p:nvSpPr>
        <p:spPr>
          <a:xfrm>
            <a:off x="6345936" y="2788920"/>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27.6%</a:t>
            </a:r>
            <a:endParaRPr lang="en-US" sz="1400" dirty="0"/>
          </a:p>
        </p:txBody>
      </p:sp>
      <p:sp>
        <p:nvSpPr>
          <p:cNvPr id="34" name="Text 31"/>
          <p:cNvSpPr/>
          <p:nvPr/>
        </p:nvSpPr>
        <p:spPr>
          <a:xfrm>
            <a:off x="8357616" y="2816352"/>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mean P(dark) across all segments</a:t>
            </a:r>
            <a:endParaRPr lang="en-US" sz="1250" dirty="0"/>
          </a:p>
        </p:txBody>
      </p:sp>
      <p:sp>
        <p:nvSpPr>
          <p:cNvPr id="35" name="Shape 32"/>
          <p:cNvSpPr/>
          <p:nvPr/>
        </p:nvSpPr>
        <p:spPr>
          <a:xfrm>
            <a:off x="6345936" y="3255264"/>
            <a:ext cx="5212080" cy="10973"/>
          </a:xfrm>
          <a:prstGeom prst="rect">
            <a:avLst/>
          </a:prstGeom>
          <a:solidFill>
            <a:srgbClr val="252C3A"/>
          </a:solidFill>
          <a:ln w="12700">
            <a:solidFill>
              <a:srgbClr val="333333"/>
            </a:solidFill>
            <a:prstDash val="solid"/>
          </a:ln>
        </p:spPr>
      </p:sp>
      <p:sp>
        <p:nvSpPr>
          <p:cNvPr id="36" name="Text 33"/>
          <p:cNvSpPr/>
          <p:nvPr/>
        </p:nvSpPr>
        <p:spPr>
          <a:xfrm>
            <a:off x="6345936" y="3355848"/>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ρ +0.30 / +0.44</a:t>
            </a:r>
            <a:endParaRPr lang="en-US" sz="1400" dirty="0"/>
          </a:p>
        </p:txBody>
      </p:sp>
      <p:sp>
        <p:nvSpPr>
          <p:cNvPr id="37" name="Text 34"/>
          <p:cNvSpPr/>
          <p:nvPr/>
        </p:nvSpPr>
        <p:spPr>
          <a:xfrm>
            <a:off x="8357616" y="3383280"/>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activity vs structural / vs night bus</a:t>
            </a:r>
            <a:endParaRPr lang="en-US" sz="1250" dirty="0"/>
          </a:p>
        </p:txBody>
      </p:sp>
      <p:sp>
        <p:nvSpPr>
          <p:cNvPr id="38" name="Shape 35"/>
          <p:cNvSpPr/>
          <p:nvPr/>
        </p:nvSpPr>
        <p:spPr>
          <a:xfrm>
            <a:off x="6345936" y="3822192"/>
            <a:ext cx="5212080" cy="10973"/>
          </a:xfrm>
          <a:prstGeom prst="rect">
            <a:avLst/>
          </a:prstGeom>
          <a:solidFill>
            <a:srgbClr val="252C3A"/>
          </a:solidFill>
          <a:ln w="12700">
            <a:solidFill>
              <a:srgbClr val="333333"/>
            </a:solidFill>
            <a:prstDash val="solid"/>
          </a:ln>
        </p:spPr>
      </p:sp>
      <p:sp>
        <p:nvSpPr>
          <p:cNvPr id="39" name="Text 36"/>
          <p:cNvSpPr/>
          <p:nvPr/>
        </p:nvSpPr>
        <p:spPr>
          <a:xfrm>
            <a:off x="6345936" y="3922776"/>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405 · 6,187</a:t>
            </a:r>
            <a:endParaRPr lang="en-US" sz="1400" dirty="0"/>
          </a:p>
        </p:txBody>
      </p:sp>
      <p:sp>
        <p:nvSpPr>
          <p:cNvPr id="40" name="Text 37"/>
          <p:cNvSpPr/>
          <p:nvPr/>
        </p:nvSpPr>
        <p:spPr>
          <a:xfrm>
            <a:off x="8357616" y="3950208"/>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BMTC stops / departures after 21:00</a:t>
            </a:r>
            <a:endParaRPr lang="en-US" sz="1250" dirty="0"/>
          </a:p>
        </p:txBody>
      </p:sp>
      <p:sp>
        <p:nvSpPr>
          <p:cNvPr id="41" name="Shape 38"/>
          <p:cNvSpPr/>
          <p:nvPr/>
        </p:nvSpPr>
        <p:spPr>
          <a:xfrm>
            <a:off x="6345936" y="4389120"/>
            <a:ext cx="5212080" cy="10973"/>
          </a:xfrm>
          <a:prstGeom prst="rect">
            <a:avLst/>
          </a:prstGeom>
          <a:solidFill>
            <a:srgbClr val="252C3A"/>
          </a:solidFill>
          <a:ln w="12700">
            <a:solidFill>
              <a:srgbClr val="333333"/>
            </a:solidFill>
            <a:prstDash val="solid"/>
          </a:ln>
        </p:spPr>
      </p:sp>
      <p:sp>
        <p:nvSpPr>
          <p:cNvPr id="42" name="Text 39"/>
          <p:cNvSpPr/>
          <p:nvPr/>
        </p:nvSpPr>
        <p:spPr>
          <a:xfrm>
            <a:off x="6345936" y="4489704"/>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3,417 / 9,199</a:t>
            </a:r>
            <a:endParaRPr lang="en-US" sz="1400" dirty="0"/>
          </a:p>
        </p:txBody>
      </p:sp>
      <p:sp>
        <p:nvSpPr>
          <p:cNvPr id="43" name="Text 40"/>
          <p:cNvSpPr/>
          <p:nvPr/>
        </p:nvSpPr>
        <p:spPr>
          <a:xfrm>
            <a:off x="8357616" y="4517136"/>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night-active POIs of all POIs</a:t>
            </a:r>
            <a:endParaRPr lang="en-US" sz="1250" dirty="0"/>
          </a:p>
        </p:txBody>
      </p:sp>
      <p:sp>
        <p:nvSpPr>
          <p:cNvPr id="44" name="Shape 41"/>
          <p:cNvSpPr/>
          <p:nvPr/>
        </p:nvSpPr>
        <p:spPr>
          <a:xfrm>
            <a:off x="6345936" y="4956048"/>
            <a:ext cx="5212080" cy="10973"/>
          </a:xfrm>
          <a:prstGeom prst="rect">
            <a:avLst/>
          </a:prstGeom>
          <a:solidFill>
            <a:srgbClr val="252C3A"/>
          </a:solidFill>
          <a:ln w="12700">
            <a:solidFill>
              <a:srgbClr val="333333"/>
            </a:solidFill>
            <a:prstDash val="solid"/>
          </a:ln>
        </p:spPr>
      </p:sp>
      <p:sp>
        <p:nvSpPr>
          <p:cNvPr id="45" name="Text 42"/>
          <p:cNvSpPr/>
          <p:nvPr/>
        </p:nvSpPr>
        <p:spPr>
          <a:xfrm>
            <a:off x="6345936" y="5056632"/>
            <a:ext cx="1920240" cy="310896"/>
          </a:xfrm>
          <a:prstGeom prst="rect">
            <a:avLst/>
          </a:prstGeom>
          <a:noFill/>
          <a:ln/>
        </p:spPr>
        <p:txBody>
          <a:bodyPr wrap="square" lIns="0" tIns="0" rIns="0" bIns="0" rtlCol="0" anchor="ctr"/>
          <a:lstStyle/>
          <a:p>
            <a:pPr indent="0" marL="0">
              <a:buNone/>
            </a:pPr>
            <a:r>
              <a:rPr lang="en-US" sz="1400" b="1" dirty="0">
                <a:solidFill>
                  <a:srgbClr val="E8EBF0"/>
                </a:solidFill>
                <a:latin typeface="Arial" pitchFamily="34" charset="0"/>
                <a:ea typeface="Arial" pitchFamily="34" charset="-122"/>
                <a:cs typeface="Arial" pitchFamily="34" charset="-120"/>
              </a:rPr>
              <a:t>17.9×</a:t>
            </a:r>
            <a:endParaRPr lang="en-US" sz="1400" dirty="0"/>
          </a:p>
        </p:txBody>
      </p:sp>
      <p:sp>
        <p:nvSpPr>
          <p:cNvPr id="46" name="Text 43"/>
          <p:cNvSpPr/>
          <p:nvPr/>
        </p:nvSpPr>
        <p:spPr>
          <a:xfrm>
            <a:off x="8357616" y="5084064"/>
            <a:ext cx="3200400" cy="292608"/>
          </a:xfrm>
          <a:prstGeom prst="rect">
            <a:avLst/>
          </a:prstGeom>
          <a:noFill/>
          <a:ln/>
        </p:spPr>
        <p:txBody>
          <a:bodyPr wrap="square" lIns="0" tIns="0" rIns="0" bIns="0" rtlCol="0" anchor="ctr"/>
          <a:lstStyle/>
          <a:p>
            <a:pPr indent="0" marL="0">
              <a:buNone/>
            </a:pPr>
            <a:r>
              <a:rPr lang="en-US" sz="1250" dirty="0">
                <a:solidFill>
                  <a:srgbClr val="8A94A6"/>
                </a:solidFill>
                <a:latin typeface="Arial" pitchFamily="34" charset="0"/>
                <a:ea typeface="Arial" pitchFamily="34" charset="-122"/>
                <a:cs typeface="Arial" pitchFamily="34" charset="-120"/>
              </a:rPr>
              <a:t>median bypass, 25 worst segments</a:t>
            </a:r>
            <a:endParaRPr lang="en-US" sz="1250" dirty="0"/>
          </a:p>
        </p:txBody>
      </p:sp>
      <p:sp>
        <p:nvSpPr>
          <p:cNvPr id="47" name="Shape 44"/>
          <p:cNvSpPr/>
          <p:nvPr/>
        </p:nvSpPr>
        <p:spPr>
          <a:xfrm>
            <a:off x="6345936" y="5522976"/>
            <a:ext cx="5212080" cy="10973"/>
          </a:xfrm>
          <a:prstGeom prst="rect">
            <a:avLst/>
          </a:prstGeom>
          <a:solidFill>
            <a:srgbClr val="252C3A"/>
          </a:solidFill>
          <a:ln w="12700">
            <a:solidFill>
              <a:srgbClr val="333333"/>
            </a:solidFill>
            <a:prstDash val="solid"/>
          </a:ln>
        </p:spPr>
      </p:sp>
      <p:sp>
        <p:nvSpPr>
          <p:cNvPr id="48" name="Text 45"/>
          <p:cNvSpPr/>
          <p:nvPr/>
        </p:nvSpPr>
        <p:spPr>
          <a:xfrm>
            <a:off x="640080" y="5742432"/>
            <a:ext cx="10908792" cy="457200"/>
          </a:xfrm>
          <a:prstGeom prst="rect">
            <a:avLst/>
          </a:prstGeom>
          <a:noFill/>
          <a:ln/>
        </p:spPr>
        <p:txBody>
          <a:bodyPr wrap="square" lIns="0" tIns="0" rIns="0" bIns="0" rtlCol="0" anchor="ctr"/>
          <a:lstStyle/>
          <a:p>
            <a:pPr indent="0" marL="0">
              <a:lnSpc>
                <a:spcPts val="1800"/>
              </a:lnSpc>
              <a:buNone/>
            </a:pPr>
            <a:r>
              <a:rPr lang="en-US" sz="1250" dirty="0">
                <a:solidFill>
                  <a:srgbClr val="E8EBF0"/>
                </a:solidFill>
                <a:latin typeface="Arial" pitchFamily="34" charset="0"/>
                <a:ea typeface="Arial" pitchFamily="34" charset="-122"/>
                <a:cs typeface="Arial" pitchFamily="34" charset="-120"/>
              </a:rPr>
              <a:t>Counterfactual at a 40-repair budget: 4,544 vs 588 exposed pedestrian-km = 7.7×. Luckiest of 300 draws 4.9×. Steelman 1.9×. Surveyed wards only 6.4×. All lamp labels deleted 5.4×.</a:t>
            </a:r>
            <a:endParaRPr lang="en-US" sz="1250" dirty="0"/>
          </a:p>
        </p:txBody>
      </p:sp>
      <p:sp>
        <p:nvSpPr>
          <p:cNvPr id="49" name="Text 46"/>
          <p:cNvSpPr/>
          <p:nvPr/>
        </p:nvSpPr>
        <p:spPr>
          <a:xfrm>
            <a:off x="640080" y="6272784"/>
            <a:ext cx="10908792" cy="292608"/>
          </a:xfrm>
          <a:prstGeom prst="rect">
            <a:avLst/>
          </a:prstGeom>
          <a:noFill/>
          <a:ln/>
        </p:spPr>
        <p:txBody>
          <a:bodyPr wrap="square" lIns="0" tIns="0" rIns="0" bIns="0" rtlCol="0" anchor="ctr"/>
          <a:lstStyle/>
          <a:p>
            <a:pPr indent="0" marL="0">
              <a:buNone/>
            </a:pPr>
            <a:r>
              <a:rPr lang="en-US" sz="1100" dirty="0">
                <a:solidFill>
                  <a:srgbClr val="8A94A6"/>
                </a:solidFill>
                <a:latin typeface="Arial" pitchFamily="34" charset="0"/>
                <a:ea typeface="Arial" pitchFamily="34" charset="-122"/>
                <a:cs typeface="Arial" pitchFamily="34" charset="-120"/>
              </a:rPr>
              <a:t>All figures out/stats.json, out/curve.json, out/routes.json — pipeline run 22 Aug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Roshni</dc:title>
  <dc:subject>PptxGenJS Presentation</dc:subject>
  <dc:creator>Roshni</dc:creator>
  <cp:lastModifiedBy>Roshni</cp:lastModifiedBy>
  <cp:revision>1</cp:revision>
  <dcterms:created xsi:type="dcterms:W3CDTF">2026-08-22T00:08:59Z</dcterms:created>
  <dcterms:modified xsi:type="dcterms:W3CDTF">2026-08-22T00:08:59Z</dcterms:modified>
</cp:coreProperties>
</file>