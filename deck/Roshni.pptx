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complaints</c:v>
                </c:pt>
              </c:strCache>
            </c:strRef>
          </c:tx>
          <c:spPr>
            <a:solidFill>
              <a:srgbClr val="FFC107"/>
            </a:solidFill>
            <a:effectLst/>
          </c:spPr>
          <c:invertIfNegative val="0"/>
          <c:dLbls>
            <c:numFmt formatCode="#,##0" sourceLinked="0"/>
            <c:txPr>
              <a:bodyPr/>
              <a:lstStyle/>
              <a:p>
                <a:pPr>
                  <a:defRPr b="0" i="0" strike="noStrike" sz="1100" u="none">
                    <a:solidFill>
                      <a:srgbClr val="E6EAF0"/>
                    </a:solidFill>
                    <a:latin typeface="Segoe UI"/>
                  </a:defRPr>
                </a:pPr>
              </a:p>
            </c:txPr>
            <c:showLegendKey val="0"/>
            <c:showVal val="1"/>
            <c:showCatName val="0"/>
            <c:showSerName val="0"/>
            <c:showPercent val="0"/>
            <c:showBubbleSize val="0"/>
            <c:showLeaderLines val="0"/>
          </c:dLbls>
          <c:dPt>
            <c:idx val="0"/>
            <c:invertIfNegative val="0"/>
            <c:bubble3D val="0"/>
            <c:spPr>
              <a:solidFill>
                <a:srgbClr val="FFC107"/>
              </a:solidFill>
              <a:effectLst/>
            </c:spPr>
          </c:dPt>
          <c:dPt>
            <c:idx val="1"/>
            <c:invertIfNegative val="0"/>
            <c:bubble3D val="0"/>
            <c:spPr>
              <a:solidFill>
                <a:srgbClr val="7A8696"/>
              </a:solidFill>
              <a:effectLst/>
            </c:spPr>
          </c:dPt>
          <c:dPt>
            <c:idx val="2"/>
            <c:invertIfNegative val="0"/>
            <c:bubble3D val="0"/>
            <c:spPr>
              <a:solidFill>
                <a:srgbClr val="7A8696"/>
              </a:solidFill>
              <a:effectLst/>
            </c:spPr>
          </c:dPt>
          <c:dPt>
            <c:idx val="3"/>
            <c:invertIfNegative val="0"/>
            <c:bubble3D val="0"/>
            <c:spPr>
              <a:solidFill>
                <a:srgbClr val="7A8696"/>
              </a:solidFill>
              <a:effectLst/>
            </c:spPr>
          </c:dPt>
          <c:dPt>
            <c:idx val="4"/>
            <c:invertIfNegative val="0"/>
            <c:bubble3D val="0"/>
            <c:spPr>
              <a:solidFill>
                <a:srgbClr val="7A8696"/>
              </a:solidFill>
              <a:effectLst/>
            </c:spPr>
          </c:dPt>
          <c:cat>
            <c:multiLvlStrRef>
              <c:f>Sheet1!$A$2:$A$6</c:f>
              <c:multiLvlStrCache>
                <c:ptCount val="5"/>
                <c:lvl>
                  <c:pt idx="0">
                    <c:v>Street light not working</c:v>
                  </c:pt>
                  <c:pt idx="1">
                    <c:v>Garbage dump</c:v>
                  </c:pt>
                  <c:pt idx="2">
                    <c:v>Garbage vehicle missed</c:v>
                  </c:pt>
                  <c:pt idx="3">
                    <c:v>Sweeping not done</c:v>
                  </c:pt>
                  <c:pt idx="4">
                    <c:v>Road side drains</c:v>
                  </c:pt>
                </c:lvl>
              </c:multiLvlStrCache>
            </c:multiLvlStrRef>
          </c:cat>
          <c:val>
            <c:numRef>
              <c:f>Sheet1!$B$2:$B$6</c:f>
              <c:numCache>
                <c:formatCode>General</c:formatCode>
                <c:ptCount val="5"/>
                <c:pt idx="0">
                  <c:v>39847</c:v>
                </c:pt>
                <c:pt idx="1">
                  <c:v>16137</c:v>
                </c:pt>
                <c:pt idx="2">
                  <c:v>12135</c:v>
                </c:pt>
                <c:pt idx="3">
                  <c:v>3641</c:v>
                </c:pt>
                <c:pt idx="4">
                  <c:v>3269</c:v>
                </c:pt>
              </c:numCache>
            </c:numRef>
          </c:val>
        </c:ser>
        <c:dLbls>
          <c:numFmt formatCode="#,##0" sourceLinked="0"/>
          <c:txPr>
            <a:bodyPr/>
            <a:lstStyle/>
            <a:p>
              <a:pPr>
                <a:defRPr b="0" i="0" strike="noStrike" sz="1100" u="none">
                  <a:solidFill>
                    <a:srgbClr val="E6EAF0"/>
                  </a:solidFill>
                  <a:latin typeface="Segoe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B1BAC6"/>
                </a:solidFill>
                <a:latin typeface="Segoe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F14"/>
        </a:solidFill>
        <a:ln w="12700" cap="flat">
          <a:solidFill>
            <a:srgbClr val="0B0F14"/>
          </a:solidFill>
        </a:ln>
        <a:effectLst/>
      </c:spPr>
    </c:plotArea>
    <c:plotVisOnly val="1"/>
    <c:dispBlanksAs val="span"/>
  </c:chart>
  <c:spPr>
    <a:solidFill>
      <a:srgbClr val="0B0F1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closure</c:v>
                </c:pt>
              </c:strCache>
            </c:strRef>
          </c:tx>
          <c:spPr>
            <a:solidFill>
              <a:srgbClr val="FFC107"/>
            </a:solidFill>
            <a:effectLst/>
          </c:spPr>
          <c:invertIfNegative val="0"/>
          <c:dLbls>
            <c:numFmt formatCode="0.0&quot;%&quot;" sourceLinked="0"/>
            <c:txPr>
              <a:bodyPr/>
              <a:lstStyle/>
              <a:p>
                <a:pPr>
                  <a:defRPr b="0" i="0" strike="noStrike" sz="1100" u="none">
                    <a:solidFill>
                      <a:srgbClr val="E6EAF0"/>
                    </a:solidFill>
                    <a:latin typeface="Segoe UI"/>
                  </a:defRPr>
                </a:pPr>
              </a:p>
            </c:txPr>
            <c:showLegendKey val="0"/>
            <c:showVal val="1"/>
            <c:showCatName val="0"/>
            <c:showSerName val="0"/>
            <c:showPercent val="0"/>
            <c:showBubbleSize val="0"/>
            <c:showLeaderLines val="0"/>
          </c:dLbls>
          <c:dPt>
            <c:idx val="0"/>
            <c:invertIfNegative val="0"/>
            <c:bubble3D val="0"/>
            <c:spPr>
              <a:solidFill>
                <a:srgbClr val="FFC107"/>
              </a:solidFill>
              <a:effectLst/>
            </c:spPr>
          </c:dPt>
          <c:dPt>
            <c:idx val="1"/>
            <c:invertIfNegative val="0"/>
            <c:bubble3D val="0"/>
            <c:spPr>
              <a:solidFill>
                <a:srgbClr val="7A8696"/>
              </a:solidFill>
              <a:effectLst/>
            </c:spPr>
          </c:dPt>
          <c:cat>
            <c:multiLvlStrRef>
              <c:f>Sheet1!$A$2:$A$3</c:f>
              <c:multiLvlStrCache>
                <c:ptCount val="2"/>
                <c:lvl>
                  <c:pt idx="0">
                    <c:v>Electrical</c:v>
                  </c:pt>
                  <c:pt idx="1">
                    <c:v>Road maintenance</c:v>
                  </c:pt>
                </c:lvl>
              </c:multiLvlStrCache>
            </c:multiLvlStrRef>
          </c:cat>
          <c:val>
            <c:numRef>
              <c:f>Sheet1!$B$2:$B$3</c:f>
              <c:numCache>
                <c:formatCode>General</c:formatCode>
                <c:ptCount val="2"/>
                <c:pt idx="0">
                  <c:v>96.4</c:v>
                </c:pt>
                <c:pt idx="1">
                  <c:v>58</c:v>
                </c:pt>
              </c:numCache>
            </c:numRef>
          </c:val>
        </c:ser>
        <c:dLbls>
          <c:numFmt formatCode="0.0&quot;%&quot;" sourceLinked="0"/>
          <c:txPr>
            <a:bodyPr/>
            <a:lstStyle/>
            <a:p>
              <a:pPr>
                <a:defRPr b="0" i="0" strike="noStrike" sz="1100" u="none">
                  <a:solidFill>
                    <a:srgbClr val="E6EAF0"/>
                  </a:solidFill>
                  <a:latin typeface="Segoe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B1BAC6"/>
                </a:solidFill>
                <a:latin typeface="Segoe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F14"/>
        </a:solidFill>
        <a:ln w="12700" cap="flat">
          <a:solidFill>
            <a:srgbClr val="0B0F14"/>
          </a:solidFill>
        </a:ln>
        <a:effectLst/>
      </c:spPr>
    </c:plotArea>
    <c:plotVisOnly val="1"/>
    <c:dispBlanksAs val="span"/>
  </c:chart>
  <c:spPr>
    <a:solidFill>
      <a:srgbClr val="0B0F1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streetlight complaints</c:v>
                </c:pt>
              </c:strCache>
            </c:strRef>
          </c:tx>
          <c:spPr>
            <a:solidFill>
              <a:srgbClr val="FFC107"/>
            </a:solidFill>
            <a:effectLst/>
          </c:spPr>
          <c:invertIfNegative val="0"/>
          <c:dLbls>
            <c:numFmt formatCode="#,##0" sourceLinked="0"/>
            <c:txPr>
              <a:bodyPr/>
              <a:lstStyle/>
              <a:p>
                <a:pPr>
                  <a:defRPr b="0" i="0" strike="noStrike" sz="1100" u="none">
                    <a:solidFill>
                      <a:srgbClr val="E6EAF0"/>
                    </a:solidFill>
                    <a:latin typeface="Segoe UI"/>
                  </a:defRPr>
                </a:pPr>
              </a:p>
            </c:txPr>
            <c:showLegendKey val="0"/>
            <c:showVal val="1"/>
            <c:showCatName val="0"/>
            <c:showSerName val="0"/>
            <c:showPercent val="0"/>
            <c:showBubbleSize val="0"/>
            <c:showLeaderLines val="0"/>
          </c:dLbls>
          <c:dPt>
            <c:idx val="0"/>
            <c:invertIfNegative val="0"/>
            <c:bubble3D val="0"/>
            <c:spPr>
              <a:solidFill>
                <a:srgbClr val="FFC107"/>
              </a:solidFill>
              <a:effectLst/>
            </c:spPr>
          </c:dPt>
          <c:dPt>
            <c:idx val="1"/>
            <c:invertIfNegative val="0"/>
            <c:bubble3D val="0"/>
            <c:spPr>
              <a:solidFill>
                <a:srgbClr val="FFB300"/>
              </a:solidFill>
              <a:effectLst/>
            </c:spPr>
          </c:dPt>
          <c:dPt>
            <c:idx val="2"/>
            <c:invertIfNegative val="0"/>
            <c:bubble3D val="0"/>
            <c:spPr>
              <a:solidFill>
                <a:srgbClr val="7A8696"/>
              </a:solidFill>
              <a:effectLst/>
            </c:spPr>
          </c:dPt>
          <c:dPt>
            <c:idx val="3"/>
            <c:invertIfNegative val="0"/>
            <c:bubble3D val="0"/>
            <c:spPr>
              <a:solidFill>
                <a:srgbClr val="7A8696"/>
              </a:solidFill>
              <a:effectLst/>
            </c:spPr>
          </c:dPt>
          <c:dPt>
            <c:idx val="4"/>
            <c:invertIfNegative val="0"/>
            <c:bubble3D val="0"/>
            <c:spPr>
              <a:solidFill>
                <a:srgbClr val="7A8696"/>
              </a:solidFill>
              <a:effectLst/>
            </c:spPr>
          </c:dPt>
          <c:cat>
            <c:multiLvlStrRef>
              <c:f>Sheet1!$A$2:$A$6</c:f>
              <c:multiLvlStrCache>
                <c:ptCount val="5"/>
                <c:lvl>
                  <c:pt idx="0">
                    <c:v>Jnanabharathi</c:v>
                  </c:pt>
                  <c:pt idx="1">
                    <c:v>Ullalu</c:v>
                  </c:pt>
                  <c:pt idx="2">
                    <c:v>Hemmigepura</c:v>
                  </c:pt>
                  <c:pt idx="3">
                    <c:v>Dodda Bidarkallu</c:v>
                  </c:pt>
                  <c:pt idx="4">
                    <c:v>R.R. Nagar</c:v>
                  </c:pt>
                </c:lvl>
              </c:multiLvlStrCache>
            </c:multiLvlStrRef>
          </c:cat>
          <c:val>
            <c:numRef>
              <c:f>Sheet1!$B$2:$B$6</c:f>
              <c:numCache>
                <c:formatCode>General</c:formatCode>
                <c:ptCount val="5"/>
                <c:pt idx="0">
                  <c:v>1345</c:v>
                </c:pt>
                <c:pt idx="1">
                  <c:v>1026</c:v>
                </c:pt>
                <c:pt idx="2">
                  <c:v>983</c:v>
                </c:pt>
                <c:pt idx="3">
                  <c:v>967</c:v>
                </c:pt>
                <c:pt idx="4">
                  <c:v>964</c:v>
                </c:pt>
              </c:numCache>
            </c:numRef>
          </c:val>
        </c:ser>
        <c:dLbls>
          <c:numFmt formatCode="#,##0" sourceLinked="0"/>
          <c:txPr>
            <a:bodyPr/>
            <a:lstStyle/>
            <a:p>
              <a:pPr>
                <a:defRPr b="0" i="0" strike="noStrike" sz="1100" u="none">
                  <a:solidFill>
                    <a:srgbClr val="E6EAF0"/>
                  </a:solidFill>
                  <a:latin typeface="Segoe U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B1BAC6"/>
                </a:solidFill>
                <a:latin typeface="Segoe U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0F14"/>
        </a:solidFill>
        <a:ln w="12700" cap="flat">
          <a:solidFill>
            <a:srgbClr val="0B0F14"/>
          </a:solidFill>
        </a:ln>
        <a:effectLst/>
      </c:spPr>
    </c:plotArea>
    <c:plotVisOnly val="1"/>
    <c:dispBlanksAs val="span"/>
  </c:chart>
  <c:spPr>
    <a:solidFill>
      <a:srgbClr val="0B0F1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tagline out loud as your first sentence. Do not introduce yourselves first — lead with the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their number, not ours — and we recomputed it from the raw register rather than citing an analysis of it. Do not round to 'about a third'; the precision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for a government judge. Never open by criticising the municipality — they will resent it and the data does not support it. The move is: an efficient execution machine is being handed the wrong order. Say that phrase. Do not use the words broken, failure, apathy or negligence anywhere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TRAP: earlier drafts quoted Horamavu 3,128 / Jnanabharathi 2,842 / Thanisandra 2,480 — those are ALL-CATEGORY counts, a different measurement. Never mix bases. SECOND TRAP: do not claim complaint timestamps prove people file in the morning. The Grievance Date field is a 12-hour clock with AM/PM stripped, so all 126,974 rows fall in hours 1-12 and 7am cannot be told from 7pm. If asked, say exactly that. The ward pattern carries the argument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modelling decision does most of the work in this project, and it is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in this order. One: two models, four products. Two: uncertainty is a first-class output, not a footnote — posterior variance drives the routing refusal and the report targeting. Three: the IUDX input is gated; everything works without it and nothing needs rewriting when it opens. Ten seconds per point. Do not walk the boxes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caught our own model producing an indefensible number and fixed it against a measured failure rate. Both numbers are on the slide on purpose. Do not cut the 58.6 to 27.7 line to save space — showing that you audited your own output is worth more than the corrected number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Strongest intellectual slide in the deck and it costs nothing but clear thinking. Cite Jacobs by name;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PRODUCT. Land the number, pause, then give the four stress tests BEFORE anyone asks. Never quote 7.7x on its own — a judge will say 'you're just beating random', and if you have already said 1.9x and then 5.4x with our own labels deleted, you win that exchange instead of losing it. Say the last line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 BBMP executive engineer would open on a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bypass finding slowly. It is the measured answer to 'why not just build a safer-route app', and it is why the queue is the hero screen and this one is secondary. Never auto-select the safer route or hide the shortest — the position on liability is that the choice is the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pre-answers the hardest question we get — what does it do on day one with no data — before it is asked. Report counts on the screenshot are illustrative: the resolution loop is built and unseeded. Say that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problem author cares about. Lead with the null, then the bug, then the corrected number — in that order. DO NOT hide the 0.03: it is what makes the 0.30 believable. Also say the exposure blend leaning structural at 0.75 is now a CHOICE justified by the problem statement naming late-night commuters,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this slide on 'our ask is that someone approves the request'. It reframes the missing data from a weakness into a call to action, and it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Volunteering a limitation is worth more than defending one. All four briskly, thirty seconds total, do not dwell. The tone is command of the material, not confession.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answer 'what's next' with a feature list. Every team does. Answering with what you would try to learn is the differentiator, and it is the last thing they hear before scoring. Close on the number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this slide if asked about design or accessibility. It is proof the confidence treatment is a system, not a one-off.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this only if a judge challenges a figure. Reproduce with: python data/fetch.py, python data/snapshot_osm.py, python data/pipeline.py, python data/derive_screens.py.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FFC107"/>
          </a:solidFill>
          <a:ln/>
        </p:spPr>
      </p:sp>
      <p:sp>
        <p:nvSpPr>
          <p:cNvPr id="3" name="Text 1"/>
          <p:cNvSpPr/>
          <p:nvPr/>
        </p:nvSpPr>
        <p:spPr>
          <a:xfrm>
            <a:off x="914400" y="2057400"/>
            <a:ext cx="10424160" cy="1371600"/>
          </a:xfrm>
          <a:prstGeom prst="rect">
            <a:avLst/>
          </a:prstGeom>
          <a:noFill/>
          <a:ln/>
        </p:spPr>
        <p:txBody>
          <a:bodyPr wrap="square" rtlCol="0" anchor="ctr"/>
          <a:lstStyle/>
          <a:p>
            <a:pPr indent="0" marL="0">
              <a:buNone/>
            </a:pPr>
            <a:r>
              <a:rPr lang="en-US" sz="8400" b="1" spc="200" kern="0" dirty="0">
                <a:solidFill>
                  <a:srgbClr val="FFFFFF"/>
                </a:solidFill>
                <a:latin typeface="Segoe UI Semibold" pitchFamily="34" charset="0"/>
                <a:ea typeface="Segoe UI Semibold" pitchFamily="34" charset="-122"/>
                <a:cs typeface="Segoe UI Semibold" pitchFamily="34" charset="-120"/>
              </a:rPr>
              <a:t>ROSHNI</a:t>
            </a:r>
            <a:endParaRPr lang="en-US" sz="8400" dirty="0"/>
          </a:p>
        </p:txBody>
      </p:sp>
      <p:sp>
        <p:nvSpPr>
          <p:cNvPr id="4" name="Text 2"/>
          <p:cNvSpPr/>
          <p:nvPr/>
        </p:nvSpPr>
        <p:spPr>
          <a:xfrm>
            <a:off x="960120" y="3429000"/>
            <a:ext cx="9692640" cy="548640"/>
          </a:xfrm>
          <a:prstGeom prst="rect">
            <a:avLst/>
          </a:prstGeom>
          <a:noFill/>
          <a:ln/>
        </p:spPr>
        <p:txBody>
          <a:bodyPr wrap="square" rtlCol="0" anchor="ctr"/>
          <a:lstStyle/>
          <a:p>
            <a:pPr indent="0" marL="0">
              <a:buNone/>
            </a:pPr>
            <a:r>
              <a:rPr lang="en-US" sz="2100" dirty="0">
                <a:solidFill>
                  <a:srgbClr val="FFC107"/>
                </a:solidFill>
                <a:latin typeface="Segoe UI" pitchFamily="34" charset="0"/>
                <a:ea typeface="Segoe UI" pitchFamily="34" charset="-122"/>
                <a:cs typeface="Segoe UI" pitchFamily="34" charset="-120"/>
              </a:rPr>
              <a:t>The streetlight repair queue, reordered by who is actually walking.</a:t>
            </a:r>
            <a:endParaRPr lang="en-US" sz="2100" dirty="0"/>
          </a:p>
        </p:txBody>
      </p:sp>
      <p:sp>
        <p:nvSpPr>
          <p:cNvPr id="5" name="Text 3"/>
          <p:cNvSpPr/>
          <p:nvPr/>
        </p:nvSpPr>
        <p:spPr>
          <a:xfrm>
            <a:off x="960120" y="4160520"/>
            <a:ext cx="9692640" cy="365760"/>
          </a:xfrm>
          <a:prstGeom prst="rect">
            <a:avLst/>
          </a:prstGeom>
          <a:noFill/>
          <a:ln/>
        </p:spPr>
        <p:txBody>
          <a:bodyPr wrap="square" rtlCol="0" anchor="ctr"/>
          <a:lstStyle/>
          <a:p>
            <a:pPr indent="0" marL="0">
              <a:buNone/>
            </a:pPr>
            <a:r>
              <a:rPr lang="en-US" sz="1300" dirty="0">
                <a:solidFill>
                  <a:srgbClr val="7A8696"/>
                </a:solidFill>
                <a:latin typeface="Segoe UI" pitchFamily="34" charset="0"/>
                <a:ea typeface="Segoe UI" pitchFamily="34" charset="-122"/>
                <a:cs typeface="Segoe UI" pitchFamily="34" charset="-120"/>
              </a:rPr>
              <a:t>Problem Statement 17  ·  Smart Cities: Night-Safety Dark-Zone Mapper  ·  Bengaluru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Bengaluru's most-filed complaint</a:t>
            </a:r>
            <a:endParaRPr lang="en-US" sz="3000" dirty="0"/>
          </a:p>
        </p:txBody>
      </p:sp>
      <p:sp>
        <p:nvSpPr>
          <p:cNvPr id="3" name="Text 1"/>
          <p:cNvSpPr/>
          <p:nvPr/>
        </p:nvSpPr>
        <p:spPr>
          <a:xfrm>
            <a:off x="566928" y="1600200"/>
            <a:ext cx="3931920" cy="1737360"/>
          </a:xfrm>
          <a:prstGeom prst="rect">
            <a:avLst/>
          </a:prstGeom>
          <a:noFill/>
          <a:ln/>
        </p:spPr>
        <p:txBody>
          <a:bodyPr wrap="square" rtlCol="0" anchor="ctr"/>
          <a:lstStyle/>
          <a:p>
            <a:pPr indent="0" marL="0">
              <a:buNone/>
            </a:pPr>
            <a:r>
              <a:rPr lang="en-US" sz="10400" b="1" dirty="0">
                <a:solidFill>
                  <a:srgbClr val="FFC107"/>
                </a:solidFill>
                <a:latin typeface="Segoe UI Semibold" pitchFamily="34" charset="0"/>
                <a:ea typeface="Segoe UI Semibold" pitchFamily="34" charset="-122"/>
                <a:cs typeface="Segoe UI Semibold" pitchFamily="34" charset="-120"/>
              </a:rPr>
              <a:t>31.4%</a:t>
            </a:r>
            <a:endParaRPr lang="en-US" sz="10400" dirty="0"/>
          </a:p>
        </p:txBody>
      </p:sp>
      <p:sp>
        <p:nvSpPr>
          <p:cNvPr id="4" name="Text 2"/>
          <p:cNvSpPr/>
          <p:nvPr/>
        </p:nvSpPr>
        <p:spPr>
          <a:xfrm>
            <a:off x="566928" y="3429000"/>
            <a:ext cx="5120640" cy="1920240"/>
          </a:xfrm>
          <a:prstGeom prst="rect">
            <a:avLst/>
          </a:prstGeom>
          <a:noFill/>
          <a:ln/>
        </p:spPr>
        <p:txBody>
          <a:bodyPr wrap="square" rtlCol="0" anchor="t"/>
          <a:lstStyle/>
          <a:p>
            <a:pPr indent="0" marL="0">
              <a:lnSpc>
                <a:spcPct val="135000"/>
              </a:lnSpc>
              <a:buNone/>
            </a:pPr>
            <a:r>
              <a:rPr lang="en-US" sz="1500" b="1" dirty="0">
                <a:solidFill>
                  <a:srgbClr val="FFFFFF"/>
                </a:solidFill>
                <a:latin typeface="Segoe UI" pitchFamily="34" charset="0"/>
                <a:ea typeface="Segoe UI" pitchFamily="34" charset="-122"/>
                <a:cs typeface="Segoe UI" pitchFamily="34" charset="-120"/>
              </a:rPr>
              <a:t>39,847</a:t>
            </a:r>
            <a:pPr indent="0" marL="0">
              <a:lnSpc>
                <a:spcPct val="135000"/>
              </a:lnSpc>
              <a:buNone/>
            </a:pPr>
            <a:r>
              <a:rPr lang="en-US" sz="1500" dirty="0">
                <a:solidFill>
                  <a:srgbClr val="E6EAF0"/>
                </a:solidFill>
                <a:latin typeface="Segoe UI" pitchFamily="34" charset="0"/>
                <a:ea typeface="Segoe UI" pitchFamily="34" charset="-122"/>
                <a:cs typeface="Segoe UI" pitchFamily="34" charset="-120"/>
              </a:rPr>
              <a:t> of the </a:t>
            </a:r>
            <a:pPr indent="0" marL="0">
              <a:lnSpc>
                <a:spcPct val="135000"/>
              </a:lnSpc>
              <a:buNone/>
            </a:pPr>
            <a:r>
              <a:rPr lang="en-US" sz="1500" b="1" dirty="0">
                <a:solidFill>
                  <a:srgbClr val="FFFFFF"/>
                </a:solidFill>
                <a:latin typeface="Segoe UI" pitchFamily="34" charset="0"/>
                <a:ea typeface="Segoe UI" pitchFamily="34" charset="-122"/>
                <a:cs typeface="Segoe UI" pitchFamily="34" charset="-120"/>
              </a:rPr>
              <a:t>126,974</a:t>
            </a:r>
            <a:pPr indent="0" marL="0">
              <a:lnSpc>
                <a:spcPct val="135000"/>
              </a:lnSpc>
              <a:buNone/>
            </a:pPr>
            <a:r>
              <a:rPr lang="en-US" sz="1500" dirty="0">
                <a:solidFill>
                  <a:srgbClr val="E6EAF0"/>
                </a:solidFill>
                <a:latin typeface="Segoe UI" pitchFamily="34" charset="0"/>
                <a:ea typeface="Segoe UI" pitchFamily="34" charset="-122"/>
                <a:cs typeface="Segoe UI" pitchFamily="34" charset="-120"/>
              </a:rPr>
              <a:t> civic complaints Bengaluru filed between 1 January and 19 June 2025 were </a:t>
            </a:r>
            <a:pPr indent="0" marL="0">
              <a:lnSpc>
                <a:spcPct val="135000"/>
              </a:lnSpc>
              <a:buNone/>
            </a:pPr>
            <a:r>
              <a:rPr lang="en-US" sz="1500" b="1" dirty="0">
                <a:solidFill>
                  <a:srgbClr val="FFFFFF"/>
                </a:solidFill>
                <a:latin typeface="Segoe UI" pitchFamily="34" charset="0"/>
                <a:ea typeface="Segoe UI" pitchFamily="34" charset="-122"/>
                <a:cs typeface="Segoe UI" pitchFamily="34" charset="-120"/>
              </a:rPr>
              <a:t>“Street Light Not Working”</a:t>
            </a:r>
            <a:pPr indent="0" marL="0">
              <a:lnSpc>
                <a:spcPct val="135000"/>
              </a:lnSpc>
              <a:buNone/>
            </a:pPr>
            <a:r>
              <a:rPr lang="en-US" sz="1500" dirty="0">
                <a:solidFill>
                  <a:srgbClr val="E6EAF0"/>
                </a:solidFill>
                <a:latin typeface="Segoe UI" pitchFamily="34" charset="0"/>
                <a:ea typeface="Segoe UI" pitchFamily="34" charset="-122"/>
                <a:cs typeface="Segoe UI" pitchFamily="34" charset="-120"/>
              </a:rPr>
              <a:t>. About 236 a day. The single largest complaint category in the city.</a:t>
            </a:r>
            <a:endParaRPr lang="en-US" sz="1500" dirty="0"/>
          </a:p>
        </p:txBody>
      </p:sp>
      <p:graphicFrame>
        <p:nvGraphicFramePr>
          <p:cNvPr id="5" name="Chart 0" descr=""/>
          <p:cNvGraphicFramePr/>
          <p:nvPr/>
        </p:nvGraphicFramePr>
        <p:xfrm>
          <a:off x="5943600" y="146304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BBMP grievance register, 1 Jan – 19 Jun 2025, via OpenCity. Recomputed from the raw CSV, 22 Aug 2026. n = 126,974.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They are not failing. They are being handed the wrong order.</a:t>
            </a:r>
            <a:endParaRPr lang="en-US" sz="3000" dirty="0"/>
          </a:p>
        </p:txBody>
      </p:sp>
      <p:sp>
        <p:nvSpPr>
          <p:cNvPr id="3" name="Text 1"/>
          <p:cNvSpPr/>
          <p:nvPr/>
        </p:nvSpPr>
        <p:spPr>
          <a:xfrm>
            <a:off x="566928" y="1371600"/>
            <a:ext cx="4663440" cy="2286000"/>
          </a:xfrm>
          <a:prstGeom prst="rect">
            <a:avLst/>
          </a:prstGeom>
          <a:noFill/>
          <a:ln/>
        </p:spPr>
        <p:txBody>
          <a:bodyPr wrap="square" rtlCol="0" anchor="ctr"/>
          <a:lstStyle/>
          <a:p>
            <a:pPr algn="l" indent="0" marL="0">
              <a:buNone/>
            </a:pPr>
            <a:r>
              <a:rPr lang="en-US" sz="13800" b="1" dirty="0">
                <a:solidFill>
                  <a:srgbClr val="FFC107"/>
                </a:solidFill>
                <a:latin typeface="Segoe UI Semibold" pitchFamily="34" charset="0"/>
                <a:ea typeface="Segoe UI Semibold" pitchFamily="34" charset="-122"/>
                <a:cs typeface="Segoe UI Semibold" pitchFamily="34" charset="-120"/>
              </a:rPr>
              <a:t>96.4%</a:t>
            </a:r>
            <a:endParaRPr lang="en-US" sz="13800" dirty="0"/>
          </a:p>
        </p:txBody>
      </p:sp>
      <p:sp>
        <p:nvSpPr>
          <p:cNvPr id="4" name="Text 2"/>
          <p:cNvSpPr/>
          <p:nvPr/>
        </p:nvSpPr>
        <p:spPr>
          <a:xfrm>
            <a:off x="5440680" y="1417320"/>
            <a:ext cx="6275527" cy="822960"/>
          </a:xfrm>
          <a:prstGeom prst="rect">
            <a:avLst/>
          </a:prstGeom>
          <a:noFill/>
          <a:ln/>
        </p:spPr>
        <p:txBody>
          <a:bodyPr wrap="square" rtlCol="0" anchor="t"/>
          <a:lstStyle/>
          <a:p>
            <a:pPr indent="0" marL="0">
              <a:lnSpc>
                <a:spcPct val="105000"/>
              </a:lnSpc>
              <a:buNone/>
            </a:pPr>
            <a:r>
              <a:rPr lang="en-US" sz="2400" b="1" dirty="0">
                <a:solidFill>
                  <a:srgbClr val="FFFFFF"/>
                </a:solidFill>
                <a:latin typeface="Segoe UI Semibold" pitchFamily="34" charset="0"/>
                <a:ea typeface="Segoe UI Semibold" pitchFamily="34" charset="-122"/>
                <a:cs typeface="Segoe UI Semibold" pitchFamily="34" charset="-120"/>
              </a:rPr>
              <a:t>BBMP closes 96.4% of electrical complaints.</a:t>
            </a:r>
            <a:endParaRPr lang="en-US" sz="2400" dirty="0"/>
          </a:p>
        </p:txBody>
      </p:sp>
      <p:sp>
        <p:nvSpPr>
          <p:cNvPr id="5" name="Text 3"/>
          <p:cNvSpPr/>
          <p:nvPr/>
        </p:nvSpPr>
        <p:spPr>
          <a:xfrm>
            <a:off x="5440680" y="2377440"/>
            <a:ext cx="6275527" cy="2194560"/>
          </a:xfrm>
          <a:prstGeom prst="rect">
            <a:avLst/>
          </a:prstGeom>
          <a:noFill/>
          <a:ln/>
        </p:spPr>
        <p:txBody>
          <a:bodyPr wrap="square" rtlCol="0" anchor="t"/>
          <a:lstStyle/>
          <a:p>
            <a:pPr indent="0" marL="0">
              <a:lnSpc>
                <a:spcPct val="130000"/>
              </a:lnSpc>
              <a:buNone/>
            </a:pPr>
            <a:r>
              <a:rPr lang="en-US" sz="1500" dirty="0">
                <a:solidFill>
                  <a:srgbClr val="E6EAF0"/>
                </a:solidFill>
                <a:latin typeface="Segoe UI" pitchFamily="34" charset="0"/>
                <a:ea typeface="Segoe UI" pitchFamily="34" charset="-122"/>
                <a:cs typeface="Segoe UI" pitchFamily="34" charset="-120"/>
              </a:rPr>
              <a:t>40,632 of 42,138. Road maintenance closes 58%.</a:t>
            </a:r>
            <a:endParaRPr lang="en-US" sz="1500" dirty="0"/>
          </a:p>
          <a:p>
            <a:pPr indent="0" marL="0">
              <a:lnSpc>
                <a:spcPct val="130000"/>
              </a:lnSpc>
              <a:buNone/>
            </a:pPr>
            <a:endParaRPr lang="en-US" sz="1500" dirty="0"/>
          </a:p>
          <a:p>
            <a:pPr indent="0" marL="0">
              <a:lnSpc>
                <a:spcPct val="130000"/>
              </a:lnSpc>
              <a:buNone/>
            </a:pPr>
            <a:r>
              <a:rPr lang="en-US" sz="1500" dirty="0">
                <a:solidFill>
                  <a:srgbClr val="E6EAF0"/>
                </a:solidFill>
                <a:latin typeface="Segoe UI" pitchFamily="34" charset="0"/>
                <a:ea typeface="Segoe UI" pitchFamily="34" charset="-122"/>
                <a:cs typeface="Segoe UI" pitchFamily="34" charset="-120"/>
              </a:rPr>
              <a:t>They are not slow, not under-resourced, and not failing at execution.</a:t>
            </a:r>
            <a:endParaRPr lang="en-US" sz="1500" dirty="0"/>
          </a:p>
          <a:p>
            <a:pPr indent="0" marL="0">
              <a:lnSpc>
                <a:spcPct val="130000"/>
              </a:lnSpc>
              <a:buNone/>
            </a:pPr>
            <a:endParaRPr lang="en-US" sz="1500" dirty="0"/>
          </a:p>
          <a:p>
            <a:pPr indent="0" marL="0">
              <a:lnSpc>
                <a:spcPct val="130000"/>
              </a:lnSpc>
              <a:buNone/>
            </a:pPr>
            <a:r>
              <a:rPr lang="en-US" sz="1500" dirty="0">
                <a:solidFill>
                  <a:srgbClr val="E6EAF0"/>
                </a:solidFill>
                <a:latin typeface="Segoe UI" pitchFamily="34" charset="0"/>
                <a:ea typeface="Segoe UI" pitchFamily="34" charset="-122"/>
                <a:cs typeface="Segoe UI" pitchFamily="34" charset="-120"/>
              </a:rPr>
              <a:t>The queue is sorted by who complained first.</a:t>
            </a:r>
            <a:endParaRPr lang="en-US" sz="1500" dirty="0"/>
          </a:p>
        </p:txBody>
      </p:sp>
      <p:sp>
        <p:nvSpPr>
          <p:cNvPr id="6" name="Text 4"/>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Same register, Grievance Status field.</a:t>
            </a:r>
            <a:endParaRPr lang="en-US" sz="1000" dirty="0"/>
          </a:p>
        </p:txBody>
      </p:sp>
      <p:graphicFrame>
        <p:nvGraphicFramePr>
          <p:cNvPr id="7" name="Chart 0" descr=""/>
          <p:cNvGraphicFramePr/>
          <p:nvPr/>
        </p:nvGraphicFramePr>
        <p:xfrm>
          <a:off x="5486400" y="4617720"/>
          <a:ext cx="5760720" cy="14173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Complaining correlates with app-literacy, not exposure</a:t>
            </a:r>
            <a:endParaRPr lang="en-US" sz="3000" dirty="0"/>
          </a:p>
        </p:txBody>
      </p:sp>
      <p:sp>
        <p:nvSpPr>
          <p:cNvPr id="3" name="Text 1"/>
          <p:cNvSpPr/>
          <p:nvPr/>
        </p:nvSpPr>
        <p:spPr>
          <a:xfrm>
            <a:off x="566928" y="1554480"/>
            <a:ext cx="4937760" cy="3108960"/>
          </a:xfrm>
          <a:prstGeom prst="rect">
            <a:avLst/>
          </a:prstGeom>
          <a:noFill/>
          <a:ln/>
        </p:spPr>
        <p:txBody>
          <a:bodyPr wrap="square" rtlCol="0" anchor="t"/>
          <a:lstStyle/>
          <a:p>
            <a:pPr indent="0" marL="0">
              <a:lnSpc>
                <a:spcPct val="135000"/>
              </a:lnSpc>
              <a:buNone/>
            </a:pPr>
            <a:r>
              <a:rPr lang="en-US" sz="1600" dirty="0">
                <a:solidFill>
                  <a:srgbClr val="E6EAF0"/>
                </a:solidFill>
                <a:latin typeface="Segoe UI" pitchFamily="34" charset="0"/>
                <a:ea typeface="Segoe UI" pitchFamily="34" charset="-122"/>
                <a:cs typeface="Segoe UI" pitchFamily="34" charset="-120"/>
              </a:rPr>
              <a:t>Streetlight complaints concentrate in newer, peripheral, more car-owning, more app-literate wards. Older, denser, more-walked inner wards file fewer.
</a:t>
            </a:r>
            <a:pPr indent="0" marL="0">
              <a:lnSpc>
                <a:spcPct val="135000"/>
              </a:lnSpc>
              <a:buNone/>
            </a:pPr>
            <a:r>
              <a:rPr lang="en-US" sz="1600" b="1" dirty="0">
                <a:solidFill>
                  <a:srgbClr val="FFC107"/>
                </a:solidFill>
                <a:latin typeface="Segoe UI" pitchFamily="34" charset="0"/>
                <a:ea typeface="Segoe UI" pitchFamily="34" charset="-122"/>
                <a:cs typeface="Segoe UI" pitchFamily="34" charset="-120"/>
              </a:rPr>
              <a:t>A first-come queue is sorted by who complains, not by who is exposed.</a:t>
            </a:r>
            <a:endParaRPr lang="en-US" sz="1600" dirty="0"/>
          </a:p>
        </p:txBody>
      </p:sp>
      <p:sp>
        <p:nvSpPr>
          <p:cNvPr id="4" name="Text 2"/>
          <p:cNvSpPr/>
          <p:nvPr/>
        </p:nvSpPr>
        <p:spPr>
          <a:xfrm>
            <a:off x="566928" y="4754880"/>
            <a:ext cx="4937760" cy="731520"/>
          </a:xfrm>
          <a:prstGeom prst="rect">
            <a:avLst/>
          </a:prstGeom>
          <a:noFill/>
          <a:ln/>
        </p:spPr>
        <p:txBody>
          <a:bodyPr wrap="square" rtlCol="0" anchor="t"/>
          <a:lstStyle/>
          <a:p>
            <a:pPr indent="0" marL="0">
              <a:buNone/>
            </a:pPr>
            <a:r>
              <a:rPr lang="en-US" sz="1300" i="1" dirty="0">
                <a:solidFill>
                  <a:srgbClr val="B1BAC6"/>
                </a:solidFill>
                <a:latin typeface="Segoe UI" pitchFamily="34" charset="0"/>
                <a:ea typeface="Segoe UI" pitchFamily="34" charset="-122"/>
                <a:cs typeface="Segoe UI" pitchFamily="34" charset="-120"/>
              </a:rPr>
              <a:t>The person on a dark arterial at 11pm is not the person filing the ticket.</a:t>
            </a:r>
            <a:endParaRPr lang="en-US" sz="1300" dirty="0"/>
          </a:p>
        </p:txBody>
      </p:sp>
      <p:graphicFrame>
        <p:nvGraphicFramePr>
          <p:cNvPr id="5" name="Chart 0" descr=""/>
          <p:cNvGraphicFramePr/>
          <p:nvPr/>
        </p:nvGraphicFramePr>
        <p:xfrm>
          <a:off x="5760720" y="146304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Same register, filtered to Sub Category = “Street Light Not Working”, grouped by Ward Name. Streetlight-only counts, not all-category.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Three surfaces, one atom</a:t>
            </a:r>
            <a:endParaRPr lang="en-US" sz="3000" dirty="0"/>
          </a:p>
        </p:txBody>
      </p:sp>
      <p:sp>
        <p:nvSpPr>
          <p:cNvPr id="3" name="Shape 1"/>
          <p:cNvSpPr/>
          <p:nvPr/>
        </p:nvSpPr>
        <p:spPr>
          <a:xfrm>
            <a:off x="566928" y="1508760"/>
            <a:ext cx="3520440" cy="1828800"/>
          </a:xfrm>
          <a:prstGeom prst="roundRect">
            <a:avLst>
              <a:gd name="adj" fmla="val 3000"/>
            </a:avLst>
          </a:prstGeom>
          <a:solidFill>
            <a:srgbClr val="121820"/>
          </a:solidFill>
          <a:ln w="12700">
            <a:solidFill>
              <a:srgbClr val="FFC107"/>
            </a:solidFill>
            <a:prstDash val="solid"/>
          </a:ln>
        </p:spPr>
      </p:sp>
      <p:sp>
        <p:nvSpPr>
          <p:cNvPr id="4" name="Text 2"/>
          <p:cNvSpPr/>
          <p:nvPr/>
        </p:nvSpPr>
        <p:spPr>
          <a:xfrm>
            <a:off x="795528" y="1691640"/>
            <a:ext cx="2011680" cy="411480"/>
          </a:xfrm>
          <a:prstGeom prst="rect">
            <a:avLst/>
          </a:prstGeom>
          <a:noFill/>
          <a:ln/>
        </p:spPr>
        <p:txBody>
          <a:bodyPr wrap="square" rtlCol="0" anchor="ctr"/>
          <a:lstStyle/>
          <a:p>
            <a:pPr indent="0" marL="0">
              <a:buNone/>
            </a:pPr>
            <a:r>
              <a:rPr lang="en-US" sz="2200" b="1" dirty="0">
                <a:solidFill>
                  <a:srgbClr val="FFC107"/>
                </a:solidFill>
                <a:latin typeface="Segoe UI Semibold" pitchFamily="34" charset="0"/>
                <a:ea typeface="Segoe UI Semibold" pitchFamily="34" charset="-122"/>
                <a:cs typeface="Segoe UI Semibold" pitchFamily="34" charset="-120"/>
              </a:rPr>
              <a:t>Queue</a:t>
            </a:r>
            <a:endParaRPr lang="en-US" sz="2200" dirty="0"/>
          </a:p>
        </p:txBody>
      </p:sp>
      <p:sp>
        <p:nvSpPr>
          <p:cNvPr id="5" name="Text 3"/>
          <p:cNvSpPr/>
          <p:nvPr/>
        </p:nvSpPr>
        <p:spPr>
          <a:xfrm>
            <a:off x="795528" y="2103120"/>
            <a:ext cx="2011680" cy="274320"/>
          </a:xfrm>
          <a:prstGeom prst="rect">
            <a:avLst/>
          </a:prstGeom>
          <a:noFill/>
          <a:ln/>
        </p:spPr>
        <p:txBody>
          <a:bodyPr wrap="square" rtlCol="0" anchor="ctr"/>
          <a:lstStyle/>
          <a:p>
            <a:pPr indent="0" marL="0">
              <a:buNone/>
            </a:pPr>
            <a:r>
              <a:rPr lang="en-US" sz="1100" dirty="0">
                <a:solidFill>
                  <a:srgbClr val="7A8696"/>
                </a:solidFill>
                <a:latin typeface="Segoe UI" pitchFamily="34" charset="0"/>
                <a:ea typeface="Segoe UI" pitchFamily="34" charset="-122"/>
                <a:cs typeface="Segoe UI" pitchFamily="34" charset="-120"/>
              </a:rPr>
              <a:t>municipal</a:t>
            </a:r>
            <a:endParaRPr lang="en-US" sz="1100" dirty="0"/>
          </a:p>
        </p:txBody>
      </p:sp>
      <p:sp>
        <p:nvSpPr>
          <p:cNvPr id="6" name="Text 4"/>
          <p:cNvSpPr/>
          <p:nvPr/>
        </p:nvSpPr>
        <p:spPr>
          <a:xfrm>
            <a:off x="795528" y="2423160"/>
            <a:ext cx="3063240" cy="777240"/>
          </a:xfrm>
          <a:prstGeom prst="rect">
            <a:avLst/>
          </a:prstGeom>
          <a:noFill/>
          <a:ln/>
        </p:spPr>
        <p:txBody>
          <a:bodyPr wrap="square" rtlCol="0" anchor="t"/>
          <a:lstStyle/>
          <a:p>
            <a:pPr indent="0" marL="0">
              <a:lnSpc>
                <a:spcPct val="120000"/>
              </a:lnSpc>
              <a:buNone/>
            </a:pPr>
            <a:r>
              <a:rPr lang="en-US" sz="1300" dirty="0">
                <a:solidFill>
                  <a:srgbClr val="E6EAF0"/>
                </a:solidFill>
                <a:latin typeface="Segoe UI" pitchFamily="34" charset="0"/>
                <a:ea typeface="Segoe UI" pitchFamily="34" charset="-122"/>
                <a:cs typeface="Segoe UI" pitchFamily="34" charset="-120"/>
              </a:rPr>
              <a:t>A ranked worklist under a repair budget.</a:t>
            </a:r>
            <a:endParaRPr lang="en-US" sz="1300" dirty="0"/>
          </a:p>
        </p:txBody>
      </p:sp>
      <p:sp>
        <p:nvSpPr>
          <p:cNvPr id="7" name="Text 5"/>
          <p:cNvSpPr/>
          <p:nvPr/>
        </p:nvSpPr>
        <p:spPr>
          <a:xfrm>
            <a:off x="2898648" y="1709928"/>
            <a:ext cx="1005840" cy="274320"/>
          </a:xfrm>
          <a:prstGeom prst="rect">
            <a:avLst/>
          </a:prstGeom>
          <a:noFill/>
          <a:ln/>
        </p:spPr>
        <p:txBody>
          <a:bodyPr wrap="square" rtlCol="0" anchor="ctr"/>
          <a:lstStyle/>
          <a:p>
            <a:pPr algn="r" indent="0" marL="0">
              <a:buNone/>
            </a:pPr>
            <a:r>
              <a:rPr lang="en-US" sz="900" spc="100" kern="0" dirty="0">
                <a:solidFill>
                  <a:srgbClr val="FFC107"/>
                </a:solidFill>
                <a:latin typeface="Segoe UI Semibold" pitchFamily="34" charset="0"/>
                <a:ea typeface="Segoe UI Semibold" pitchFamily="34" charset="-122"/>
                <a:cs typeface="Segoe UI Semibold" pitchFamily="34" charset="-120"/>
              </a:rPr>
              <a:t>THE HERO</a:t>
            </a:r>
            <a:endParaRPr lang="en-US" sz="900" dirty="0"/>
          </a:p>
        </p:txBody>
      </p:sp>
      <p:sp>
        <p:nvSpPr>
          <p:cNvPr id="8" name="Shape 6"/>
          <p:cNvSpPr/>
          <p:nvPr/>
        </p:nvSpPr>
        <p:spPr>
          <a:xfrm>
            <a:off x="4297680" y="1508760"/>
            <a:ext cx="3520440" cy="1828800"/>
          </a:xfrm>
          <a:prstGeom prst="roundRect">
            <a:avLst>
              <a:gd name="adj" fmla="val 3000"/>
            </a:avLst>
          </a:prstGeom>
          <a:solidFill>
            <a:srgbClr val="121820"/>
          </a:solidFill>
          <a:ln w="12700">
            <a:solidFill>
              <a:srgbClr val="232B36"/>
            </a:solidFill>
            <a:prstDash val="solid"/>
          </a:ln>
        </p:spPr>
      </p:sp>
      <p:sp>
        <p:nvSpPr>
          <p:cNvPr id="9" name="Text 7"/>
          <p:cNvSpPr/>
          <p:nvPr/>
        </p:nvSpPr>
        <p:spPr>
          <a:xfrm>
            <a:off x="4526280" y="1691640"/>
            <a:ext cx="2011680" cy="411480"/>
          </a:xfrm>
          <a:prstGeom prst="rect">
            <a:avLst/>
          </a:prstGeom>
          <a:noFill/>
          <a:ln/>
        </p:spPr>
        <p:txBody>
          <a:bodyPr wrap="square" rtlCol="0" anchor="ctr"/>
          <a:lstStyle/>
          <a:p>
            <a:pPr indent="0" marL="0">
              <a:buNone/>
            </a:pPr>
            <a:r>
              <a:rPr lang="en-US" sz="2200" b="1" dirty="0">
                <a:solidFill>
                  <a:srgbClr val="FFFFFF"/>
                </a:solidFill>
                <a:latin typeface="Segoe UI Semibold" pitchFamily="34" charset="0"/>
                <a:ea typeface="Segoe UI Semibold" pitchFamily="34" charset="-122"/>
                <a:cs typeface="Segoe UI Semibold" pitchFamily="34" charset="-120"/>
              </a:rPr>
              <a:t>Route</a:t>
            </a:r>
            <a:endParaRPr lang="en-US" sz="2200" dirty="0"/>
          </a:p>
        </p:txBody>
      </p:sp>
      <p:sp>
        <p:nvSpPr>
          <p:cNvPr id="10" name="Text 8"/>
          <p:cNvSpPr/>
          <p:nvPr/>
        </p:nvSpPr>
        <p:spPr>
          <a:xfrm>
            <a:off x="4526280" y="2103120"/>
            <a:ext cx="2011680" cy="274320"/>
          </a:xfrm>
          <a:prstGeom prst="rect">
            <a:avLst/>
          </a:prstGeom>
          <a:noFill/>
          <a:ln/>
        </p:spPr>
        <p:txBody>
          <a:bodyPr wrap="square" rtlCol="0" anchor="ctr"/>
          <a:lstStyle/>
          <a:p>
            <a:pPr indent="0" marL="0">
              <a:buNone/>
            </a:pPr>
            <a:r>
              <a:rPr lang="en-US" sz="1100" dirty="0">
                <a:solidFill>
                  <a:srgbClr val="7A8696"/>
                </a:solidFill>
                <a:latin typeface="Segoe UI" pitchFamily="34" charset="0"/>
                <a:ea typeface="Segoe UI" pitchFamily="34" charset="-122"/>
                <a:cs typeface="Segoe UI" pitchFamily="34" charset="-120"/>
              </a:rPr>
              <a:t>citizen</a:t>
            </a:r>
            <a:endParaRPr lang="en-US" sz="1100" dirty="0"/>
          </a:p>
        </p:txBody>
      </p:sp>
      <p:sp>
        <p:nvSpPr>
          <p:cNvPr id="11" name="Text 9"/>
          <p:cNvSpPr/>
          <p:nvPr/>
        </p:nvSpPr>
        <p:spPr>
          <a:xfrm>
            <a:off x="4526280" y="2423160"/>
            <a:ext cx="3063240" cy="777240"/>
          </a:xfrm>
          <a:prstGeom prst="rect">
            <a:avLst/>
          </a:prstGeom>
          <a:noFill/>
          <a:ln/>
        </p:spPr>
        <p:txBody>
          <a:bodyPr wrap="square" rtlCol="0" anchor="t"/>
          <a:lstStyle/>
          <a:p>
            <a:pPr indent="0" marL="0">
              <a:lnSpc>
                <a:spcPct val="120000"/>
              </a:lnSpc>
              <a:buNone/>
            </a:pPr>
            <a:r>
              <a:rPr lang="en-US" sz="1300" dirty="0">
                <a:solidFill>
                  <a:srgbClr val="E6EAF0"/>
                </a:solidFill>
                <a:latin typeface="Segoe UI" pitchFamily="34" charset="0"/>
                <a:ea typeface="Segoe UI" pitchFamily="34" charset="-122"/>
                <a:cs typeface="Segoe UI" pitchFamily="34" charset="-120"/>
              </a:rPr>
              <a:t>Safer and shortest walk, side by side, always both.</a:t>
            </a:r>
            <a:endParaRPr lang="en-US" sz="1300" dirty="0"/>
          </a:p>
        </p:txBody>
      </p:sp>
      <p:sp>
        <p:nvSpPr>
          <p:cNvPr id="12" name="Shape 10"/>
          <p:cNvSpPr/>
          <p:nvPr/>
        </p:nvSpPr>
        <p:spPr>
          <a:xfrm>
            <a:off x="8028432" y="1508760"/>
            <a:ext cx="3520440" cy="1828800"/>
          </a:xfrm>
          <a:prstGeom prst="roundRect">
            <a:avLst>
              <a:gd name="adj" fmla="val 3000"/>
            </a:avLst>
          </a:prstGeom>
          <a:solidFill>
            <a:srgbClr val="121820"/>
          </a:solidFill>
          <a:ln w="12700">
            <a:solidFill>
              <a:srgbClr val="232B36"/>
            </a:solidFill>
            <a:prstDash val="solid"/>
          </a:ln>
        </p:spPr>
      </p:sp>
      <p:sp>
        <p:nvSpPr>
          <p:cNvPr id="13" name="Text 11"/>
          <p:cNvSpPr/>
          <p:nvPr/>
        </p:nvSpPr>
        <p:spPr>
          <a:xfrm>
            <a:off x="8257032" y="1691640"/>
            <a:ext cx="2011680" cy="411480"/>
          </a:xfrm>
          <a:prstGeom prst="rect">
            <a:avLst/>
          </a:prstGeom>
          <a:noFill/>
          <a:ln/>
        </p:spPr>
        <p:txBody>
          <a:bodyPr wrap="square" rtlCol="0" anchor="ctr"/>
          <a:lstStyle/>
          <a:p>
            <a:pPr indent="0" marL="0">
              <a:buNone/>
            </a:pPr>
            <a:r>
              <a:rPr lang="en-US" sz="2200" b="1" dirty="0">
                <a:solidFill>
                  <a:srgbClr val="FFFFFF"/>
                </a:solidFill>
                <a:latin typeface="Segoe UI Semibold" pitchFamily="34" charset="0"/>
                <a:ea typeface="Segoe UI Semibold" pitchFamily="34" charset="-122"/>
                <a:cs typeface="Segoe UI Semibold" pitchFamily="34" charset="-120"/>
              </a:rPr>
              <a:t>Report</a:t>
            </a:r>
            <a:endParaRPr lang="en-US" sz="2200" dirty="0"/>
          </a:p>
        </p:txBody>
      </p:sp>
      <p:sp>
        <p:nvSpPr>
          <p:cNvPr id="14" name="Text 12"/>
          <p:cNvSpPr/>
          <p:nvPr/>
        </p:nvSpPr>
        <p:spPr>
          <a:xfrm>
            <a:off x="8257032" y="2103120"/>
            <a:ext cx="2011680" cy="274320"/>
          </a:xfrm>
          <a:prstGeom prst="rect">
            <a:avLst/>
          </a:prstGeom>
          <a:noFill/>
          <a:ln/>
        </p:spPr>
        <p:txBody>
          <a:bodyPr wrap="square" rtlCol="0" anchor="ctr"/>
          <a:lstStyle/>
          <a:p>
            <a:pPr indent="0" marL="0">
              <a:buNone/>
            </a:pPr>
            <a:r>
              <a:rPr lang="en-US" sz="1100" dirty="0">
                <a:solidFill>
                  <a:srgbClr val="7A8696"/>
                </a:solidFill>
                <a:latin typeface="Segoe UI" pitchFamily="34" charset="0"/>
                <a:ea typeface="Segoe UI" pitchFamily="34" charset="-122"/>
                <a:cs typeface="Segoe UI" pitchFamily="34" charset="-120"/>
              </a:rPr>
              <a:t>citizen</a:t>
            </a:r>
            <a:endParaRPr lang="en-US" sz="1100" dirty="0"/>
          </a:p>
        </p:txBody>
      </p:sp>
      <p:sp>
        <p:nvSpPr>
          <p:cNvPr id="15" name="Text 13"/>
          <p:cNvSpPr/>
          <p:nvPr/>
        </p:nvSpPr>
        <p:spPr>
          <a:xfrm>
            <a:off x="8257032" y="2423160"/>
            <a:ext cx="3063240" cy="777240"/>
          </a:xfrm>
          <a:prstGeom prst="rect">
            <a:avLst/>
          </a:prstGeom>
          <a:noFill/>
          <a:ln/>
        </p:spPr>
        <p:txBody>
          <a:bodyPr wrap="square" rtlCol="0" anchor="t"/>
          <a:lstStyle/>
          <a:p>
            <a:pPr indent="0" marL="0">
              <a:lnSpc>
                <a:spcPct val="120000"/>
              </a:lnSpc>
              <a:buNone/>
            </a:pPr>
            <a:r>
              <a:rPr lang="en-US" sz="1300" dirty="0">
                <a:solidFill>
                  <a:srgbClr val="E6EAF0"/>
                </a:solidFill>
                <a:latin typeface="Segoe UI" pitchFamily="34" charset="0"/>
                <a:ea typeface="Segoe UI" pitchFamily="34" charset="-122"/>
                <a:cs typeface="Segoe UI" pitchFamily="34" charset="-120"/>
              </a:rPr>
              <a:t>One tap: “this stretch is dark.”</a:t>
            </a:r>
            <a:endParaRPr lang="en-US" sz="1300" dirty="0"/>
          </a:p>
        </p:txBody>
      </p:sp>
      <p:sp>
        <p:nvSpPr>
          <p:cNvPr id="16" name="Shape 14"/>
          <p:cNvSpPr/>
          <p:nvPr/>
        </p:nvSpPr>
        <p:spPr>
          <a:xfrm>
            <a:off x="566928" y="3611880"/>
            <a:ext cx="11057839" cy="2148840"/>
          </a:xfrm>
          <a:prstGeom prst="roundRect">
            <a:avLst>
              <a:gd name="adj" fmla="val 2553"/>
            </a:avLst>
          </a:prstGeom>
          <a:solidFill>
            <a:srgbClr val="1B232E"/>
          </a:solidFill>
          <a:ln w="12700">
            <a:solidFill>
              <a:srgbClr val="232B36"/>
            </a:solidFill>
            <a:prstDash val="solid"/>
          </a:ln>
        </p:spPr>
      </p:sp>
      <p:sp>
        <p:nvSpPr>
          <p:cNvPr id="17" name="Text 15"/>
          <p:cNvSpPr/>
          <p:nvPr/>
        </p:nvSpPr>
        <p:spPr>
          <a:xfrm>
            <a:off x="841248" y="3840480"/>
            <a:ext cx="10509199" cy="1737360"/>
          </a:xfrm>
          <a:prstGeom prst="rect">
            <a:avLst/>
          </a:prstGeom>
          <a:noFill/>
          <a:ln/>
        </p:spPr>
        <p:txBody>
          <a:bodyPr wrap="square" rtlCol="0" anchor="t"/>
          <a:lstStyle/>
          <a:p>
            <a:pPr indent="0" marL="0">
              <a:lnSpc>
                <a:spcPct val="130000"/>
              </a:lnSpc>
              <a:buNone/>
            </a:pPr>
            <a:r>
              <a:rPr lang="en-US" sz="1400" b="1" dirty="0">
                <a:solidFill>
                  <a:srgbClr val="FFC107"/>
                </a:solidFill>
                <a:latin typeface="Segoe UI" pitchFamily="34" charset="0"/>
                <a:ea typeface="Segoe UI" pitchFamily="34" charset="-122"/>
                <a:cs typeface="Segoe UI" pitchFamily="34" charset="-120"/>
              </a:rPr>
              <a:t>The atom is the road segment, not the lamp.  </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A pedestrian at 23:00 does not care whether a street has eleven lamps or fourteen — they care whether the next 200 metres is lit.
</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Darkness per segment is a quantity you can </a:t>
            </a:r>
            <a:pPr indent="0" marL="0">
              <a:lnSpc>
                <a:spcPct val="130000"/>
              </a:lnSpc>
              <a:buNone/>
            </a:pPr>
            <a:r>
              <a:rPr lang="en-US" sz="1400" b="1" dirty="0">
                <a:solidFill>
                  <a:srgbClr val="FFFFFF"/>
                </a:solidFill>
                <a:latin typeface="Segoe UI" pitchFamily="34" charset="0"/>
                <a:ea typeface="Segoe UI" pitchFamily="34" charset="-122"/>
                <a:cs typeface="Segoe UI" pitchFamily="34" charset="-120"/>
              </a:rPr>
              <a:t>estimate</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 Lamp inventory is an enumeration you cannot </a:t>
            </a:r>
            <a:pPr indent="0" marL="0">
              <a:lnSpc>
                <a:spcPct val="130000"/>
              </a:lnSpc>
              <a:buNone/>
            </a:pPr>
            <a:r>
              <a:rPr lang="en-US" sz="1400" b="1" dirty="0">
                <a:solidFill>
                  <a:srgbClr val="FFFFFF"/>
                </a:solidFill>
                <a:latin typeface="Segoe UI" pitchFamily="34" charset="0"/>
                <a:ea typeface="Segoe UI" pitchFamily="34" charset="-122"/>
                <a:cs typeface="Segoe UI" pitchFamily="34" charset="-120"/>
              </a:rPr>
              <a:t>obtain</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 — and BBMP does not have one either: their complaint records carry no coordinates and no pole IDs.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How it works</a:t>
            </a:r>
            <a:endParaRPr lang="en-US" sz="3000" dirty="0"/>
          </a:p>
        </p:txBody>
      </p:sp>
      <p:sp>
        <p:nvSpPr>
          <p:cNvPr id="3" name="Shape 1"/>
          <p:cNvSpPr/>
          <p:nvPr/>
        </p:nvSpPr>
        <p:spPr>
          <a:xfrm>
            <a:off x="566928" y="1417320"/>
            <a:ext cx="2743200" cy="621792"/>
          </a:xfrm>
          <a:prstGeom prst="roundRect">
            <a:avLst>
              <a:gd name="adj" fmla="val 8824"/>
            </a:avLst>
          </a:prstGeom>
          <a:solidFill>
            <a:srgbClr val="121820"/>
          </a:solidFill>
          <a:ln w="12700">
            <a:solidFill>
              <a:srgbClr val="232B36"/>
            </a:solidFill>
            <a:prstDash val="solid"/>
          </a:ln>
        </p:spPr>
      </p:sp>
      <p:sp>
        <p:nvSpPr>
          <p:cNvPr id="4" name="Text 2"/>
          <p:cNvSpPr/>
          <p:nvPr/>
        </p:nvSpPr>
        <p:spPr>
          <a:xfrm>
            <a:off x="694944" y="1508760"/>
            <a:ext cx="2487168"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OSM walk graph</a:t>
            </a:r>
            <a:endParaRPr lang="en-US" sz="1300" dirty="0"/>
          </a:p>
        </p:txBody>
      </p:sp>
      <p:sp>
        <p:nvSpPr>
          <p:cNvPr id="5" name="Text 3"/>
          <p:cNvSpPr/>
          <p:nvPr/>
        </p:nvSpPr>
        <p:spPr>
          <a:xfrm>
            <a:off x="694944" y="1764792"/>
            <a:ext cx="2487168" cy="219456"/>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95,557 nodes</a:t>
            </a:r>
            <a:endParaRPr lang="en-US" sz="950" dirty="0"/>
          </a:p>
        </p:txBody>
      </p:sp>
      <p:sp>
        <p:nvSpPr>
          <p:cNvPr id="6" name="Shape 4"/>
          <p:cNvSpPr/>
          <p:nvPr/>
        </p:nvSpPr>
        <p:spPr>
          <a:xfrm>
            <a:off x="566928" y="2103120"/>
            <a:ext cx="2743200" cy="621792"/>
          </a:xfrm>
          <a:prstGeom prst="roundRect">
            <a:avLst>
              <a:gd name="adj" fmla="val 8824"/>
            </a:avLst>
          </a:prstGeom>
          <a:solidFill>
            <a:srgbClr val="121820"/>
          </a:solidFill>
          <a:ln w="12700">
            <a:solidFill>
              <a:srgbClr val="232B36"/>
            </a:solidFill>
            <a:prstDash val="solid"/>
          </a:ln>
        </p:spPr>
      </p:sp>
      <p:sp>
        <p:nvSpPr>
          <p:cNvPr id="7" name="Text 5"/>
          <p:cNvSpPr/>
          <p:nvPr/>
        </p:nvSpPr>
        <p:spPr>
          <a:xfrm>
            <a:off x="694944" y="2194560"/>
            <a:ext cx="2487168"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BMTC GTFS</a:t>
            </a:r>
            <a:endParaRPr lang="en-US" sz="1300" dirty="0"/>
          </a:p>
        </p:txBody>
      </p:sp>
      <p:sp>
        <p:nvSpPr>
          <p:cNvPr id="8" name="Text 6"/>
          <p:cNvSpPr/>
          <p:nvPr/>
        </p:nvSpPr>
        <p:spPr>
          <a:xfrm>
            <a:off x="694944" y="2450592"/>
            <a:ext cx="2487168" cy="219456"/>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6,187 night departures</a:t>
            </a:r>
            <a:endParaRPr lang="en-US" sz="950" dirty="0"/>
          </a:p>
        </p:txBody>
      </p:sp>
      <p:sp>
        <p:nvSpPr>
          <p:cNvPr id="9" name="Shape 7"/>
          <p:cNvSpPr/>
          <p:nvPr/>
        </p:nvSpPr>
        <p:spPr>
          <a:xfrm>
            <a:off x="566928" y="2788920"/>
            <a:ext cx="2743200" cy="621792"/>
          </a:xfrm>
          <a:prstGeom prst="roundRect">
            <a:avLst>
              <a:gd name="adj" fmla="val 8824"/>
            </a:avLst>
          </a:prstGeom>
          <a:solidFill>
            <a:srgbClr val="121820"/>
          </a:solidFill>
          <a:ln w="12700">
            <a:solidFill>
              <a:srgbClr val="232B36"/>
            </a:solidFill>
            <a:prstDash val="solid"/>
          </a:ln>
        </p:spPr>
      </p:sp>
      <p:sp>
        <p:nvSpPr>
          <p:cNvPr id="10" name="Text 8"/>
          <p:cNvSpPr/>
          <p:nvPr/>
        </p:nvSpPr>
        <p:spPr>
          <a:xfrm>
            <a:off x="694944" y="2880360"/>
            <a:ext cx="2487168"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Night-active POIs</a:t>
            </a:r>
            <a:endParaRPr lang="en-US" sz="1300" dirty="0"/>
          </a:p>
        </p:txBody>
      </p:sp>
      <p:sp>
        <p:nvSpPr>
          <p:cNvPr id="11" name="Text 9"/>
          <p:cNvSpPr/>
          <p:nvPr/>
        </p:nvSpPr>
        <p:spPr>
          <a:xfrm>
            <a:off x="694944" y="3136392"/>
            <a:ext cx="2487168" cy="219456"/>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3,417 weighted</a:t>
            </a:r>
            <a:endParaRPr lang="en-US" sz="950" dirty="0"/>
          </a:p>
        </p:txBody>
      </p:sp>
      <p:sp>
        <p:nvSpPr>
          <p:cNvPr id="12" name="Shape 10"/>
          <p:cNvSpPr/>
          <p:nvPr/>
        </p:nvSpPr>
        <p:spPr>
          <a:xfrm>
            <a:off x="566928" y="3474720"/>
            <a:ext cx="2743200" cy="621792"/>
          </a:xfrm>
          <a:prstGeom prst="roundRect">
            <a:avLst>
              <a:gd name="adj" fmla="val 8824"/>
            </a:avLst>
          </a:prstGeom>
          <a:solidFill>
            <a:srgbClr val="121820"/>
          </a:solidFill>
          <a:ln w="12700">
            <a:solidFill>
              <a:srgbClr val="232B36"/>
            </a:solidFill>
            <a:prstDash val="solid"/>
          </a:ln>
        </p:spPr>
      </p:sp>
      <p:sp>
        <p:nvSpPr>
          <p:cNvPr id="13" name="Text 11"/>
          <p:cNvSpPr/>
          <p:nvPr/>
        </p:nvSpPr>
        <p:spPr>
          <a:xfrm>
            <a:off x="694944" y="3566160"/>
            <a:ext cx="2487168"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Ward lamp density</a:t>
            </a:r>
            <a:endParaRPr lang="en-US" sz="1300" dirty="0"/>
          </a:p>
        </p:txBody>
      </p:sp>
      <p:sp>
        <p:nvSpPr>
          <p:cNvPr id="14" name="Text 12"/>
          <p:cNvSpPr/>
          <p:nvPr/>
        </p:nvSpPr>
        <p:spPr>
          <a:xfrm>
            <a:off x="694944" y="3822192"/>
            <a:ext cx="2487168" cy="219456"/>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421,113 lamps / 198 wards</a:t>
            </a:r>
            <a:endParaRPr lang="en-US" sz="950" dirty="0"/>
          </a:p>
        </p:txBody>
      </p:sp>
      <p:sp>
        <p:nvSpPr>
          <p:cNvPr id="15" name="Shape 13"/>
          <p:cNvSpPr/>
          <p:nvPr/>
        </p:nvSpPr>
        <p:spPr>
          <a:xfrm>
            <a:off x="566928" y="4160520"/>
            <a:ext cx="2743200" cy="621792"/>
          </a:xfrm>
          <a:prstGeom prst="roundRect">
            <a:avLst>
              <a:gd name="adj" fmla="val 8824"/>
            </a:avLst>
          </a:prstGeom>
          <a:solidFill>
            <a:srgbClr val="121820"/>
          </a:solidFill>
          <a:ln w="12700">
            <a:solidFill>
              <a:srgbClr val="232B36"/>
            </a:solidFill>
            <a:prstDash val="solid"/>
          </a:ln>
        </p:spPr>
      </p:sp>
      <p:sp>
        <p:nvSpPr>
          <p:cNvPr id="16" name="Text 14"/>
          <p:cNvSpPr/>
          <p:nvPr/>
        </p:nvSpPr>
        <p:spPr>
          <a:xfrm>
            <a:off x="694944" y="4251960"/>
            <a:ext cx="2487168"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OSM working=yes/no</a:t>
            </a:r>
            <a:endParaRPr lang="en-US" sz="1300" dirty="0"/>
          </a:p>
        </p:txBody>
      </p:sp>
      <p:sp>
        <p:nvSpPr>
          <p:cNvPr id="17" name="Text 15"/>
          <p:cNvSpPr/>
          <p:nvPr/>
        </p:nvSpPr>
        <p:spPr>
          <a:xfrm>
            <a:off x="694944" y="4507992"/>
            <a:ext cx="2487168" cy="219456"/>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1,128 labelled lamps</a:t>
            </a:r>
            <a:endParaRPr lang="en-US" sz="950" dirty="0"/>
          </a:p>
        </p:txBody>
      </p:sp>
      <p:sp>
        <p:nvSpPr>
          <p:cNvPr id="18" name="Shape 16"/>
          <p:cNvSpPr/>
          <p:nvPr/>
        </p:nvSpPr>
        <p:spPr>
          <a:xfrm>
            <a:off x="566928" y="4846320"/>
            <a:ext cx="2743200" cy="621792"/>
          </a:xfrm>
          <a:prstGeom prst="roundRect">
            <a:avLst>
              <a:gd name="adj" fmla="val 8824"/>
            </a:avLst>
          </a:prstGeom>
          <a:solidFill>
            <a:srgbClr val="121820"/>
          </a:solidFill>
          <a:ln w="12700">
            <a:solidFill>
              <a:srgbClr val="232B36"/>
            </a:solidFill>
            <a:prstDash val="solid"/>
          </a:ln>
        </p:spPr>
      </p:sp>
      <p:sp>
        <p:nvSpPr>
          <p:cNvPr id="19" name="Text 17"/>
          <p:cNvSpPr/>
          <p:nvPr/>
        </p:nvSpPr>
        <p:spPr>
          <a:xfrm>
            <a:off x="694944" y="4937760"/>
            <a:ext cx="2487168" cy="292608"/>
          </a:xfrm>
          <a:prstGeom prst="rect">
            <a:avLst/>
          </a:prstGeom>
          <a:noFill/>
          <a:ln/>
        </p:spPr>
        <p:txBody>
          <a:bodyPr wrap="square" rtlCol="0" anchor="ctr"/>
          <a:lstStyle/>
          <a:p>
            <a:pPr indent="0" marL="0">
              <a:buNone/>
            </a:pPr>
            <a:r>
              <a:rPr lang="en-US" sz="1300" b="1" dirty="0">
                <a:solidFill>
                  <a:srgbClr val="FFFFFF"/>
                </a:solidFill>
                <a:latin typeface="Segoe UI Semibold" pitchFamily="34" charset="0"/>
                <a:ea typeface="Segoe UI Semibold" pitchFamily="34" charset="-122"/>
                <a:cs typeface="Segoe UI Semibold" pitchFamily="34" charset="-120"/>
              </a:rPr>
              <a:t>Citizen reports</a:t>
            </a:r>
            <a:endParaRPr lang="en-US" sz="1300" dirty="0"/>
          </a:p>
        </p:txBody>
      </p:sp>
      <p:sp>
        <p:nvSpPr>
          <p:cNvPr id="20" name="Text 18"/>
          <p:cNvSpPr/>
          <p:nvPr/>
        </p:nvSpPr>
        <p:spPr>
          <a:xfrm>
            <a:off x="694944" y="5193792"/>
            <a:ext cx="2487168" cy="219456"/>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GPS + timestamp</a:t>
            </a:r>
            <a:endParaRPr lang="en-US" sz="950" dirty="0"/>
          </a:p>
        </p:txBody>
      </p:sp>
      <p:sp>
        <p:nvSpPr>
          <p:cNvPr id="21" name="Shape 19"/>
          <p:cNvSpPr/>
          <p:nvPr/>
        </p:nvSpPr>
        <p:spPr>
          <a:xfrm>
            <a:off x="3657600" y="1783080"/>
            <a:ext cx="2286000" cy="1234440"/>
          </a:xfrm>
          <a:prstGeom prst="roundRect">
            <a:avLst>
              <a:gd name="adj" fmla="val 4444"/>
            </a:avLst>
          </a:prstGeom>
          <a:solidFill>
            <a:srgbClr val="121820"/>
          </a:solidFill>
          <a:ln w="12700">
            <a:solidFill>
              <a:srgbClr val="26C6A6"/>
            </a:solidFill>
            <a:prstDash val="solid"/>
          </a:ln>
        </p:spPr>
      </p:sp>
      <p:sp>
        <p:nvSpPr>
          <p:cNvPr id="22" name="Text 20"/>
          <p:cNvSpPr/>
          <p:nvPr/>
        </p:nvSpPr>
        <p:spPr>
          <a:xfrm>
            <a:off x="3785616" y="1874520"/>
            <a:ext cx="2029968" cy="292608"/>
          </a:xfrm>
          <a:prstGeom prst="rect">
            <a:avLst/>
          </a:prstGeom>
          <a:noFill/>
          <a:ln/>
        </p:spPr>
        <p:txBody>
          <a:bodyPr wrap="square" rtlCol="0" anchor="ctr"/>
          <a:lstStyle/>
          <a:p>
            <a:pPr indent="0" marL="0">
              <a:buNone/>
            </a:pPr>
            <a:r>
              <a:rPr lang="en-US" sz="1300" b="1" dirty="0">
                <a:solidFill>
                  <a:srgbClr val="26C6A6"/>
                </a:solidFill>
                <a:latin typeface="Segoe UI Semibold" pitchFamily="34" charset="0"/>
                <a:ea typeface="Segoe UI Semibold" pitchFamily="34" charset="-122"/>
                <a:cs typeface="Segoe UI Semibold" pitchFamily="34" charset="-120"/>
              </a:rPr>
              <a:t>EXPOSURE</a:t>
            </a:r>
            <a:endParaRPr lang="en-US" sz="1300" dirty="0"/>
          </a:p>
        </p:txBody>
      </p:sp>
      <p:sp>
        <p:nvSpPr>
          <p:cNvPr id="23" name="Text 21"/>
          <p:cNvSpPr/>
          <p:nvPr/>
        </p:nvSpPr>
        <p:spPr>
          <a:xfrm>
            <a:off x="3785616" y="2130552"/>
            <a:ext cx="2029968" cy="83210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E(segment)</a:t>
            </a:r>
            <a:endParaRPr lang="en-US" sz="950" dirty="0"/>
          </a:p>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activity + structural</a:t>
            </a:r>
            <a:endParaRPr lang="en-US" sz="950" dirty="0"/>
          </a:p>
        </p:txBody>
      </p:sp>
      <p:sp>
        <p:nvSpPr>
          <p:cNvPr id="24" name="Shape 22"/>
          <p:cNvSpPr/>
          <p:nvPr/>
        </p:nvSpPr>
        <p:spPr>
          <a:xfrm>
            <a:off x="3657600" y="3566160"/>
            <a:ext cx="2286000" cy="1234440"/>
          </a:xfrm>
          <a:prstGeom prst="roundRect">
            <a:avLst>
              <a:gd name="adj" fmla="val 4444"/>
            </a:avLst>
          </a:prstGeom>
          <a:solidFill>
            <a:srgbClr val="121820"/>
          </a:solidFill>
          <a:ln w="12700">
            <a:solidFill>
              <a:srgbClr val="40A3FF"/>
            </a:solidFill>
            <a:prstDash val="solid"/>
          </a:ln>
        </p:spPr>
      </p:sp>
      <p:sp>
        <p:nvSpPr>
          <p:cNvPr id="25" name="Text 23"/>
          <p:cNvSpPr/>
          <p:nvPr/>
        </p:nvSpPr>
        <p:spPr>
          <a:xfrm>
            <a:off x="3785616" y="3657600"/>
            <a:ext cx="2029968" cy="292608"/>
          </a:xfrm>
          <a:prstGeom prst="rect">
            <a:avLst/>
          </a:prstGeom>
          <a:noFill/>
          <a:ln/>
        </p:spPr>
        <p:txBody>
          <a:bodyPr wrap="square" rtlCol="0" anchor="ctr"/>
          <a:lstStyle/>
          <a:p>
            <a:pPr indent="0" marL="0">
              <a:buNone/>
            </a:pPr>
            <a:r>
              <a:rPr lang="en-US" sz="1300" b="1" dirty="0">
                <a:solidFill>
                  <a:srgbClr val="40A3FF"/>
                </a:solidFill>
                <a:latin typeface="Segoe UI Semibold" pitchFamily="34" charset="0"/>
                <a:ea typeface="Segoe UI Semibold" pitchFamily="34" charset="-122"/>
                <a:cs typeface="Segoe UI Semibold" pitchFamily="34" charset="-120"/>
              </a:rPr>
              <a:t>DARKNESS</a:t>
            </a:r>
            <a:endParaRPr lang="en-US" sz="1300" dirty="0"/>
          </a:p>
        </p:txBody>
      </p:sp>
      <p:sp>
        <p:nvSpPr>
          <p:cNvPr id="26" name="Text 24"/>
          <p:cNvSpPr/>
          <p:nvPr/>
        </p:nvSpPr>
        <p:spPr>
          <a:xfrm>
            <a:off x="3785616" y="3913632"/>
            <a:ext cx="2029968" cy="83210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Beta(α,β) per segment</a:t>
            </a:r>
            <a:endParaRPr lang="en-US" sz="950" dirty="0"/>
          </a:p>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mean = P(dark), var = confidence</a:t>
            </a:r>
            <a:endParaRPr lang="en-US" sz="950" dirty="0"/>
          </a:p>
        </p:txBody>
      </p:sp>
      <p:sp>
        <p:nvSpPr>
          <p:cNvPr id="27" name="Shape 25"/>
          <p:cNvSpPr/>
          <p:nvPr/>
        </p:nvSpPr>
        <p:spPr>
          <a:xfrm>
            <a:off x="6446520" y="1463040"/>
            <a:ext cx="2468880" cy="960120"/>
          </a:xfrm>
          <a:prstGeom prst="roundRect">
            <a:avLst>
              <a:gd name="adj" fmla="val 5714"/>
            </a:avLst>
          </a:prstGeom>
          <a:solidFill>
            <a:srgbClr val="121820"/>
          </a:solidFill>
          <a:ln w="12700">
            <a:solidFill>
              <a:srgbClr val="FFC107"/>
            </a:solidFill>
            <a:prstDash val="solid"/>
          </a:ln>
        </p:spPr>
      </p:sp>
      <p:sp>
        <p:nvSpPr>
          <p:cNvPr id="28" name="Text 26"/>
          <p:cNvSpPr/>
          <p:nvPr/>
        </p:nvSpPr>
        <p:spPr>
          <a:xfrm>
            <a:off x="6574536" y="1554480"/>
            <a:ext cx="2212848" cy="292608"/>
          </a:xfrm>
          <a:prstGeom prst="rect">
            <a:avLst/>
          </a:prstGeom>
          <a:noFill/>
          <a:ln/>
        </p:spPr>
        <p:txBody>
          <a:bodyPr wrap="square" rtlCol="0" anchor="ctr"/>
          <a:lstStyle/>
          <a:p>
            <a:pPr indent="0" marL="0">
              <a:buNone/>
            </a:pPr>
            <a:r>
              <a:rPr lang="en-US" sz="1300" b="1" dirty="0">
                <a:solidFill>
                  <a:srgbClr val="FFC107"/>
                </a:solidFill>
                <a:latin typeface="Segoe UI Semibold" pitchFamily="34" charset="0"/>
                <a:ea typeface="Segoe UI Semibold" pitchFamily="34" charset="-122"/>
                <a:cs typeface="Segoe UI Semibold" pitchFamily="34" charset="-120"/>
              </a:rPr>
              <a:t>TRIAGE</a:t>
            </a:r>
            <a:endParaRPr lang="en-US" sz="1300" dirty="0"/>
          </a:p>
        </p:txBody>
      </p:sp>
      <p:sp>
        <p:nvSpPr>
          <p:cNvPr id="29" name="Text 27"/>
          <p:cNvSpPr/>
          <p:nvPr/>
        </p:nvSpPr>
        <p:spPr>
          <a:xfrm>
            <a:off x="6574536" y="1810512"/>
            <a:ext cx="2212848" cy="55778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knapsack under budget</a:t>
            </a:r>
            <a:endParaRPr lang="en-US" sz="950" dirty="0"/>
          </a:p>
        </p:txBody>
      </p:sp>
      <p:sp>
        <p:nvSpPr>
          <p:cNvPr id="30" name="Shape 28"/>
          <p:cNvSpPr/>
          <p:nvPr/>
        </p:nvSpPr>
        <p:spPr>
          <a:xfrm>
            <a:off x="6446520" y="2606040"/>
            <a:ext cx="2468880" cy="960120"/>
          </a:xfrm>
          <a:prstGeom prst="roundRect">
            <a:avLst>
              <a:gd name="adj" fmla="val 5714"/>
            </a:avLst>
          </a:prstGeom>
          <a:solidFill>
            <a:srgbClr val="121820"/>
          </a:solidFill>
          <a:ln w="12700">
            <a:solidFill>
              <a:srgbClr val="FFC107"/>
            </a:solidFill>
            <a:prstDash val="solid"/>
          </a:ln>
        </p:spPr>
      </p:sp>
      <p:sp>
        <p:nvSpPr>
          <p:cNvPr id="31" name="Text 29"/>
          <p:cNvSpPr/>
          <p:nvPr/>
        </p:nvSpPr>
        <p:spPr>
          <a:xfrm>
            <a:off x="6574536" y="2697480"/>
            <a:ext cx="2212848" cy="292608"/>
          </a:xfrm>
          <a:prstGeom prst="rect">
            <a:avLst/>
          </a:prstGeom>
          <a:noFill/>
          <a:ln/>
        </p:spPr>
        <p:txBody>
          <a:bodyPr wrap="square" rtlCol="0" anchor="ctr"/>
          <a:lstStyle/>
          <a:p>
            <a:pPr indent="0" marL="0">
              <a:buNone/>
            </a:pPr>
            <a:r>
              <a:rPr lang="en-US" sz="1300" b="1" dirty="0">
                <a:solidFill>
                  <a:srgbClr val="FFC107"/>
                </a:solidFill>
                <a:latin typeface="Segoe UI Semibold" pitchFamily="34" charset="0"/>
                <a:ea typeface="Segoe UI Semibold" pitchFamily="34" charset="-122"/>
                <a:cs typeface="Segoe UI Semibold" pitchFamily="34" charset="-120"/>
              </a:rPr>
              <a:t>ROUTING</a:t>
            </a:r>
            <a:endParaRPr lang="en-US" sz="1300" dirty="0"/>
          </a:p>
        </p:txBody>
      </p:sp>
      <p:sp>
        <p:nvSpPr>
          <p:cNvPr id="32" name="Text 30"/>
          <p:cNvSpPr/>
          <p:nvPr/>
        </p:nvSpPr>
        <p:spPr>
          <a:xfrm>
            <a:off x="6574536" y="2953512"/>
            <a:ext cx="2212848" cy="55778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weighted walk graph</a:t>
            </a:r>
            <a:endParaRPr lang="en-US" sz="950" dirty="0"/>
          </a:p>
        </p:txBody>
      </p:sp>
      <p:sp>
        <p:nvSpPr>
          <p:cNvPr id="33" name="Shape 31"/>
          <p:cNvSpPr/>
          <p:nvPr/>
        </p:nvSpPr>
        <p:spPr>
          <a:xfrm>
            <a:off x="6446520" y="3749040"/>
            <a:ext cx="2468880" cy="960120"/>
          </a:xfrm>
          <a:prstGeom prst="roundRect">
            <a:avLst>
              <a:gd name="adj" fmla="val 5714"/>
            </a:avLst>
          </a:prstGeom>
          <a:solidFill>
            <a:srgbClr val="121820"/>
          </a:solidFill>
          <a:ln w="12700">
            <a:solidFill>
              <a:srgbClr val="40A3FF"/>
            </a:solidFill>
            <a:prstDash val="solid"/>
          </a:ln>
        </p:spPr>
      </p:sp>
      <p:sp>
        <p:nvSpPr>
          <p:cNvPr id="34" name="Text 32"/>
          <p:cNvSpPr/>
          <p:nvPr/>
        </p:nvSpPr>
        <p:spPr>
          <a:xfrm>
            <a:off x="6574536" y="3840480"/>
            <a:ext cx="2212848" cy="292608"/>
          </a:xfrm>
          <a:prstGeom prst="rect">
            <a:avLst/>
          </a:prstGeom>
          <a:noFill/>
          <a:ln/>
        </p:spPr>
        <p:txBody>
          <a:bodyPr wrap="square" rtlCol="0" anchor="ctr"/>
          <a:lstStyle/>
          <a:p>
            <a:pPr indent="0" marL="0">
              <a:buNone/>
            </a:pPr>
            <a:r>
              <a:rPr lang="en-US" sz="1300" b="1" dirty="0">
                <a:solidFill>
                  <a:srgbClr val="40A3FF"/>
                </a:solidFill>
                <a:latin typeface="Segoe UI Semibold" pitchFamily="34" charset="0"/>
                <a:ea typeface="Segoe UI Semibold" pitchFamily="34" charset="-122"/>
                <a:cs typeface="Segoe UI Semibold" pitchFamily="34" charset="-120"/>
              </a:rPr>
              <a:t>CONFIDENCE BAND</a:t>
            </a:r>
            <a:endParaRPr lang="en-US" sz="1300" dirty="0"/>
          </a:p>
        </p:txBody>
      </p:sp>
      <p:sp>
        <p:nvSpPr>
          <p:cNvPr id="35" name="Text 33"/>
          <p:cNvSpPr/>
          <p:nvPr/>
        </p:nvSpPr>
        <p:spPr>
          <a:xfrm>
            <a:off x="6574536" y="4096512"/>
            <a:ext cx="2212848" cy="55778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drives both behaviours</a:t>
            </a:r>
            <a:endParaRPr lang="en-US" sz="950" dirty="0"/>
          </a:p>
        </p:txBody>
      </p:sp>
      <p:sp>
        <p:nvSpPr>
          <p:cNvPr id="36" name="Shape 34"/>
          <p:cNvSpPr/>
          <p:nvPr/>
        </p:nvSpPr>
        <p:spPr>
          <a:xfrm>
            <a:off x="6446520" y="4892040"/>
            <a:ext cx="2468880" cy="868680"/>
          </a:xfrm>
          <a:prstGeom prst="roundRect">
            <a:avLst>
              <a:gd name="adj" fmla="val 6316"/>
            </a:avLst>
          </a:prstGeom>
          <a:solidFill>
            <a:srgbClr val="121820"/>
          </a:solidFill>
          <a:ln w="12700">
            <a:solidFill>
              <a:srgbClr val="7C9BFF"/>
            </a:solidFill>
            <a:prstDash val="solid"/>
          </a:ln>
        </p:spPr>
      </p:sp>
      <p:sp>
        <p:nvSpPr>
          <p:cNvPr id="37" name="Text 35"/>
          <p:cNvSpPr/>
          <p:nvPr/>
        </p:nvSpPr>
        <p:spPr>
          <a:xfrm>
            <a:off x="6574536" y="4983480"/>
            <a:ext cx="2212848" cy="292608"/>
          </a:xfrm>
          <a:prstGeom prst="rect">
            <a:avLst/>
          </a:prstGeom>
          <a:noFill/>
          <a:ln/>
        </p:spPr>
        <p:txBody>
          <a:bodyPr wrap="square" rtlCol="0" anchor="ctr"/>
          <a:lstStyle/>
          <a:p>
            <a:pPr indent="0" marL="0">
              <a:buNone/>
            </a:pPr>
            <a:r>
              <a:rPr lang="en-US" sz="1300" b="1" dirty="0">
                <a:solidFill>
                  <a:srgbClr val="7C9BFF"/>
                </a:solidFill>
                <a:latin typeface="Segoe UI Semibold" pitchFamily="34" charset="0"/>
                <a:ea typeface="Segoe UI Semibold" pitchFamily="34" charset="-122"/>
                <a:cs typeface="Segoe UI Semibold" pitchFamily="34" charset="-120"/>
              </a:rPr>
              <a:t>REPORT TARGETING</a:t>
            </a:r>
            <a:endParaRPr lang="en-US" sz="1300" dirty="0"/>
          </a:p>
        </p:txBody>
      </p:sp>
      <p:sp>
        <p:nvSpPr>
          <p:cNvPr id="38" name="Text 36"/>
          <p:cNvSpPr/>
          <p:nvPr/>
        </p:nvSpPr>
        <p:spPr>
          <a:xfrm>
            <a:off x="6574536" y="5239512"/>
            <a:ext cx="2212848" cy="46634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upper confidence bound</a:t>
            </a:r>
            <a:endParaRPr lang="en-US" sz="950" dirty="0"/>
          </a:p>
        </p:txBody>
      </p:sp>
      <p:sp>
        <p:nvSpPr>
          <p:cNvPr id="39" name="Shape 37"/>
          <p:cNvSpPr/>
          <p:nvPr/>
        </p:nvSpPr>
        <p:spPr>
          <a:xfrm>
            <a:off x="9372600" y="1463040"/>
            <a:ext cx="2240280" cy="960120"/>
          </a:xfrm>
          <a:prstGeom prst="roundRect">
            <a:avLst>
              <a:gd name="adj" fmla="val 5714"/>
            </a:avLst>
          </a:prstGeom>
          <a:solidFill>
            <a:srgbClr val="121820"/>
          </a:solidFill>
          <a:ln w="12700">
            <a:solidFill>
              <a:srgbClr val="FFC107"/>
            </a:solidFill>
            <a:prstDash val="solid"/>
          </a:ln>
        </p:spPr>
      </p:sp>
      <p:sp>
        <p:nvSpPr>
          <p:cNvPr id="40" name="Text 38"/>
          <p:cNvSpPr/>
          <p:nvPr/>
        </p:nvSpPr>
        <p:spPr>
          <a:xfrm>
            <a:off x="9500616" y="1554480"/>
            <a:ext cx="1984248" cy="292608"/>
          </a:xfrm>
          <a:prstGeom prst="rect">
            <a:avLst/>
          </a:prstGeom>
          <a:noFill/>
          <a:ln/>
        </p:spPr>
        <p:txBody>
          <a:bodyPr wrap="square" rtlCol="0" anchor="ctr"/>
          <a:lstStyle/>
          <a:p>
            <a:pPr indent="0" marL="0">
              <a:buNone/>
            </a:pPr>
            <a:r>
              <a:rPr lang="en-US" sz="1300" b="1" dirty="0">
                <a:solidFill>
                  <a:srgbClr val="FFC107"/>
                </a:solidFill>
                <a:latin typeface="Segoe UI Semibold" pitchFamily="34" charset="0"/>
                <a:ea typeface="Segoe UI Semibold" pitchFamily="34" charset="-122"/>
                <a:cs typeface="Segoe UI Semibold" pitchFamily="34" charset="-120"/>
              </a:rPr>
              <a:t>→ municipal queue</a:t>
            </a:r>
            <a:endParaRPr lang="en-US" sz="1300" dirty="0"/>
          </a:p>
        </p:txBody>
      </p:sp>
      <p:sp>
        <p:nvSpPr>
          <p:cNvPr id="41" name="Text 39"/>
          <p:cNvSpPr/>
          <p:nvPr/>
        </p:nvSpPr>
        <p:spPr>
          <a:xfrm>
            <a:off x="9500616" y="1810512"/>
            <a:ext cx="1984248" cy="55778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 counterfactual</a:t>
            </a:r>
            <a:endParaRPr lang="en-US" sz="950" dirty="0"/>
          </a:p>
        </p:txBody>
      </p:sp>
      <p:sp>
        <p:nvSpPr>
          <p:cNvPr id="42" name="Shape 40"/>
          <p:cNvSpPr/>
          <p:nvPr/>
        </p:nvSpPr>
        <p:spPr>
          <a:xfrm>
            <a:off x="9372600" y="2606040"/>
            <a:ext cx="2240280" cy="960120"/>
          </a:xfrm>
          <a:prstGeom prst="roundRect">
            <a:avLst>
              <a:gd name="adj" fmla="val 5714"/>
            </a:avLst>
          </a:prstGeom>
          <a:solidFill>
            <a:srgbClr val="121820"/>
          </a:solidFill>
          <a:ln w="12700">
            <a:solidFill>
              <a:srgbClr val="FFC107"/>
            </a:solidFill>
            <a:prstDash val="solid"/>
          </a:ln>
        </p:spPr>
      </p:sp>
      <p:sp>
        <p:nvSpPr>
          <p:cNvPr id="43" name="Text 41"/>
          <p:cNvSpPr/>
          <p:nvPr/>
        </p:nvSpPr>
        <p:spPr>
          <a:xfrm>
            <a:off x="9500616" y="2697480"/>
            <a:ext cx="1984248" cy="292608"/>
          </a:xfrm>
          <a:prstGeom prst="rect">
            <a:avLst/>
          </a:prstGeom>
          <a:noFill/>
          <a:ln/>
        </p:spPr>
        <p:txBody>
          <a:bodyPr wrap="square" rtlCol="0" anchor="ctr"/>
          <a:lstStyle/>
          <a:p>
            <a:pPr indent="0" marL="0">
              <a:buNone/>
            </a:pPr>
            <a:r>
              <a:rPr lang="en-US" sz="1300" b="1" dirty="0">
                <a:solidFill>
                  <a:srgbClr val="FFC107"/>
                </a:solidFill>
                <a:latin typeface="Segoe UI Semibold" pitchFamily="34" charset="0"/>
                <a:ea typeface="Segoe UI Semibold" pitchFamily="34" charset="-122"/>
                <a:cs typeface="Segoe UI Semibold" pitchFamily="34" charset="-120"/>
              </a:rPr>
              <a:t>→ safer route</a:t>
            </a:r>
            <a:endParaRPr lang="en-US" sz="1300" dirty="0"/>
          </a:p>
        </p:txBody>
      </p:sp>
      <p:sp>
        <p:nvSpPr>
          <p:cNvPr id="44" name="Text 42"/>
          <p:cNvSpPr/>
          <p:nvPr/>
        </p:nvSpPr>
        <p:spPr>
          <a:xfrm>
            <a:off x="9500616" y="2953512"/>
            <a:ext cx="1984248" cy="557784"/>
          </a:xfrm>
          <a:prstGeom prst="rect">
            <a:avLst/>
          </a:prstGeom>
          <a:noFill/>
          <a:ln/>
        </p:spPr>
        <p:txBody>
          <a:bodyPr wrap="square" rtlCol="0" anchor="t"/>
          <a:lstStyle/>
          <a:p>
            <a:pPr indent="0" marL="0">
              <a:lnSpc>
                <a:spcPct val="112000"/>
              </a:lnSpc>
              <a:buNone/>
            </a:pPr>
            <a:r>
              <a:rPr lang="en-US" sz="950" dirty="0">
                <a:solidFill>
                  <a:srgbClr val="B1BAC6"/>
                </a:solidFill>
                <a:latin typeface="Segoe UI" pitchFamily="34" charset="0"/>
                <a:ea typeface="Segoe UI" pitchFamily="34" charset="-122"/>
                <a:cs typeface="Segoe UI" pitchFamily="34" charset="-120"/>
              </a:rPr>
              <a:t>both routes, always</a:t>
            </a:r>
            <a:endParaRPr lang="en-US" sz="950" dirty="0"/>
          </a:p>
        </p:txBody>
      </p:sp>
      <p:sp>
        <p:nvSpPr>
          <p:cNvPr id="45" name="Text 43"/>
          <p:cNvSpPr/>
          <p:nvPr/>
        </p:nvSpPr>
        <p:spPr>
          <a:xfrm>
            <a:off x="9372600" y="3749040"/>
            <a:ext cx="2240280" cy="2011680"/>
          </a:xfrm>
          <a:prstGeom prst="rect">
            <a:avLst/>
          </a:prstGeom>
          <a:noFill/>
          <a:ln/>
        </p:spPr>
        <p:txBody>
          <a:bodyPr wrap="square" rtlCol="0" anchor="t"/>
          <a:lstStyle/>
          <a:p>
            <a:pPr indent="0" marL="0">
              <a:lnSpc>
                <a:spcPct val="125000"/>
              </a:lnSpc>
              <a:buNone/>
            </a:pPr>
            <a:r>
              <a:rPr lang="en-US" sz="1050" dirty="0">
                <a:solidFill>
                  <a:srgbClr val="7A8696"/>
                </a:solidFill>
                <a:latin typeface="Segoe UI" pitchFamily="34" charset="0"/>
                <a:ea typeface="Segoe UI" pitchFamily="34" charset="-122"/>
                <a:cs typeface="Segoe UI" pitchFamily="34" charset="-120"/>
              </a:rPr>
              <a:t>IUDX telemetry (gated) drops into the same darkness model with no rewrite — the record shape is theirs, verbatim.</a:t>
            </a:r>
            <a:endParaRPr lang="en-US" sz="1050" dirty="0"/>
          </a:p>
        </p:txBody>
      </p:sp>
      <p:sp>
        <p:nvSpPr>
          <p:cNvPr id="46" name="Text 44"/>
          <p:cNvSpPr/>
          <p:nvPr/>
        </p:nvSpPr>
        <p:spPr>
          <a:xfrm>
            <a:off x="566928" y="5650992"/>
            <a:ext cx="5760720" cy="365760"/>
          </a:xfrm>
          <a:prstGeom prst="rect">
            <a:avLst/>
          </a:prstGeom>
          <a:noFill/>
          <a:ln/>
        </p:spPr>
        <p:txBody>
          <a:bodyPr wrap="square" rtlCol="0" anchor="ctr"/>
          <a:lstStyle/>
          <a:p>
            <a:pPr indent="0" marL="0">
              <a:buNone/>
            </a:pPr>
            <a:r>
              <a:rPr lang="en-US" sz="1150" i="1" dirty="0">
                <a:solidFill>
                  <a:srgbClr val="FFC107"/>
                </a:solidFill>
                <a:latin typeface="Segoe UI" pitchFamily="34" charset="0"/>
                <a:ea typeface="Segoe UI" pitchFamily="34" charset="-122"/>
                <a:cs typeface="Segoe UI" pitchFamily="34" charset="-120"/>
              </a:rPr>
              <a:t>Footfall enters TRIAGE and ROUTING with opposite signs — see next slide.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We didn't pick these numbers. We measured them.</a:t>
            </a:r>
            <a:endParaRPr lang="en-US" sz="3000" dirty="0"/>
          </a:p>
        </p:txBody>
      </p:sp>
      <p:sp>
        <p:nvSpPr>
          <p:cNvPr id="3" name="Text 1"/>
          <p:cNvSpPr/>
          <p:nvPr/>
        </p:nvSpPr>
        <p:spPr>
          <a:xfrm>
            <a:off x="566928" y="1463040"/>
            <a:ext cx="5394960" cy="548640"/>
          </a:xfrm>
          <a:prstGeom prst="rect">
            <a:avLst/>
          </a:prstGeom>
          <a:noFill/>
          <a:ln/>
        </p:spPr>
        <p:txBody>
          <a:bodyPr wrap="square" rtlCol="0" anchor="t"/>
          <a:lstStyle/>
          <a:p>
            <a:pPr indent="0" marL="0">
              <a:lnSpc>
                <a:spcPct val="120000"/>
              </a:lnSpc>
              <a:buNone/>
            </a:pPr>
            <a:r>
              <a:rPr lang="en-US" sz="1200" dirty="0">
                <a:solidFill>
                  <a:srgbClr val="B1BAC6"/>
                </a:solidFill>
                <a:latin typeface="Segoe UI" pitchFamily="34" charset="0"/>
                <a:ea typeface="Segoe UI" pitchFamily="34" charset="-122"/>
                <a:cs typeface="Segoe UI" pitchFamily="34" charset="-120"/>
              </a:rPr>
              <a:t>Vasanthanagar citizen lamp audit — 469 individually coded lamps, two dates 15 days apart, June–July 2019</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103120"/>
          <a:ext cx="3200400" cy="1143000"/>
        </p:xfrm>
        <a:graphic>
          <a:graphicData uri="http://schemas.openxmlformats.org/drawingml/2006/table">
            <a:tbl>
              <a:tblPr/>
              <a:tblGrid>
                <a:gridCol w="1066800"/>
                <a:gridCol w="1066800"/>
                <a:gridCol w="1066800"/>
              </a:tblGrid>
              <a:tr h="365760">
                <a:tc>
                  <a:txBody>
                    <a:bodyPr/>
                    <a:lstStyle/>
                    <a:p>
                      <a:pPr algn="ctr" indent="0" marL="0">
                        <a:buNone/>
                      </a:pPr>
                      <a:endParaRPr lang="en-US" sz="1400" dirty="0">
                        <a:latin typeface="Segoe UI Semibold" charset="0"/>
                        <a:ea typeface="Segoe UI Semibold" charset="0"/>
                        <a:cs typeface="Segoe UI Semibold"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0B0F14"/>
                    </a:solidFill>
                  </a:tcPr>
                </a:tc>
                <a:tc>
                  <a:txBody>
                    <a:bodyPr/>
                    <a:lstStyle/>
                    <a:p>
                      <a:pPr algn="ctr" indent="0" marL="0">
                        <a:buNone/>
                      </a:pPr>
                      <a:r>
                        <a:rPr lang="en-US" sz="1400" b="1" dirty="0">
                          <a:solidFill>
                            <a:srgbClr val="7A8696"/>
                          </a:solidFill>
                          <a:latin typeface="Segoe UI Semibold" pitchFamily="34" charset="0"/>
                          <a:ea typeface="Segoe UI Semibold" pitchFamily="34" charset="-122"/>
                          <a:cs typeface="Segoe UI Semibold" pitchFamily="34" charset="-120"/>
                        </a:rPr>
                        <a:t>→ DEAD</a:t>
                      </a:r>
                      <a:endParaRPr lang="en-US" sz="1400" dirty="0">
                        <a:latin typeface="Segoe UI Semibold" charset="0"/>
                        <a:ea typeface="Segoe UI Semibold" charset="0"/>
                        <a:cs typeface="Segoe UI Semibold"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0B0F14"/>
                    </a:solidFill>
                  </a:tcPr>
                </a:tc>
                <a:tc>
                  <a:txBody>
                    <a:bodyPr/>
                    <a:lstStyle/>
                    <a:p>
                      <a:pPr algn="ctr" indent="0" marL="0">
                        <a:buNone/>
                      </a:pPr>
                      <a:r>
                        <a:rPr lang="en-US" sz="1400" b="1" dirty="0">
                          <a:solidFill>
                            <a:srgbClr val="7A8696"/>
                          </a:solidFill>
                          <a:latin typeface="Segoe UI Semibold" pitchFamily="34" charset="0"/>
                          <a:ea typeface="Segoe UI Semibold" pitchFamily="34" charset="-122"/>
                          <a:cs typeface="Segoe UI Semibold" pitchFamily="34" charset="-120"/>
                        </a:rPr>
                        <a:t>→ OK</a:t>
                      </a:r>
                      <a:endParaRPr lang="en-US" sz="1400" dirty="0">
                        <a:latin typeface="Segoe UI Semibold" charset="0"/>
                        <a:ea typeface="Segoe UI Semibold" charset="0"/>
                        <a:cs typeface="Segoe UI Semibold"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0B0F14"/>
                    </a:solidFill>
                  </a:tcPr>
                </a:tc>
              </a:tr>
              <a:tr h="365760">
                <a:tc>
                  <a:txBody>
                    <a:bodyPr/>
                    <a:lstStyle/>
                    <a:p>
                      <a:pPr algn="ctr" indent="0" marL="0">
                        <a:buNone/>
                      </a:pPr>
                      <a:r>
                        <a:rPr lang="en-US" sz="1400" dirty="0">
                          <a:solidFill>
                            <a:srgbClr val="FFFFFF"/>
                          </a:solidFill>
                          <a:latin typeface="Segoe UI" pitchFamily="34" charset="0"/>
                          <a:ea typeface="Segoe UI" pitchFamily="34" charset="-122"/>
                          <a:cs typeface="Segoe UI" pitchFamily="34" charset="-120"/>
                        </a:rPr>
                        <a:t>DEAD</a:t>
                      </a:r>
                      <a:endParaRPr lang="en-US" sz="1400" dirty="0">
                        <a:latin typeface="Segoe UI" charset="0"/>
                        <a:ea typeface="Segoe UI" charset="0"/>
                        <a:cs typeface="Segoe UI"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121820"/>
                    </a:solidFill>
                  </a:tcPr>
                </a:tc>
                <a:tc>
                  <a:txBody>
                    <a:bodyPr/>
                    <a:lstStyle/>
                    <a:p>
                      <a:pPr algn="ctr" indent="0" marL="0">
                        <a:buNone/>
                      </a:pPr>
                      <a:r>
                        <a:rPr lang="en-US" sz="1400" dirty="0">
                          <a:solidFill>
                            <a:srgbClr val="FFFFFF"/>
                          </a:solidFill>
                          <a:latin typeface="Segoe UI" pitchFamily="34" charset="0"/>
                          <a:ea typeface="Segoe UI" pitchFamily="34" charset="-122"/>
                          <a:cs typeface="Segoe UI" pitchFamily="34" charset="-120"/>
                        </a:rPr>
                        <a:t>33</a:t>
                      </a:r>
                      <a:endParaRPr lang="en-US" sz="1400" dirty="0">
                        <a:latin typeface="Segoe UI" charset="0"/>
                        <a:ea typeface="Segoe UI" charset="0"/>
                        <a:cs typeface="Segoe UI"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121820"/>
                    </a:solidFill>
                  </a:tcPr>
                </a:tc>
                <a:tc>
                  <a:txBody>
                    <a:bodyPr/>
                    <a:lstStyle/>
                    <a:p>
                      <a:pPr algn="ctr" indent="0" marL="0">
                        <a:buNone/>
                      </a:pPr>
                      <a:r>
                        <a:rPr lang="en-US" sz="1400" dirty="0">
                          <a:solidFill>
                            <a:srgbClr val="FFFFFF"/>
                          </a:solidFill>
                          <a:latin typeface="Segoe UI" pitchFamily="34" charset="0"/>
                          <a:ea typeface="Segoe UI" pitchFamily="34" charset="-122"/>
                          <a:cs typeface="Segoe UI" pitchFamily="34" charset="-120"/>
                        </a:rPr>
                        <a:t>28</a:t>
                      </a:r>
                      <a:endParaRPr lang="en-US" sz="1400" dirty="0">
                        <a:latin typeface="Segoe UI" charset="0"/>
                        <a:ea typeface="Segoe UI" charset="0"/>
                        <a:cs typeface="Segoe UI"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121820"/>
                    </a:solidFill>
                  </a:tcPr>
                </a:tc>
              </a:tr>
              <a:tr h="365760">
                <a:tc>
                  <a:txBody>
                    <a:bodyPr/>
                    <a:lstStyle/>
                    <a:p>
                      <a:pPr algn="ctr" indent="0" marL="0">
                        <a:buNone/>
                      </a:pPr>
                      <a:r>
                        <a:rPr lang="en-US" sz="1400" dirty="0">
                          <a:solidFill>
                            <a:srgbClr val="FFFFFF"/>
                          </a:solidFill>
                          <a:latin typeface="Segoe UI" pitchFamily="34" charset="0"/>
                          <a:ea typeface="Segoe UI" pitchFamily="34" charset="-122"/>
                          <a:cs typeface="Segoe UI" pitchFamily="34" charset="-120"/>
                        </a:rPr>
                        <a:t>OK</a:t>
                      </a:r>
                      <a:endParaRPr lang="en-US" sz="1400" dirty="0">
                        <a:latin typeface="Segoe UI" charset="0"/>
                        <a:ea typeface="Segoe UI" charset="0"/>
                        <a:cs typeface="Segoe UI"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121820"/>
                    </a:solidFill>
                  </a:tcPr>
                </a:tc>
                <a:tc>
                  <a:txBody>
                    <a:bodyPr/>
                    <a:lstStyle/>
                    <a:p>
                      <a:pPr algn="ctr" indent="0" marL="0">
                        <a:buNone/>
                      </a:pPr>
                      <a:r>
                        <a:rPr lang="en-US" sz="1400" dirty="0">
                          <a:solidFill>
                            <a:srgbClr val="FFFFFF"/>
                          </a:solidFill>
                          <a:latin typeface="Segoe UI" pitchFamily="34" charset="0"/>
                          <a:ea typeface="Segoe UI" pitchFamily="34" charset="-122"/>
                          <a:cs typeface="Segoe UI" pitchFamily="34" charset="-120"/>
                        </a:rPr>
                        <a:t>15</a:t>
                      </a:r>
                      <a:endParaRPr lang="en-US" sz="1400" dirty="0">
                        <a:latin typeface="Segoe UI" charset="0"/>
                        <a:ea typeface="Segoe UI" charset="0"/>
                        <a:cs typeface="Segoe UI"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121820"/>
                    </a:solidFill>
                  </a:tcPr>
                </a:tc>
                <a:tc>
                  <a:txBody>
                    <a:bodyPr/>
                    <a:lstStyle/>
                    <a:p>
                      <a:pPr algn="ctr" indent="0" marL="0">
                        <a:buNone/>
                      </a:pPr>
                      <a:r>
                        <a:rPr lang="en-US" sz="1400" dirty="0">
                          <a:solidFill>
                            <a:srgbClr val="FFFFFF"/>
                          </a:solidFill>
                          <a:latin typeface="Segoe UI" pitchFamily="34" charset="0"/>
                          <a:ea typeface="Segoe UI" pitchFamily="34" charset="-122"/>
                          <a:cs typeface="Segoe UI" pitchFamily="34" charset="-120"/>
                        </a:rPr>
                        <a:t>360</a:t>
                      </a:r>
                      <a:endParaRPr lang="en-US" sz="1400" dirty="0">
                        <a:latin typeface="Segoe UI" charset="0"/>
                        <a:ea typeface="Segoe UI" charset="0"/>
                        <a:cs typeface="Segoe UI" charset="0"/>
                      </a:endParaRPr>
                    </a:p>
                  </a:txBody>
                  <a:tcPr marL="91440" marR="91440" marT="45720" marB="45720">
                    <a:lnL w="12700" cap="flat" cmpd="sng" algn="ctr">
                      <a:solidFill>
                        <a:srgbClr val="232B36"/>
                      </a:solidFill>
                      <a:prstDash val="solid"/>
                      <a:round/>
                      <a:headEnd type="none" w="med" len="med"/>
                      <a:tailEnd type="none" w="med" len="med"/>
                    </a:lnL>
                    <a:lnR w="12700" cap="flat" cmpd="sng" algn="ctr">
                      <a:solidFill>
                        <a:srgbClr val="232B36"/>
                      </a:solidFill>
                      <a:prstDash val="solid"/>
                      <a:round/>
                      <a:headEnd type="none" w="med" len="med"/>
                      <a:tailEnd type="none" w="med" len="med"/>
                    </a:lnR>
                    <a:lnT w="12700" cap="flat" cmpd="sng" algn="ctr">
                      <a:solidFill>
                        <a:srgbClr val="232B36"/>
                      </a:solidFill>
                      <a:prstDash val="solid"/>
                      <a:round/>
                      <a:headEnd type="none" w="med" len="med"/>
                      <a:tailEnd type="none" w="med" len="med"/>
                    </a:lnT>
                    <a:lnB w="12700" cap="flat" cmpd="sng" algn="ctr">
                      <a:solidFill>
                        <a:srgbClr val="232B36"/>
                      </a:solidFill>
                      <a:prstDash val="solid"/>
                      <a:round/>
                      <a:headEnd type="none" w="med" len="med"/>
                      <a:tailEnd type="none" w="med" len="med"/>
                    </a:lnB>
                    <a:solidFill>
                      <a:srgbClr val="121820"/>
                    </a:solidFill>
                  </a:tcPr>
                </a:tc>
              </a:tr>
            </a:tbl>
          </a:graphicData>
        </a:graphic>
      </p:graphicFrame>
      <p:sp>
        <p:nvSpPr>
          <p:cNvPr id="5" name="Text 2"/>
          <p:cNvSpPr/>
          <p:nvPr/>
        </p:nvSpPr>
        <p:spPr>
          <a:xfrm>
            <a:off x="566928" y="3383280"/>
            <a:ext cx="5394960" cy="914400"/>
          </a:xfrm>
          <a:prstGeom prst="rect">
            <a:avLst/>
          </a:prstGeom>
          <a:noFill/>
          <a:ln/>
        </p:spPr>
        <p:txBody>
          <a:bodyPr wrap="square" rtlCol="0" anchor="t"/>
          <a:lstStyle/>
          <a:p>
            <a:pPr indent="0" marL="0">
              <a:lnSpc>
                <a:spcPct val="130000"/>
              </a:lnSpc>
              <a:buNone/>
            </a:pPr>
            <a:r>
              <a:rPr lang="en-US" sz="1400" b="1" dirty="0">
                <a:solidFill>
                  <a:srgbClr val="FFC107"/>
                </a:solidFill>
                <a:latin typeface="Segoe UI" pitchFamily="34" charset="0"/>
                <a:ea typeface="Segoe UI" pitchFamily="34" charset="-122"/>
                <a:cs typeface="Segoe UI" pitchFamily="34" charset="-120"/>
              </a:rPr>
              <a:t>4.0%</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 of working lamps died in 15 days.  </a:t>
            </a:r>
            <a:pPr indent="0" marL="0">
              <a:lnSpc>
                <a:spcPct val="130000"/>
              </a:lnSpc>
              <a:buNone/>
            </a:pPr>
            <a:r>
              <a:rPr lang="en-US" sz="1400" b="1" dirty="0">
                <a:solidFill>
                  <a:srgbClr val="FFC107"/>
                </a:solidFill>
                <a:latin typeface="Segoe UI" pitchFamily="34" charset="0"/>
                <a:ea typeface="Segoe UI" pitchFamily="34" charset="-122"/>
                <a:cs typeface="Segoe UI" pitchFamily="34" charset="-120"/>
              </a:rPr>
              <a:t>45.9%</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 of dead lamps were repaired.
</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Equilibrium dead share = 0.040 / (0.040 + 0.459) = </a:t>
            </a:r>
            <a:pPr indent="0" marL="0">
              <a:lnSpc>
                <a:spcPct val="130000"/>
              </a:lnSpc>
              <a:buNone/>
            </a:pPr>
            <a:r>
              <a:rPr lang="en-US" sz="1400" b="1" dirty="0">
                <a:solidFill>
                  <a:srgbClr val="FFFFFF"/>
                </a:solidFill>
                <a:latin typeface="Segoe UI" pitchFamily="34" charset="0"/>
                <a:ea typeface="Segoe UI" pitchFamily="34" charset="-122"/>
                <a:cs typeface="Segoe UI" pitchFamily="34" charset="-120"/>
              </a:rPr>
              <a:t>8.0%</a:t>
            </a:r>
            <a:endParaRPr lang="en-US" sz="1400" dirty="0"/>
          </a:p>
        </p:txBody>
      </p:sp>
      <p:sp>
        <p:nvSpPr>
          <p:cNvPr id="6" name="Shape 3"/>
          <p:cNvSpPr/>
          <p:nvPr/>
        </p:nvSpPr>
        <p:spPr>
          <a:xfrm>
            <a:off x="6263640" y="1463040"/>
            <a:ext cx="5349240" cy="2331720"/>
          </a:xfrm>
          <a:prstGeom prst="roundRect">
            <a:avLst>
              <a:gd name="adj" fmla="val 2353"/>
            </a:avLst>
          </a:prstGeom>
          <a:solidFill>
            <a:srgbClr val="121820"/>
          </a:solidFill>
          <a:ln w="12700">
            <a:solidFill>
              <a:srgbClr val="232B36"/>
            </a:solidFill>
            <a:prstDash val="solid"/>
          </a:ln>
        </p:spPr>
      </p:sp>
      <p:sp>
        <p:nvSpPr>
          <p:cNvPr id="7" name="Text 4"/>
          <p:cNvSpPr/>
          <p:nvPr/>
        </p:nvSpPr>
        <p:spPr>
          <a:xfrm>
            <a:off x="6492240" y="1645920"/>
            <a:ext cx="4892040" cy="2011680"/>
          </a:xfrm>
          <a:prstGeom prst="rect">
            <a:avLst/>
          </a:prstGeom>
          <a:noFill/>
          <a:ln/>
        </p:spPr>
        <p:txBody>
          <a:bodyPr wrap="square" rtlCol="0" anchor="t"/>
          <a:lstStyle/>
          <a:p>
            <a:pPr indent="0" marL="0">
              <a:lnSpc>
                <a:spcPct val="125000"/>
              </a:lnSpc>
              <a:buNone/>
            </a:pPr>
            <a:r>
              <a:rPr lang="en-US" sz="1250" dirty="0">
                <a:solidFill>
                  <a:srgbClr val="E6EAF0"/>
                </a:solidFill>
                <a:latin typeface="Consolas" pitchFamily="34" charset="0"/>
                <a:ea typeface="Consolas" pitchFamily="34" charset="-122"/>
                <a:cs typeface="Consolas" pitchFamily="34" charset="-120"/>
              </a:rPr>
              <a:t>P(lit) = coverage × 0.920</a:t>
            </a:r>
            <a:endParaRPr lang="en-US" sz="1250" dirty="0"/>
          </a:p>
          <a:p>
            <a:pPr indent="0" marL="0">
              <a:lnSpc>
                <a:spcPct val="125000"/>
              </a:lnSpc>
              <a:buNone/>
            </a:pPr>
            <a:endParaRPr lang="en-US" sz="1250" dirty="0"/>
          </a:p>
          <a:p>
            <a:pPr indent="0" marL="0">
              <a:lnSpc>
                <a:spcPct val="125000"/>
              </a:lnSpc>
              <a:buNone/>
            </a:pPr>
            <a:r>
              <a:rPr lang="en-US" sz="1250" dirty="0">
                <a:solidFill>
                  <a:srgbClr val="E6EAF0"/>
                </a:solidFill>
                <a:latin typeface="Consolas" pitchFamily="34" charset="0"/>
                <a:ea typeface="Consolas" pitchFamily="34" charset="-122"/>
                <a:cs typeface="Consolas" pitchFamily="34" charset="-120"/>
              </a:rPr>
              <a:t>coverage = ward lamps per km ÷ 33.3</a:t>
            </a:r>
            <a:endParaRPr lang="en-US" sz="1250" dirty="0"/>
          </a:p>
          <a:p>
            <a:pPr indent="0" marL="0">
              <a:lnSpc>
                <a:spcPct val="125000"/>
              </a:lnSpc>
              <a:buNone/>
            </a:pPr>
            <a:r>
              <a:rPr lang="en-US" sz="1250" dirty="0">
                <a:solidFill>
                  <a:srgbClr val="E6EAF0"/>
                </a:solidFill>
                <a:latin typeface="Consolas" pitchFamily="34" charset="0"/>
                <a:ea typeface="Consolas" pitchFamily="34" charset="-122"/>
                <a:cs typeface="Consolas" pitchFamily="34" charset="-120"/>
              </a:rPr>
              <a:t>33.3 lamps/km = 30 m standard pole spacing</a:t>
            </a:r>
            <a:endParaRPr lang="en-US" sz="1250" dirty="0"/>
          </a:p>
          <a:p>
            <a:pPr indent="0" marL="0">
              <a:lnSpc>
                <a:spcPct val="125000"/>
              </a:lnSpc>
              <a:buNone/>
            </a:pPr>
            <a:r>
              <a:rPr lang="en-US" sz="1250" dirty="0">
                <a:solidFill>
                  <a:srgbClr val="E6EAF0"/>
                </a:solidFill>
                <a:latin typeface="Consolas" pitchFamily="34" charset="0"/>
                <a:ea typeface="Consolas" pitchFamily="34" charset="-122"/>
                <a:cs typeface="Consolas" pitchFamily="34" charset="-120"/>
              </a:rPr>
              <a:t>0.920 = measured working rate, left</a:t>
            </a:r>
            <a:endParaRPr lang="en-US" sz="1250" dirty="0"/>
          </a:p>
          <a:p>
            <a:pPr indent="0" marL="0">
              <a:lnSpc>
                <a:spcPct val="125000"/>
              </a:lnSpc>
              <a:buNone/>
            </a:pPr>
            <a:endParaRPr lang="en-US" sz="1250" dirty="0"/>
          </a:p>
          <a:p>
            <a:pPr indent="0" marL="0">
              <a:lnSpc>
                <a:spcPct val="125000"/>
              </a:lnSpc>
              <a:buNone/>
            </a:pPr>
            <a:r>
              <a:rPr lang="en-US" sz="1250" dirty="0">
                <a:solidFill>
                  <a:srgbClr val="E6EAF0"/>
                </a:solidFill>
                <a:latin typeface="Consolas" pitchFamily="34" charset="0"/>
                <a:ea typeface="Consolas" pitchFamily="34" charset="-122"/>
                <a:cs typeface="Consolas" pitchFamily="34" charset="-120"/>
              </a:rPr>
              <a:t>Beta(α₀, β₀) = (K·P(lit), K·(1−P(lit))),  K = 2</a:t>
            </a:r>
            <a:endParaRPr lang="en-US" sz="1250" dirty="0"/>
          </a:p>
        </p:txBody>
      </p:sp>
      <p:sp>
        <p:nvSpPr>
          <p:cNvPr id="8" name="Shape 5"/>
          <p:cNvSpPr/>
          <p:nvPr/>
        </p:nvSpPr>
        <p:spPr>
          <a:xfrm>
            <a:off x="6263640" y="4023360"/>
            <a:ext cx="5349240" cy="1463040"/>
          </a:xfrm>
          <a:prstGeom prst="roundRect">
            <a:avLst>
              <a:gd name="adj" fmla="val 3750"/>
            </a:avLst>
          </a:prstGeom>
          <a:solidFill>
            <a:srgbClr val="1B232E"/>
          </a:solidFill>
          <a:ln w="12700">
            <a:solidFill>
              <a:srgbClr val="FFC107"/>
            </a:solidFill>
            <a:prstDash val="solid"/>
          </a:ln>
        </p:spPr>
      </p:sp>
      <p:sp>
        <p:nvSpPr>
          <p:cNvPr id="9" name="Text 6"/>
          <p:cNvSpPr/>
          <p:nvPr/>
        </p:nvSpPr>
        <p:spPr>
          <a:xfrm>
            <a:off x="6492240" y="4224528"/>
            <a:ext cx="4892040" cy="1051560"/>
          </a:xfrm>
          <a:prstGeom prst="rect">
            <a:avLst/>
          </a:prstGeom>
          <a:noFill/>
          <a:ln/>
        </p:spPr>
        <p:txBody>
          <a:bodyPr wrap="square" rtlCol="0" anchor="t"/>
          <a:lstStyle/>
          <a:p>
            <a:pPr indent="0" marL="0">
              <a:lnSpc>
                <a:spcPct val="130000"/>
              </a:lnSpc>
              <a:buNone/>
            </a:pPr>
            <a:r>
              <a:rPr lang="en-US" sz="1600" dirty="0">
                <a:solidFill>
                  <a:srgbClr val="E6EAF0"/>
                </a:solidFill>
                <a:latin typeface="Segoe UI" pitchFamily="34" charset="0"/>
                <a:ea typeface="Segoe UI" pitchFamily="34" charset="-122"/>
                <a:cs typeface="Segoe UI" pitchFamily="34" charset="-120"/>
              </a:rPr>
              <a:t>Before calibration the model called 58.6% of segments dark.</a:t>
            </a:r>
            <a:endParaRPr lang="en-US" sz="1600" dirty="0"/>
          </a:p>
          <a:p>
            <a:pPr indent="0" marL="0">
              <a:lnSpc>
                <a:spcPct val="130000"/>
              </a:lnSpc>
              <a:buNone/>
            </a:pPr>
            <a:r>
              <a:rPr lang="en-US" sz="1600" dirty="0">
                <a:solidFill>
                  <a:srgbClr val="E6EAF0"/>
                </a:solidFill>
                <a:latin typeface="Segoe UI" pitchFamily="34" charset="0"/>
                <a:ea typeface="Segoe UI" pitchFamily="34" charset="-122"/>
                <a:cs typeface="Segoe UI" pitchFamily="34" charset="-120"/>
              </a:rPr>
              <a:t>After: </a:t>
            </a:r>
            <a:endParaRPr lang="en-US" sz="1600" dirty="0"/>
          </a:p>
          <a:p>
            <a:pPr indent="0" marL="0">
              <a:lnSpc>
                <a:spcPct val="130000"/>
              </a:lnSpc>
              <a:buNone/>
            </a:pPr>
            <a:r>
              <a:rPr lang="en-US" sz="1600" b="1" dirty="0">
                <a:solidFill>
                  <a:srgbClr val="FFC107"/>
                </a:solidFill>
                <a:latin typeface="Segoe UI" pitchFamily="34" charset="0"/>
                <a:ea typeface="Segoe UI" pitchFamily="34" charset="-122"/>
                <a:cs typeface="Segoe UI" pitchFamily="34" charset="-120"/>
              </a:rPr>
              <a:t>27.7%</a:t>
            </a:r>
            <a:pPr indent="0" marL="0">
              <a:lnSpc>
                <a:spcPct val="130000"/>
              </a:lnSpc>
              <a:buNone/>
            </a:pPr>
            <a:r>
              <a:rPr lang="en-US" sz="1600" dirty="0">
                <a:solidFill>
                  <a:srgbClr val="E6EAF0"/>
                </a:solidFill>
                <a:latin typeface="Segoe UI" pitchFamily="34" charset="0"/>
                <a:ea typeface="Segoe UI" pitchFamily="34" charset="-122"/>
                <a:cs typeface="Segoe UI" pitchFamily="34" charset="-120"/>
              </a:rPr>
              <a:t>.</a:t>
            </a:r>
            <a:endParaRPr lang="en-US" sz="1600" dirty="0"/>
          </a:p>
        </p:txBody>
      </p:sp>
      <p:sp>
        <p:nvSpPr>
          <p:cNvPr id="10" name="Text 7"/>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OpenCity — Vasanthanagar streetlights database 2019, citizen audit, 469 rows. Ward lamp density measured from the OSM drive network per ward polygon.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One variable, opposite signs</a:t>
            </a:r>
            <a:endParaRPr lang="en-US" sz="3000" dirty="0"/>
          </a:p>
        </p:txBody>
      </p:sp>
      <p:sp>
        <p:nvSpPr>
          <p:cNvPr id="3" name="Shape 1"/>
          <p:cNvSpPr/>
          <p:nvPr/>
        </p:nvSpPr>
        <p:spPr>
          <a:xfrm>
            <a:off x="566928" y="1554480"/>
            <a:ext cx="5394960" cy="1371600"/>
          </a:xfrm>
          <a:prstGeom prst="roundRect">
            <a:avLst>
              <a:gd name="adj" fmla="val 4000"/>
            </a:avLst>
          </a:prstGeom>
          <a:solidFill>
            <a:srgbClr val="121820"/>
          </a:solidFill>
          <a:ln w="12700">
            <a:solidFill>
              <a:srgbClr val="FFC107"/>
            </a:solidFill>
            <a:prstDash val="solid"/>
          </a:ln>
        </p:spPr>
      </p:sp>
      <p:sp>
        <p:nvSpPr>
          <p:cNvPr id="4" name="Text 2"/>
          <p:cNvSpPr/>
          <p:nvPr/>
        </p:nvSpPr>
        <p:spPr>
          <a:xfrm>
            <a:off x="795528" y="1737360"/>
            <a:ext cx="4937760" cy="365760"/>
          </a:xfrm>
          <a:prstGeom prst="rect">
            <a:avLst/>
          </a:prstGeom>
          <a:noFill/>
          <a:ln/>
        </p:spPr>
        <p:txBody>
          <a:bodyPr wrap="square" rtlCol="0" anchor="ctr"/>
          <a:lstStyle/>
          <a:p>
            <a:pPr indent="0" marL="0">
              <a:buNone/>
            </a:pPr>
            <a:r>
              <a:rPr lang="en-US" sz="1500" dirty="0">
                <a:solidFill>
                  <a:srgbClr val="FFC107"/>
                </a:solidFill>
                <a:latin typeface="Consolas" pitchFamily="34" charset="0"/>
                <a:ea typeface="Consolas" pitchFamily="34" charset="-122"/>
                <a:cs typeface="Consolas" pitchFamily="34" charset="-120"/>
              </a:rPr>
              <a:t>repair_priority  =  E · P(dark) · confidence</a:t>
            </a:r>
            <a:endParaRPr lang="en-US" sz="1500" dirty="0"/>
          </a:p>
        </p:txBody>
      </p:sp>
      <p:sp>
        <p:nvSpPr>
          <p:cNvPr id="5" name="Text 3"/>
          <p:cNvSpPr/>
          <p:nvPr/>
        </p:nvSpPr>
        <p:spPr>
          <a:xfrm>
            <a:off x="795528" y="2148840"/>
            <a:ext cx="4937760" cy="640080"/>
          </a:xfrm>
          <a:prstGeom prst="rect">
            <a:avLst/>
          </a:prstGeom>
          <a:noFill/>
          <a:ln/>
        </p:spPr>
        <p:txBody>
          <a:bodyPr wrap="square" rtlCol="0" anchor="t"/>
          <a:lstStyle/>
          <a:p>
            <a:pPr indent="0" marL="0">
              <a:lnSpc>
                <a:spcPct val="120000"/>
              </a:lnSpc>
              <a:buNone/>
            </a:pPr>
            <a:r>
              <a:rPr lang="en-US" sz="1250" dirty="0">
                <a:solidFill>
                  <a:srgbClr val="E6EAF0"/>
                </a:solidFill>
                <a:latin typeface="Segoe UI" pitchFamily="34" charset="0"/>
                <a:ea typeface="Segoe UI" pitchFamily="34" charset="-122"/>
                <a:cs typeface="Segoe UI" pitchFamily="34" charset="-120"/>
              </a:rPr>
              <a:t>E multiplies  →  footfall is EXPOSURE. More people at risk on a dark street, so fix it first.</a:t>
            </a:r>
            <a:endParaRPr lang="en-US" sz="1250" dirty="0"/>
          </a:p>
        </p:txBody>
      </p:sp>
      <p:sp>
        <p:nvSpPr>
          <p:cNvPr id="6" name="Shape 4"/>
          <p:cNvSpPr/>
          <p:nvPr/>
        </p:nvSpPr>
        <p:spPr>
          <a:xfrm>
            <a:off x="6263640" y="1554480"/>
            <a:ext cx="5349240" cy="1371600"/>
          </a:xfrm>
          <a:prstGeom prst="roundRect">
            <a:avLst>
              <a:gd name="adj" fmla="val 4000"/>
            </a:avLst>
          </a:prstGeom>
          <a:solidFill>
            <a:srgbClr val="121820"/>
          </a:solidFill>
          <a:ln w="12700">
            <a:solidFill>
              <a:srgbClr val="26C6A6"/>
            </a:solidFill>
            <a:prstDash val="solid"/>
          </a:ln>
        </p:spPr>
      </p:sp>
      <p:sp>
        <p:nvSpPr>
          <p:cNvPr id="7" name="Text 5"/>
          <p:cNvSpPr/>
          <p:nvPr/>
        </p:nvSpPr>
        <p:spPr>
          <a:xfrm>
            <a:off x="6492240" y="1737360"/>
            <a:ext cx="4892040" cy="365760"/>
          </a:xfrm>
          <a:prstGeom prst="rect">
            <a:avLst/>
          </a:prstGeom>
          <a:noFill/>
          <a:ln/>
        </p:spPr>
        <p:txBody>
          <a:bodyPr wrap="square" rtlCol="0" anchor="ctr"/>
          <a:lstStyle/>
          <a:p>
            <a:pPr indent="0" marL="0">
              <a:buNone/>
            </a:pPr>
            <a:r>
              <a:rPr lang="en-US" sz="1300" dirty="0">
                <a:solidFill>
                  <a:srgbClr val="26C6A6"/>
                </a:solidFill>
                <a:latin typeface="Consolas" pitchFamily="34" charset="0"/>
                <a:ea typeface="Consolas" pitchFamily="34" charset="-122"/>
                <a:cs typeface="Consolas" pitchFamily="34" charset="-120"/>
              </a:rPr>
              <a:t>route_penalty  =  L · (1 + λd·P(dark) + λe/E + λu·var)</a:t>
            </a:r>
            <a:endParaRPr lang="en-US" sz="1300" dirty="0"/>
          </a:p>
        </p:txBody>
      </p:sp>
      <p:sp>
        <p:nvSpPr>
          <p:cNvPr id="8" name="Text 6"/>
          <p:cNvSpPr/>
          <p:nvPr/>
        </p:nvSpPr>
        <p:spPr>
          <a:xfrm>
            <a:off x="6492240" y="2148840"/>
            <a:ext cx="4892040" cy="640080"/>
          </a:xfrm>
          <a:prstGeom prst="rect">
            <a:avLst/>
          </a:prstGeom>
          <a:noFill/>
          <a:ln/>
        </p:spPr>
        <p:txBody>
          <a:bodyPr wrap="square" rtlCol="0" anchor="t"/>
          <a:lstStyle/>
          <a:p>
            <a:pPr indent="0" marL="0">
              <a:lnSpc>
                <a:spcPct val="120000"/>
              </a:lnSpc>
              <a:buNone/>
            </a:pPr>
            <a:r>
              <a:rPr lang="en-US" sz="1250" dirty="0">
                <a:solidFill>
                  <a:srgbClr val="E6EAF0"/>
                </a:solidFill>
                <a:latin typeface="Segoe UI" pitchFamily="34" charset="0"/>
                <a:ea typeface="Segoe UI" pitchFamily="34" charset="-122"/>
                <a:cs typeface="Segoe UI" pitchFamily="34" charset="-120"/>
              </a:rPr>
              <a:t>E divides  →  footfall is PROTECTION. Eyes on the street, so prefer it.</a:t>
            </a:r>
            <a:endParaRPr lang="en-US" sz="1250" dirty="0"/>
          </a:p>
        </p:txBody>
      </p:sp>
      <p:sp>
        <p:nvSpPr>
          <p:cNvPr id="9" name="Text 7"/>
          <p:cNvSpPr/>
          <p:nvPr/>
        </p:nvSpPr>
        <p:spPr>
          <a:xfrm>
            <a:off x="566928" y="3246120"/>
            <a:ext cx="11057839" cy="457200"/>
          </a:xfrm>
          <a:prstGeom prst="rect">
            <a:avLst/>
          </a:prstGeom>
          <a:noFill/>
          <a:ln/>
        </p:spPr>
        <p:txBody>
          <a:bodyPr wrap="square" rtlCol="0" anchor="ctr"/>
          <a:lstStyle/>
          <a:p>
            <a:pPr indent="0" marL="0">
              <a:buNone/>
            </a:pPr>
            <a:r>
              <a:rPr lang="en-US" sz="2000" b="1" dirty="0">
                <a:solidFill>
                  <a:srgbClr val="FFFFFF"/>
                </a:solidFill>
                <a:latin typeface="Segoe UI Semibold" pitchFamily="34" charset="0"/>
                <a:ea typeface="Segoe UI Semibold" pitchFamily="34" charset="-122"/>
                <a:cs typeface="Segoe UI Semibold" pitchFamily="34" charset="-120"/>
              </a:rPr>
              <a:t>Same variable, opposite sign, depending on which surface consumes it.</a:t>
            </a:r>
            <a:endParaRPr lang="en-US" sz="2000" dirty="0"/>
          </a:p>
        </p:txBody>
      </p:sp>
      <p:sp>
        <p:nvSpPr>
          <p:cNvPr id="10" name="Shape 8"/>
          <p:cNvSpPr/>
          <p:nvPr/>
        </p:nvSpPr>
        <p:spPr>
          <a:xfrm>
            <a:off x="566928" y="3886200"/>
            <a:ext cx="11057839" cy="1600200"/>
          </a:xfrm>
          <a:prstGeom prst="roundRect">
            <a:avLst>
              <a:gd name="adj" fmla="val 3429"/>
            </a:avLst>
          </a:prstGeom>
          <a:solidFill>
            <a:srgbClr val="1B232E"/>
          </a:solidFill>
          <a:ln w="12700">
            <a:solidFill>
              <a:srgbClr val="FF6B6B"/>
            </a:solidFill>
            <a:prstDash val="solid"/>
          </a:ln>
        </p:spPr>
      </p:sp>
      <p:sp>
        <p:nvSpPr>
          <p:cNvPr id="11" name="Text 9"/>
          <p:cNvSpPr/>
          <p:nvPr/>
        </p:nvSpPr>
        <p:spPr>
          <a:xfrm>
            <a:off x="841248" y="4114800"/>
            <a:ext cx="10509199" cy="1188720"/>
          </a:xfrm>
          <a:prstGeom prst="rect">
            <a:avLst/>
          </a:prstGeom>
          <a:noFill/>
          <a:ln/>
        </p:spPr>
        <p:txBody>
          <a:bodyPr wrap="square" rtlCol="0" anchor="t"/>
          <a:lstStyle/>
          <a:p>
            <a:pPr indent="0" marL="0">
              <a:lnSpc>
                <a:spcPct val="130000"/>
              </a:lnSpc>
              <a:buNone/>
            </a:pPr>
            <a:r>
              <a:rPr lang="en-US" sz="1400" b="1" dirty="0">
                <a:solidFill>
                  <a:srgbClr val="FF6B6B"/>
                </a:solidFill>
                <a:latin typeface="Segoe UI" pitchFamily="34" charset="0"/>
                <a:ea typeface="Segoe UI" pitchFamily="34" charset="-122"/>
                <a:cs typeface="Segoe UI" pitchFamily="34" charset="-120"/>
              </a:rPr>
              <a:t>Use it with one sign in both</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 and your router confidently sends a woman down an empty, brightly lit industrial road at 01:00. Most teams will do exactly that, and a judge finds it in thirty seconds by clicking two points on your own map.</a:t>
            </a:r>
            <a:endParaRPr lang="en-US" sz="1400" dirty="0"/>
          </a:p>
        </p:txBody>
      </p:sp>
      <p:sp>
        <p:nvSpPr>
          <p:cNvPr id="12" name="Text 10"/>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Jane Jacobs, The Death and Life of Great American Cities, 1961 — eyes on the street.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Same crew. Same budget. Different order.</a:t>
            </a:r>
            <a:endParaRPr lang="en-US" sz="3000" dirty="0"/>
          </a:p>
        </p:txBody>
      </p:sp>
      <p:sp>
        <p:nvSpPr>
          <p:cNvPr id="3" name="Text 1"/>
          <p:cNvSpPr/>
          <p:nvPr/>
        </p:nvSpPr>
        <p:spPr>
          <a:xfrm>
            <a:off x="566928" y="1417320"/>
            <a:ext cx="4114800" cy="1965960"/>
          </a:xfrm>
          <a:prstGeom prst="rect">
            <a:avLst/>
          </a:prstGeom>
          <a:noFill/>
          <a:ln/>
        </p:spPr>
        <p:txBody>
          <a:bodyPr wrap="square" rtlCol="0" anchor="ctr"/>
          <a:lstStyle/>
          <a:p>
            <a:pPr indent="0" marL="0">
              <a:buNone/>
            </a:pPr>
            <a:r>
              <a:rPr lang="en-US" sz="12800" b="1" dirty="0">
                <a:solidFill>
                  <a:srgbClr val="FFC107"/>
                </a:solidFill>
                <a:latin typeface="Segoe UI Semibold" pitchFamily="34" charset="0"/>
                <a:ea typeface="Segoe UI Semibold" pitchFamily="34" charset="-122"/>
                <a:cs typeface="Segoe UI Semibold" pitchFamily="34" charset="-120"/>
              </a:rPr>
              <a:t>7.7×</a:t>
            </a:r>
            <a:endParaRPr lang="en-US" sz="12800" dirty="0"/>
          </a:p>
        </p:txBody>
      </p:sp>
      <p:sp>
        <p:nvSpPr>
          <p:cNvPr id="4" name="Text 2"/>
          <p:cNvSpPr/>
          <p:nvPr/>
        </p:nvSpPr>
        <p:spPr>
          <a:xfrm>
            <a:off x="566928" y="3429000"/>
            <a:ext cx="5120640" cy="1234440"/>
          </a:xfrm>
          <a:prstGeom prst="rect">
            <a:avLst/>
          </a:prstGeom>
          <a:noFill/>
          <a:ln/>
        </p:spPr>
        <p:txBody>
          <a:bodyPr wrap="square" rtlCol="0" anchor="t"/>
          <a:lstStyle/>
          <a:p>
            <a:pPr indent="0" marL="0">
              <a:lnSpc>
                <a:spcPct val="130000"/>
              </a:lnSpc>
              <a:buNone/>
            </a:pPr>
            <a:r>
              <a:rPr lang="en-US" sz="1500" dirty="0">
                <a:solidFill>
                  <a:srgbClr val="E6EAF0"/>
                </a:solidFill>
                <a:latin typeface="Segoe UI" pitchFamily="34" charset="0"/>
                <a:ea typeface="Segoe UI" pitchFamily="34" charset="-122"/>
                <a:cs typeface="Segoe UI" pitchFamily="34" charset="-120"/>
              </a:rPr>
              <a:t>A crew can complete 40 repairs this week. Roshni's 40 restore 7.7× the exposed pedestrian-kilometres that the complaint queue's first 40 restore.</a:t>
            </a:r>
            <a:endParaRPr lang="en-US" sz="1500" dirty="0"/>
          </a:p>
        </p:txBody>
      </p:sp>
      <p:sp>
        <p:nvSpPr>
          <p:cNvPr id="5" name="Text 3"/>
          <p:cNvSpPr/>
          <p:nvPr/>
        </p:nvSpPr>
        <p:spPr>
          <a:xfrm>
            <a:off x="566928" y="4709160"/>
            <a:ext cx="5120640" cy="868680"/>
          </a:xfrm>
          <a:prstGeom prst="rect">
            <a:avLst/>
          </a:prstGeom>
          <a:noFill/>
          <a:ln/>
        </p:spPr>
        <p:txBody>
          <a:bodyPr wrap="square" rtlCol="0" anchor="t"/>
          <a:lstStyle/>
          <a:p>
            <a:pPr indent="0" marL="0">
              <a:lnSpc>
                <a:spcPct val="125000"/>
              </a:lnSpc>
              <a:buNone/>
            </a:pPr>
            <a:r>
              <a:rPr lang="en-US" sz="1500" dirty="0">
                <a:solidFill>
                  <a:srgbClr val="FFC107"/>
                </a:solidFill>
                <a:latin typeface="Segoe UI Semibold" pitchFamily="34" charset="0"/>
                <a:ea typeface="Segoe UI Semibold" pitchFamily="34" charset="-122"/>
                <a:cs typeface="Segoe UI Semibold" pitchFamily="34" charset="-120"/>
              </a:rPr>
              <a:t>The gain is not from being cleverer inside a ward.</a:t>
            </a:r>
            <a:endParaRPr lang="en-US" sz="1500" dirty="0"/>
          </a:p>
          <a:p>
            <a:pPr indent="0" marL="0">
              <a:lnSpc>
                <a:spcPct val="125000"/>
              </a:lnSpc>
              <a:buNone/>
            </a:pPr>
            <a:r>
              <a:rPr lang="en-US" sz="1500" dirty="0">
                <a:solidFill>
                  <a:srgbClr val="FFC107"/>
                </a:solidFill>
                <a:latin typeface="Segoe UI Semibold" pitchFamily="34" charset="0"/>
                <a:ea typeface="Segoe UI Semibold" pitchFamily="34" charset="-122"/>
                <a:cs typeface="Segoe UI Semibold" pitchFamily="34" charset="-120"/>
              </a:rPr>
              <a:t>It is from visiting the right wards.</a:t>
            </a:r>
            <a:endParaRPr lang="en-US" sz="1500" dirty="0"/>
          </a:p>
        </p:txBody>
      </p:sp>
      <p:sp>
        <p:nvSpPr>
          <p:cNvPr id="6" name="Shape 4"/>
          <p:cNvSpPr/>
          <p:nvPr/>
        </p:nvSpPr>
        <p:spPr>
          <a:xfrm>
            <a:off x="5943600" y="1417320"/>
            <a:ext cx="5669280" cy="4160520"/>
          </a:xfrm>
          <a:prstGeom prst="roundRect">
            <a:avLst>
              <a:gd name="adj" fmla="val 1319"/>
            </a:avLst>
          </a:prstGeom>
          <a:solidFill>
            <a:srgbClr val="121820"/>
          </a:solidFill>
          <a:ln w="12700">
            <a:solidFill>
              <a:srgbClr val="232B36"/>
            </a:solidFill>
            <a:prstDash val="solid"/>
          </a:ln>
        </p:spPr>
      </p:sp>
      <p:sp>
        <p:nvSpPr>
          <p:cNvPr id="7" name="Text 5"/>
          <p:cNvSpPr/>
          <p:nvPr/>
        </p:nvSpPr>
        <p:spPr>
          <a:xfrm>
            <a:off x="6217920" y="1572768"/>
            <a:ext cx="5120640" cy="320040"/>
          </a:xfrm>
          <a:prstGeom prst="rect">
            <a:avLst/>
          </a:prstGeom>
          <a:noFill/>
          <a:ln/>
        </p:spPr>
        <p:txBody>
          <a:bodyPr wrap="square" rtlCol="0" anchor="ctr"/>
          <a:lstStyle/>
          <a:p>
            <a:pPr indent="0" marL="0">
              <a:buNone/>
            </a:pPr>
            <a:r>
              <a:rPr lang="en-US" sz="1300" spc="100" kern="0" dirty="0">
                <a:solidFill>
                  <a:srgbClr val="7A8696"/>
                </a:solidFill>
                <a:latin typeface="Segoe UI Semibold" pitchFamily="34" charset="0"/>
                <a:ea typeface="Segoe UI Semibold" pitchFamily="34" charset="-122"/>
                <a:cs typeface="Segoe UI Semibold" pitchFamily="34" charset="-120"/>
              </a:rPr>
              <a:t>Stress-tested four ways</a:t>
            </a:r>
            <a:endParaRPr lang="en-US" sz="1300" dirty="0"/>
          </a:p>
        </p:txBody>
      </p:sp>
      <p:sp>
        <p:nvSpPr>
          <p:cNvPr id="8" name="Text 6"/>
          <p:cNvSpPr/>
          <p:nvPr/>
        </p:nvSpPr>
        <p:spPr>
          <a:xfrm>
            <a:off x="6217920" y="2011680"/>
            <a:ext cx="3931920" cy="566928"/>
          </a:xfrm>
          <a:prstGeom prst="rect">
            <a:avLst/>
          </a:prstGeom>
          <a:noFill/>
          <a:ln/>
        </p:spPr>
        <p:txBody>
          <a:bodyPr wrap="square" rtlCol="0" anchor="ctr"/>
          <a:lstStyle/>
          <a:p>
            <a:pPr indent="0" marL="0">
              <a:lnSpc>
                <a:spcPct val="110000"/>
              </a:lnSpc>
              <a:buNone/>
            </a:pPr>
            <a:r>
              <a:rPr lang="en-US" sz="1150" dirty="0">
                <a:solidFill>
                  <a:srgbClr val="E6EAF0"/>
                </a:solidFill>
                <a:latin typeface="Segoe UI" pitchFamily="34" charset="0"/>
                <a:ea typeface="Segoe UI" pitchFamily="34" charset="-122"/>
                <a:cs typeface="Segoe UI" pitchFamily="34" charset="-120"/>
              </a:rPr>
              <a:t>Complaint order, 300 Monte-Carlo draws</a:t>
            </a:r>
            <a:endParaRPr lang="en-US" sz="1150" dirty="0"/>
          </a:p>
        </p:txBody>
      </p:sp>
      <p:sp>
        <p:nvSpPr>
          <p:cNvPr id="9" name="Text 7"/>
          <p:cNvSpPr/>
          <p:nvPr/>
        </p:nvSpPr>
        <p:spPr>
          <a:xfrm>
            <a:off x="10241280" y="2011680"/>
            <a:ext cx="1097280" cy="566928"/>
          </a:xfrm>
          <a:prstGeom prst="rect">
            <a:avLst/>
          </a:prstGeom>
          <a:noFill/>
          <a:ln/>
        </p:spPr>
        <p:txBody>
          <a:bodyPr wrap="square" rtlCol="0" anchor="ctr"/>
          <a:lstStyle/>
          <a:p>
            <a:pPr algn="r" indent="0" marL="0">
              <a:buNone/>
            </a:pPr>
            <a:r>
              <a:rPr lang="en-US" sz="1900" b="1" dirty="0">
                <a:solidFill>
                  <a:srgbClr val="FFC107"/>
                </a:solidFill>
                <a:latin typeface="Segoe UI Semibold" pitchFamily="34" charset="0"/>
                <a:ea typeface="Segoe UI Semibold" pitchFamily="34" charset="-122"/>
                <a:cs typeface="Segoe UI Semibold" pitchFamily="34" charset="-120"/>
              </a:rPr>
              <a:t>7.73×</a:t>
            </a:r>
            <a:endParaRPr lang="en-US" sz="1900" dirty="0"/>
          </a:p>
        </p:txBody>
      </p:sp>
      <p:sp>
        <p:nvSpPr>
          <p:cNvPr id="10" name="Shape 8"/>
          <p:cNvSpPr/>
          <p:nvPr/>
        </p:nvSpPr>
        <p:spPr>
          <a:xfrm>
            <a:off x="6217920" y="2615184"/>
            <a:ext cx="5120640" cy="0"/>
          </a:xfrm>
          <a:prstGeom prst="line">
            <a:avLst/>
          </a:prstGeom>
          <a:noFill/>
          <a:ln w="9525">
            <a:solidFill>
              <a:srgbClr val="232B36"/>
            </a:solidFill>
            <a:prstDash val="solid"/>
          </a:ln>
        </p:spPr>
      </p:sp>
      <p:sp>
        <p:nvSpPr>
          <p:cNvPr id="11" name="Text 9"/>
          <p:cNvSpPr/>
          <p:nvPr/>
        </p:nvSpPr>
        <p:spPr>
          <a:xfrm>
            <a:off x="6217920" y="2670048"/>
            <a:ext cx="3931920" cy="566928"/>
          </a:xfrm>
          <a:prstGeom prst="rect">
            <a:avLst/>
          </a:prstGeom>
          <a:noFill/>
          <a:ln/>
        </p:spPr>
        <p:txBody>
          <a:bodyPr wrap="square" rtlCol="0" anchor="ctr"/>
          <a:lstStyle/>
          <a:p>
            <a:pPr indent="0" marL="0">
              <a:lnSpc>
                <a:spcPct val="110000"/>
              </a:lnSpc>
              <a:buNone/>
            </a:pPr>
            <a:r>
              <a:rPr lang="en-US" sz="1150" dirty="0">
                <a:solidFill>
                  <a:srgbClr val="E6EAF0"/>
                </a:solidFill>
                <a:latin typeface="Segoe UI" pitchFamily="34" charset="0"/>
                <a:ea typeface="Segoe UI" pitchFamily="34" charset="-122"/>
                <a:cs typeface="Segoe UI" pitchFamily="34" charset="-120"/>
              </a:rPr>
              <a:t>vs the luckiest of those 300 draws</a:t>
            </a:r>
            <a:endParaRPr lang="en-US" sz="1150" dirty="0"/>
          </a:p>
        </p:txBody>
      </p:sp>
      <p:sp>
        <p:nvSpPr>
          <p:cNvPr id="12" name="Text 10"/>
          <p:cNvSpPr/>
          <p:nvPr/>
        </p:nvSpPr>
        <p:spPr>
          <a:xfrm>
            <a:off x="10241280" y="2670048"/>
            <a:ext cx="1097280" cy="566928"/>
          </a:xfrm>
          <a:prstGeom prst="rect">
            <a:avLst/>
          </a:prstGeom>
          <a:noFill/>
          <a:ln/>
        </p:spPr>
        <p:txBody>
          <a:bodyPr wrap="square" rtlCol="0" anchor="ctr"/>
          <a:lstStyle/>
          <a:p>
            <a:pPr algn="r" indent="0" marL="0">
              <a:buNone/>
            </a:pPr>
            <a:r>
              <a:rPr lang="en-US" sz="1900" b="1" dirty="0">
                <a:solidFill>
                  <a:srgbClr val="E6EAF0"/>
                </a:solidFill>
                <a:latin typeface="Segoe UI Semibold" pitchFamily="34" charset="0"/>
                <a:ea typeface="Segoe UI Semibold" pitchFamily="34" charset="-122"/>
                <a:cs typeface="Segoe UI Semibold" pitchFamily="34" charset="-120"/>
              </a:rPr>
              <a:t>4.88×</a:t>
            </a:r>
            <a:endParaRPr lang="en-US" sz="1900" dirty="0"/>
          </a:p>
        </p:txBody>
      </p:sp>
      <p:sp>
        <p:nvSpPr>
          <p:cNvPr id="13" name="Shape 11"/>
          <p:cNvSpPr/>
          <p:nvPr/>
        </p:nvSpPr>
        <p:spPr>
          <a:xfrm>
            <a:off x="6217920" y="3273552"/>
            <a:ext cx="5120640" cy="0"/>
          </a:xfrm>
          <a:prstGeom prst="line">
            <a:avLst/>
          </a:prstGeom>
          <a:noFill/>
          <a:ln w="9525">
            <a:solidFill>
              <a:srgbClr val="232B36"/>
            </a:solidFill>
            <a:prstDash val="solid"/>
          </a:ln>
        </p:spPr>
      </p:sp>
      <p:sp>
        <p:nvSpPr>
          <p:cNvPr id="14" name="Text 12"/>
          <p:cNvSpPr/>
          <p:nvPr/>
        </p:nvSpPr>
        <p:spPr>
          <a:xfrm>
            <a:off x="6217920" y="3328416"/>
            <a:ext cx="3931920" cy="566928"/>
          </a:xfrm>
          <a:prstGeom prst="rect">
            <a:avLst/>
          </a:prstGeom>
          <a:noFill/>
          <a:ln/>
        </p:spPr>
        <p:txBody>
          <a:bodyPr wrap="square" rtlCol="0" anchor="ctr"/>
          <a:lstStyle/>
          <a:p>
            <a:pPr indent="0" marL="0">
              <a:lnSpc>
                <a:spcPct val="110000"/>
              </a:lnSpc>
              <a:buNone/>
            </a:pPr>
            <a:r>
              <a:rPr lang="en-US" sz="1150" dirty="0">
                <a:solidFill>
                  <a:srgbClr val="E6EAF0"/>
                </a:solidFill>
                <a:latin typeface="Segoe UI" pitchFamily="34" charset="0"/>
                <a:ea typeface="Segoe UI" pitchFamily="34" charset="-122"/>
                <a:cs typeface="Segoe UI" pitchFamily="34" charset="-120"/>
              </a:rPr>
              <a:t>vs a steelman: BBMP picks the worst segment in every ward it visits</a:t>
            </a:r>
            <a:endParaRPr lang="en-US" sz="1150" dirty="0"/>
          </a:p>
        </p:txBody>
      </p:sp>
      <p:sp>
        <p:nvSpPr>
          <p:cNvPr id="15" name="Text 13"/>
          <p:cNvSpPr/>
          <p:nvPr/>
        </p:nvSpPr>
        <p:spPr>
          <a:xfrm>
            <a:off x="10241280" y="3328416"/>
            <a:ext cx="1097280" cy="566928"/>
          </a:xfrm>
          <a:prstGeom prst="rect">
            <a:avLst/>
          </a:prstGeom>
          <a:noFill/>
          <a:ln/>
        </p:spPr>
        <p:txBody>
          <a:bodyPr wrap="square" rtlCol="0" anchor="ctr"/>
          <a:lstStyle/>
          <a:p>
            <a:pPr algn="r" indent="0" marL="0">
              <a:buNone/>
            </a:pPr>
            <a:r>
              <a:rPr lang="en-US" sz="1900" b="1" dirty="0">
                <a:solidFill>
                  <a:srgbClr val="E6EAF0"/>
                </a:solidFill>
                <a:latin typeface="Segoe UI Semibold" pitchFamily="34" charset="0"/>
                <a:ea typeface="Segoe UI Semibold" pitchFamily="34" charset="-122"/>
                <a:cs typeface="Segoe UI Semibold" pitchFamily="34" charset="-120"/>
              </a:rPr>
              <a:t>1.89×</a:t>
            </a:r>
            <a:endParaRPr lang="en-US" sz="1900" dirty="0"/>
          </a:p>
        </p:txBody>
      </p:sp>
      <p:sp>
        <p:nvSpPr>
          <p:cNvPr id="16" name="Shape 14"/>
          <p:cNvSpPr/>
          <p:nvPr/>
        </p:nvSpPr>
        <p:spPr>
          <a:xfrm>
            <a:off x="6217920" y="3931920"/>
            <a:ext cx="5120640" cy="0"/>
          </a:xfrm>
          <a:prstGeom prst="line">
            <a:avLst/>
          </a:prstGeom>
          <a:noFill/>
          <a:ln w="9525">
            <a:solidFill>
              <a:srgbClr val="232B36"/>
            </a:solidFill>
            <a:prstDash val="solid"/>
          </a:ln>
        </p:spPr>
      </p:sp>
      <p:sp>
        <p:nvSpPr>
          <p:cNvPr id="17" name="Text 15"/>
          <p:cNvSpPr/>
          <p:nvPr/>
        </p:nvSpPr>
        <p:spPr>
          <a:xfrm>
            <a:off x="6217920" y="3986784"/>
            <a:ext cx="3931920" cy="566928"/>
          </a:xfrm>
          <a:prstGeom prst="rect">
            <a:avLst/>
          </a:prstGeom>
          <a:noFill/>
          <a:ln/>
        </p:spPr>
        <p:txBody>
          <a:bodyPr wrap="square" rtlCol="0" anchor="ctr"/>
          <a:lstStyle/>
          <a:p>
            <a:pPr indent="0" marL="0">
              <a:lnSpc>
                <a:spcPct val="110000"/>
              </a:lnSpc>
              <a:buNone/>
            </a:pPr>
            <a:r>
              <a:rPr lang="en-US" sz="1150" dirty="0">
                <a:solidFill>
                  <a:srgbClr val="E6EAF0"/>
                </a:solidFill>
                <a:latin typeface="Segoe UI" pitchFamily="34" charset="0"/>
                <a:ea typeface="Segoe UI" pitchFamily="34" charset="-122"/>
                <a:cs typeface="Segoe UI" pitchFamily="34" charset="-120"/>
              </a:rPr>
              <a:t>Restricted to only the wards where we hold lamp labels</a:t>
            </a:r>
            <a:endParaRPr lang="en-US" sz="1150" dirty="0"/>
          </a:p>
        </p:txBody>
      </p:sp>
      <p:sp>
        <p:nvSpPr>
          <p:cNvPr id="18" name="Text 16"/>
          <p:cNvSpPr/>
          <p:nvPr/>
        </p:nvSpPr>
        <p:spPr>
          <a:xfrm>
            <a:off x="10241280" y="3986784"/>
            <a:ext cx="1097280" cy="566928"/>
          </a:xfrm>
          <a:prstGeom prst="rect">
            <a:avLst/>
          </a:prstGeom>
          <a:noFill/>
          <a:ln/>
        </p:spPr>
        <p:txBody>
          <a:bodyPr wrap="square" rtlCol="0" anchor="ctr"/>
          <a:lstStyle/>
          <a:p>
            <a:pPr algn="r" indent="0" marL="0">
              <a:buNone/>
            </a:pPr>
            <a:r>
              <a:rPr lang="en-US" sz="1900" b="1" dirty="0">
                <a:solidFill>
                  <a:srgbClr val="26C6A6"/>
                </a:solidFill>
                <a:latin typeface="Segoe UI Semibold" pitchFamily="34" charset="0"/>
                <a:ea typeface="Segoe UI Semibold" pitchFamily="34" charset="-122"/>
                <a:cs typeface="Segoe UI Semibold" pitchFamily="34" charset="-120"/>
              </a:rPr>
              <a:t>6.4×</a:t>
            </a:r>
            <a:endParaRPr lang="en-US" sz="1900" dirty="0"/>
          </a:p>
        </p:txBody>
      </p:sp>
      <p:sp>
        <p:nvSpPr>
          <p:cNvPr id="19" name="Shape 17"/>
          <p:cNvSpPr/>
          <p:nvPr/>
        </p:nvSpPr>
        <p:spPr>
          <a:xfrm>
            <a:off x="6217920" y="4590288"/>
            <a:ext cx="5120640" cy="0"/>
          </a:xfrm>
          <a:prstGeom prst="line">
            <a:avLst/>
          </a:prstGeom>
          <a:noFill/>
          <a:ln w="9525">
            <a:solidFill>
              <a:srgbClr val="232B36"/>
            </a:solidFill>
            <a:prstDash val="solid"/>
          </a:ln>
        </p:spPr>
      </p:sp>
      <p:sp>
        <p:nvSpPr>
          <p:cNvPr id="20" name="Text 18"/>
          <p:cNvSpPr/>
          <p:nvPr/>
        </p:nvSpPr>
        <p:spPr>
          <a:xfrm>
            <a:off x="6217920" y="4645152"/>
            <a:ext cx="3931920" cy="566928"/>
          </a:xfrm>
          <a:prstGeom prst="rect">
            <a:avLst/>
          </a:prstGeom>
          <a:noFill/>
          <a:ln/>
        </p:spPr>
        <p:txBody>
          <a:bodyPr wrap="square" rtlCol="0" anchor="ctr"/>
          <a:lstStyle/>
          <a:p>
            <a:pPr indent="0" marL="0">
              <a:lnSpc>
                <a:spcPct val="110000"/>
              </a:lnSpc>
              <a:buNone/>
            </a:pPr>
            <a:r>
              <a:rPr lang="en-US" sz="1150" dirty="0">
                <a:solidFill>
                  <a:srgbClr val="E6EAF0"/>
                </a:solidFill>
                <a:latin typeface="Segoe UI" pitchFamily="34" charset="0"/>
                <a:ea typeface="Segoe UI" pitchFamily="34" charset="-122"/>
                <a:cs typeface="Segoe UI" pitchFamily="34" charset="-120"/>
              </a:rPr>
              <a:t>Every lamp label deleted — ward prior × exposure alone</a:t>
            </a:r>
            <a:endParaRPr lang="en-US" sz="1150" dirty="0"/>
          </a:p>
        </p:txBody>
      </p:sp>
      <p:sp>
        <p:nvSpPr>
          <p:cNvPr id="21" name="Text 19"/>
          <p:cNvSpPr/>
          <p:nvPr/>
        </p:nvSpPr>
        <p:spPr>
          <a:xfrm>
            <a:off x="10241280" y="4645152"/>
            <a:ext cx="1097280" cy="566928"/>
          </a:xfrm>
          <a:prstGeom prst="rect">
            <a:avLst/>
          </a:prstGeom>
          <a:noFill/>
          <a:ln/>
        </p:spPr>
        <p:txBody>
          <a:bodyPr wrap="square" rtlCol="0" anchor="ctr"/>
          <a:lstStyle/>
          <a:p>
            <a:pPr algn="r" indent="0" marL="0">
              <a:buNone/>
            </a:pPr>
            <a:r>
              <a:rPr lang="en-US" sz="1900" b="1" dirty="0">
                <a:solidFill>
                  <a:srgbClr val="26C6A6"/>
                </a:solidFill>
                <a:latin typeface="Segoe UI Semibold" pitchFamily="34" charset="0"/>
                <a:ea typeface="Segoe UI Semibold" pitchFamily="34" charset="-122"/>
                <a:cs typeface="Segoe UI Semibold" pitchFamily="34" charset="-120"/>
              </a:rPr>
              <a:t>5.42×</a:t>
            </a:r>
            <a:endParaRPr lang="en-US" sz="1900" dirty="0"/>
          </a:p>
        </p:txBody>
      </p:sp>
      <p:sp>
        <p:nvSpPr>
          <p:cNvPr id="22" name="Text 20"/>
          <p:cNvSpPr/>
          <p:nvPr/>
        </p:nvSpPr>
        <p:spPr>
          <a:xfrm>
            <a:off x="6217920" y="5138928"/>
            <a:ext cx="5120640" cy="320040"/>
          </a:xfrm>
          <a:prstGeom prst="rect">
            <a:avLst/>
          </a:prstGeom>
          <a:noFill/>
          <a:ln/>
        </p:spPr>
        <p:txBody>
          <a:bodyPr wrap="square" rtlCol="0" anchor="ctr"/>
          <a:lstStyle/>
          <a:p>
            <a:pPr indent="0" marL="0">
              <a:buNone/>
            </a:pPr>
            <a:r>
              <a:rPr lang="en-US" sz="1200" i="1" dirty="0">
                <a:solidFill>
                  <a:srgbClr val="26C6A6"/>
                </a:solidFill>
                <a:latin typeface="Segoe UI" pitchFamily="34" charset="0"/>
                <a:ea typeface="Segoe UI" pitchFamily="34" charset="-122"/>
                <a:cs typeface="Segoe UI" pitchFamily="34" charset="-120"/>
              </a:rPr>
              <a:t>The win survives deleting our own best data.</a:t>
            </a:r>
            <a:endParaRPr lang="en-US" sz="1200" dirty="0"/>
          </a:p>
        </p:txBody>
      </p:sp>
      <p:sp>
        <p:nvSpPr>
          <p:cNvPr id="23" name="Text 21"/>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11,029 segments, 1180 km, 33 wards, locked ORR demo bbox. Objective Σ exposure × P(dark) × length. out/stats.json.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The municipal queue</a:t>
            </a:r>
            <a:endParaRPr lang="en-US" sz="3000" dirty="0"/>
          </a:p>
        </p:txBody>
      </p:sp>
      <p:pic>
        <p:nvPicPr>
          <p:cNvPr id="3" name="Image 0" descr="C:\Dev\hackathon\roshni\assets\screen-queue.png">    </p:cNvPr>
          <p:cNvPicPr>
            <a:picLocks noChangeAspect="1"/>
          </p:cNvPicPr>
          <p:nvPr/>
        </p:nvPicPr>
        <p:blipFill>
          <a:blip r:embed="rId1"/>
          <a:stretch>
            <a:fillRect/>
          </a:stretch>
        </p:blipFill>
        <p:spPr>
          <a:xfrm>
            <a:off x="566928" y="1371600"/>
            <a:ext cx="7955280" cy="3535680"/>
          </a:xfrm>
          <a:prstGeom prst="rect">
            <a:avLst/>
          </a:prstGeom>
        </p:spPr>
      </p:pic>
      <p:sp>
        <p:nvSpPr>
          <p:cNvPr id="4" name="Text 1"/>
          <p:cNvSpPr/>
          <p:nvPr/>
        </p:nvSpPr>
        <p:spPr>
          <a:xfrm>
            <a:off x="8732520" y="1417320"/>
            <a:ext cx="2926080" cy="566928"/>
          </a:xfrm>
          <a:prstGeom prst="rect">
            <a:avLst/>
          </a:prstGeom>
          <a:noFill/>
          <a:ln/>
        </p:spPr>
        <p:txBody>
          <a:bodyPr wrap="square" rtlCol="0" anchor="t"/>
          <a:lstStyle/>
          <a:p>
            <a:pPr indent="0" marL="0">
              <a:lnSpc>
                <a:spcPct val="110000"/>
              </a:lnSpc>
              <a:buNone/>
            </a:pPr>
            <a:r>
              <a:rPr lang="en-US" sz="1250" dirty="0">
                <a:solidFill>
                  <a:srgbClr val="FFC107"/>
                </a:solidFill>
                <a:latin typeface="Segoe UI Semibold" pitchFamily="34" charset="0"/>
                <a:ea typeface="Segoe UI Semibold" pitchFamily="34" charset="-122"/>
                <a:cs typeface="Segoe UI Semibold" pitchFamily="34" charset="-120"/>
              </a:rPr>
              <a:t>The ratio, live</a:t>
            </a:r>
            <a:endParaRPr lang="en-US" sz="1250" dirty="0"/>
          </a:p>
        </p:txBody>
      </p:sp>
      <p:sp>
        <p:nvSpPr>
          <p:cNvPr id="5" name="Text 2"/>
          <p:cNvSpPr/>
          <p:nvPr/>
        </p:nvSpPr>
        <p:spPr>
          <a:xfrm>
            <a:off x="8732520" y="1965960"/>
            <a:ext cx="2926080" cy="777240"/>
          </a:xfrm>
          <a:prstGeom prst="rect">
            <a:avLst/>
          </a:prstGeom>
          <a:noFill/>
          <a:ln/>
        </p:spPr>
        <p:txBody>
          <a:bodyPr wrap="square" rtlCol="0" anchor="t"/>
          <a:lstStyle/>
          <a:p>
            <a:pPr indent="0" marL="0">
              <a:lnSpc>
                <a:spcPct val="120000"/>
              </a:lnSpc>
              <a:buNone/>
            </a:pPr>
            <a:r>
              <a:rPr lang="en-US" sz="1100" dirty="0">
                <a:solidFill>
                  <a:srgbClr val="B1BAC6"/>
                </a:solidFill>
                <a:latin typeface="Segoe UI" pitchFamily="34" charset="0"/>
                <a:ea typeface="Segoe UI" pitchFamily="34" charset="-122"/>
                <a:cs typeface="Segoe UI" pitchFamily="34" charset="-120"/>
              </a:rPr>
              <a:t>Drag the budget slider and it recomputes in the browser. No network call on the demo path.</a:t>
            </a:r>
            <a:endParaRPr lang="en-US" sz="1100" dirty="0"/>
          </a:p>
        </p:txBody>
      </p:sp>
      <p:sp>
        <p:nvSpPr>
          <p:cNvPr id="6" name="Text 3"/>
          <p:cNvSpPr/>
          <p:nvPr/>
        </p:nvSpPr>
        <p:spPr>
          <a:xfrm>
            <a:off x="8732520" y="2834640"/>
            <a:ext cx="2926080" cy="566928"/>
          </a:xfrm>
          <a:prstGeom prst="rect">
            <a:avLst/>
          </a:prstGeom>
          <a:noFill/>
          <a:ln/>
        </p:spPr>
        <p:txBody>
          <a:bodyPr wrap="square" rtlCol="0" anchor="t"/>
          <a:lstStyle/>
          <a:p>
            <a:pPr indent="0" marL="0">
              <a:lnSpc>
                <a:spcPct val="110000"/>
              </a:lnSpc>
              <a:buNone/>
            </a:pPr>
            <a:r>
              <a:rPr lang="en-US" sz="1250" dirty="0">
                <a:solidFill>
                  <a:srgbClr val="FFC107"/>
                </a:solidFill>
                <a:latin typeface="Segoe UI Semibold" pitchFamily="34" charset="0"/>
                <a:ea typeface="Segoe UI Semibold" pitchFamily="34" charset="-122"/>
                <a:cs typeface="Segoe UI Semibold" pitchFamily="34" charset="-120"/>
              </a:rPr>
              <a:t>“Municipal priorities”, not “model weights”</a:t>
            </a:r>
            <a:endParaRPr lang="en-US" sz="1250" dirty="0"/>
          </a:p>
        </p:txBody>
      </p:sp>
      <p:sp>
        <p:nvSpPr>
          <p:cNvPr id="7" name="Text 4"/>
          <p:cNvSpPr/>
          <p:nvPr/>
        </p:nvSpPr>
        <p:spPr>
          <a:xfrm>
            <a:off x="8732520" y="3383280"/>
            <a:ext cx="2926080" cy="777240"/>
          </a:xfrm>
          <a:prstGeom prst="rect">
            <a:avLst/>
          </a:prstGeom>
          <a:noFill/>
          <a:ln/>
        </p:spPr>
        <p:txBody>
          <a:bodyPr wrap="square" rtlCol="0" anchor="t"/>
          <a:lstStyle/>
          <a:p>
            <a:pPr indent="0" marL="0">
              <a:lnSpc>
                <a:spcPct val="120000"/>
              </a:lnSpc>
              <a:buNone/>
            </a:pPr>
            <a:r>
              <a:rPr lang="en-US" sz="1100" dirty="0">
                <a:solidFill>
                  <a:srgbClr val="B1BAC6"/>
                </a:solidFill>
                <a:latin typeface="Segoe UI" pitchFamily="34" charset="0"/>
                <a:ea typeface="Segoe UI" pitchFamily="34" charset="-122"/>
                <a:cs typeface="Segoe UI" pitchFamily="34" charset="-120"/>
              </a:rPr>
              <a:t>The municipality owns that choice, not us.</a:t>
            </a:r>
            <a:endParaRPr lang="en-US" sz="1100" dirty="0"/>
          </a:p>
        </p:txBody>
      </p:sp>
      <p:sp>
        <p:nvSpPr>
          <p:cNvPr id="8" name="Text 5"/>
          <p:cNvSpPr/>
          <p:nvPr/>
        </p:nvSpPr>
        <p:spPr>
          <a:xfrm>
            <a:off x="8732520" y="4251960"/>
            <a:ext cx="2926080" cy="566928"/>
          </a:xfrm>
          <a:prstGeom prst="rect">
            <a:avLst/>
          </a:prstGeom>
          <a:noFill/>
          <a:ln/>
        </p:spPr>
        <p:txBody>
          <a:bodyPr wrap="square" rtlCol="0" anchor="t"/>
          <a:lstStyle/>
          <a:p>
            <a:pPr indent="0" marL="0">
              <a:lnSpc>
                <a:spcPct val="110000"/>
              </a:lnSpc>
              <a:buNone/>
            </a:pPr>
            <a:r>
              <a:rPr lang="en-US" sz="1250" dirty="0">
                <a:solidFill>
                  <a:srgbClr val="FFC107"/>
                </a:solidFill>
                <a:latin typeface="Segoe UI Semibold" pitchFamily="34" charset="0"/>
                <a:ea typeface="Segoe UI Semibold" pitchFamily="34" charset="-122"/>
                <a:cs typeface="Segoe UI Semibold" pitchFamily="34" charset="-120"/>
              </a:rPr>
              <a:t>Texture = confidence</a:t>
            </a:r>
            <a:endParaRPr lang="en-US" sz="1250" dirty="0"/>
          </a:p>
        </p:txBody>
      </p:sp>
      <p:sp>
        <p:nvSpPr>
          <p:cNvPr id="9" name="Text 6"/>
          <p:cNvSpPr/>
          <p:nvPr/>
        </p:nvSpPr>
        <p:spPr>
          <a:xfrm>
            <a:off x="8732520" y="4800600"/>
            <a:ext cx="2926080" cy="777240"/>
          </a:xfrm>
          <a:prstGeom prst="rect">
            <a:avLst/>
          </a:prstGeom>
          <a:noFill/>
          <a:ln/>
        </p:spPr>
        <p:txBody>
          <a:bodyPr wrap="square" rtlCol="0" anchor="t"/>
          <a:lstStyle/>
          <a:p>
            <a:pPr indent="0" marL="0">
              <a:lnSpc>
                <a:spcPct val="120000"/>
              </a:lnSpc>
              <a:buNone/>
            </a:pPr>
            <a:r>
              <a:rPr lang="en-US" sz="1100" dirty="0">
                <a:solidFill>
                  <a:srgbClr val="B1BAC6"/>
                </a:solidFill>
                <a:latin typeface="Segoe UI" pitchFamily="34" charset="0"/>
                <a:ea typeface="Segoe UI" pitchFamily="34" charset="-122"/>
                <a:cs typeface="Segoe UI" pitchFamily="34" charset="-120"/>
              </a:rPr>
              <a:t>Solid, hatched, dotted, dashed. We say which streets we do not know.</a:t>
            </a:r>
            <a:endParaRPr lang="en-US" sz="1100" dirty="0"/>
          </a:p>
        </p:txBody>
      </p:sp>
      <p:sp>
        <p:nvSpPr>
          <p:cNvPr id="10" name="Text 7"/>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Municipal engineer console. Headline figure and budget are the measured values from out/stats.json.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Both routes. Always.</a:t>
            </a:r>
            <a:endParaRPr lang="en-US" sz="3000" dirty="0"/>
          </a:p>
        </p:txBody>
      </p:sp>
      <p:pic>
        <p:nvPicPr>
          <p:cNvPr id="3" name="Image 0" descr="C:\Dev\hackathon\roshni\assets\screen-route.png">    </p:cNvPr>
          <p:cNvPicPr>
            <a:picLocks noChangeAspect="1"/>
          </p:cNvPicPr>
          <p:nvPr/>
        </p:nvPicPr>
        <p:blipFill>
          <a:blip r:embed="rId1"/>
          <a:stretch>
            <a:fillRect/>
          </a:stretch>
        </p:blipFill>
        <p:spPr>
          <a:xfrm>
            <a:off x="566928" y="1371600"/>
            <a:ext cx="2262966" cy="4892040"/>
          </a:xfrm>
          <a:prstGeom prst="rect">
            <a:avLst/>
          </a:prstGeom>
        </p:spPr>
      </p:pic>
      <p:sp>
        <p:nvSpPr>
          <p:cNvPr id="4" name="Text 1"/>
          <p:cNvSpPr/>
          <p:nvPr/>
        </p:nvSpPr>
        <p:spPr>
          <a:xfrm>
            <a:off x="3241374" y="1371600"/>
            <a:ext cx="8520553" cy="1554480"/>
          </a:xfrm>
          <a:prstGeom prst="rect">
            <a:avLst/>
          </a:prstGeom>
          <a:noFill/>
          <a:ln/>
        </p:spPr>
        <p:txBody>
          <a:bodyPr wrap="square" rtlCol="0" anchor="t"/>
          <a:lstStyle/>
          <a:p>
            <a:pPr indent="0" marL="0">
              <a:lnSpc>
                <a:spcPct val="130000"/>
              </a:lnSpc>
              <a:buNone/>
            </a:pPr>
            <a:r>
              <a:rPr lang="en-US" sz="1300" dirty="0">
                <a:solidFill>
                  <a:srgbClr val="7A8696"/>
                </a:solidFill>
                <a:latin typeface="Segoe UI" pitchFamily="34" charset="0"/>
                <a:ea typeface="Segoe UI" pitchFamily="34" charset="-122"/>
                <a:cs typeface="Segoe UI" pitchFamily="34" charset="-120"/>
              </a:rPr>
              <a:t>Shortest: </a:t>
            </a:r>
            <a:pPr indent="0" marL="0">
              <a:lnSpc>
                <a:spcPct val="130000"/>
              </a:lnSpc>
              <a:buNone/>
            </a:pPr>
            <a:r>
              <a:rPr lang="en-US" sz="1300" dirty="0">
                <a:solidFill>
                  <a:srgbClr val="E6EAF0"/>
                </a:solidFill>
                <a:latin typeface="Segoe UI" pitchFamily="34" charset="0"/>
                <a:ea typeface="Segoe UI" pitchFamily="34" charset="-122"/>
                <a:cs typeface="Segoe UI" pitchFamily="34" charset="-120"/>
              </a:rPr>
              <a:t>1.57 km, 63% of it across ground we are not confident about.
</a:t>
            </a:r>
            <a:pPr indent="0" marL="0">
              <a:lnSpc>
                <a:spcPct val="130000"/>
              </a:lnSpc>
              <a:buNone/>
            </a:pPr>
            <a:r>
              <a:rPr lang="en-US" sz="1300" dirty="0">
                <a:solidFill>
                  <a:srgbClr val="7A8696"/>
                </a:solidFill>
                <a:latin typeface="Segoe UI" pitchFamily="34" charset="0"/>
                <a:ea typeface="Segoe UI" pitchFamily="34" charset="-122"/>
                <a:cs typeface="Segoe UI" pitchFamily="34" charset="-120"/>
              </a:rPr>
              <a:t>Safer: </a:t>
            </a:r>
            <a:pPr indent="0" marL="0">
              <a:lnSpc>
                <a:spcPct val="130000"/>
              </a:lnSpc>
              <a:buNone/>
            </a:pPr>
            <a:r>
              <a:rPr lang="en-US" sz="1300" dirty="0">
                <a:solidFill>
                  <a:srgbClr val="E6EAF0"/>
                </a:solidFill>
                <a:latin typeface="Segoe UI" pitchFamily="34" charset="0"/>
                <a:ea typeface="Segoe UI" pitchFamily="34" charset="-122"/>
                <a:cs typeface="Segoe UI" pitchFamily="34" charset="-120"/>
              </a:rPr>
              <a:t>2.02 km, 7% unknown — it routes around 18 low-confidence segments.
</a:t>
            </a:r>
            <a:pPr indent="0" marL="0">
              <a:lnSpc>
                <a:spcPct val="130000"/>
              </a:lnSpc>
              <a:buNone/>
            </a:pPr>
            <a:r>
              <a:rPr lang="en-US" sz="1300" b="1" dirty="0">
                <a:solidFill>
                  <a:srgbClr val="FFFFFF"/>
                </a:solidFill>
                <a:latin typeface="Segoe UI" pitchFamily="34" charset="0"/>
                <a:ea typeface="Segoe UI" pitchFamily="34" charset="-122"/>
                <a:cs typeface="Segoe UI" pitchFamily="34" charset="-120"/>
              </a:rPr>
              <a:t>Cost of the choice: +446 m, about 6 minutes.</a:t>
            </a:r>
            <a:endParaRPr lang="en-US" sz="1300" dirty="0"/>
          </a:p>
        </p:txBody>
      </p:sp>
      <p:sp>
        <p:nvSpPr>
          <p:cNvPr id="5" name="Shape 2"/>
          <p:cNvSpPr/>
          <p:nvPr/>
        </p:nvSpPr>
        <p:spPr>
          <a:xfrm>
            <a:off x="3241374" y="3063240"/>
            <a:ext cx="8520553" cy="3200400"/>
          </a:xfrm>
          <a:prstGeom prst="roundRect">
            <a:avLst>
              <a:gd name="adj" fmla="val 1714"/>
            </a:avLst>
          </a:prstGeom>
          <a:solidFill>
            <a:srgbClr val="1B232E"/>
          </a:solidFill>
          <a:ln w="12700">
            <a:solidFill>
              <a:srgbClr val="FFC107"/>
            </a:solidFill>
            <a:prstDash val="solid"/>
          </a:ln>
        </p:spPr>
      </p:sp>
      <p:sp>
        <p:nvSpPr>
          <p:cNvPr id="6" name="Text 3"/>
          <p:cNvSpPr/>
          <p:nvPr/>
        </p:nvSpPr>
        <p:spPr>
          <a:xfrm>
            <a:off x="3497406" y="3246120"/>
            <a:ext cx="8008489" cy="365760"/>
          </a:xfrm>
          <a:prstGeom prst="rect">
            <a:avLst/>
          </a:prstGeom>
          <a:noFill/>
          <a:ln/>
        </p:spPr>
        <p:txBody>
          <a:bodyPr wrap="square" rtlCol="0" anchor="ctr"/>
          <a:lstStyle/>
          <a:p>
            <a:pPr indent="0" marL="0">
              <a:buNone/>
            </a:pPr>
            <a:r>
              <a:rPr lang="en-US" sz="1400" b="1" dirty="0">
                <a:solidFill>
                  <a:srgbClr val="FFC107"/>
                </a:solidFill>
                <a:latin typeface="Segoe UI Semibold" pitchFamily="34" charset="0"/>
                <a:ea typeface="Segoe UI Semibold" pitchFamily="34" charset="-122"/>
                <a:cs typeface="Segoe UI Semibold" pitchFamily="34" charset="-120"/>
              </a:rPr>
              <a:t>And where the router cannot help</a:t>
            </a:r>
            <a:endParaRPr lang="en-US" sz="1400" dirty="0"/>
          </a:p>
        </p:txBody>
      </p:sp>
      <p:sp>
        <p:nvSpPr>
          <p:cNvPr id="7" name="Text 4"/>
          <p:cNvSpPr/>
          <p:nvPr/>
        </p:nvSpPr>
        <p:spPr>
          <a:xfrm>
            <a:off x="3497406" y="3657600"/>
            <a:ext cx="8008489" cy="2468880"/>
          </a:xfrm>
          <a:prstGeom prst="rect">
            <a:avLst/>
          </a:prstGeom>
          <a:noFill/>
          <a:ln/>
        </p:spPr>
        <p:txBody>
          <a:bodyPr wrap="square" rtlCol="0" anchor="t"/>
          <a:lstStyle/>
          <a:p>
            <a:pPr indent="0" marL="0">
              <a:lnSpc>
                <a:spcPct val="128000"/>
              </a:lnSpc>
              <a:buNone/>
            </a:pPr>
            <a:r>
              <a:rPr lang="en-US" sz="1200" dirty="0">
                <a:solidFill>
                  <a:srgbClr val="B1BAC6"/>
                </a:solidFill>
                <a:latin typeface="Segoe UI" pitchFamily="34" charset="0"/>
                <a:ea typeface="Segoe UI" pitchFamily="34" charset="-122"/>
                <a:cs typeface="Segoe UI" pitchFamily="34" charset="-120"/>
              </a:rPr>
              <a:t>Bypass test on the 25 worst segments — delete the segment, look for another way between its endpoints.
</a:t>
            </a:r>
            <a:pPr indent="0" marL="0">
              <a:lnSpc>
                <a:spcPct val="128000"/>
              </a:lnSpc>
              <a:buNone/>
            </a:pPr>
            <a:r>
              <a:rPr lang="en-US" sz="1200" dirty="0">
                <a:solidFill>
                  <a:srgbClr val="E6EAF0"/>
                </a:solidFill>
                <a:latin typeface="Segoe UI" pitchFamily="34" charset="0"/>
                <a:ea typeface="Segoe UI" pitchFamily="34" charset="-122"/>
                <a:cs typeface="Segoe UI" pitchFamily="34" charset="-120"/>
              </a:rPr>
              <a:t>6 have no walkable alternative at all. 19 need a detour over 3× the segment's length. Median 17.9×.
</a:t>
            </a:r>
            <a:pPr indent="0" marL="0">
              <a:lnSpc>
                <a:spcPct val="128000"/>
              </a:lnSpc>
              <a:buNone/>
            </a:pPr>
            <a:r>
              <a:rPr lang="en-US" sz="1200" dirty="0">
                <a:solidFill>
                  <a:srgbClr val="E6EAF0"/>
                </a:solidFill>
                <a:latin typeface="Segoe UI" pitchFamily="34" charset="0"/>
                <a:ea typeface="Segoe UI" pitchFamily="34" charset="-122"/>
                <a:cs typeface="Segoe UI" pitchFamily="34" charset="-120"/>
              </a:rPr>
              <a:t>One 167 m dark service road on the Outer Ring Road has exactly one alternative and it is 23 kilometres.
</a:t>
            </a:r>
            <a:pPr indent="0" marL="0">
              <a:lnSpc>
                <a:spcPct val="128000"/>
              </a:lnSpc>
              <a:buNone/>
            </a:pPr>
            <a:r>
              <a:rPr lang="en-US" sz="1200" b="1" dirty="0">
                <a:solidFill>
                  <a:srgbClr val="FFFFFF"/>
                </a:solidFill>
                <a:latin typeface="Segoe UI" pitchFamily="34" charset="0"/>
                <a:ea typeface="Segoe UI" pitchFamily="34" charset="-122"/>
                <a:cs typeface="Segoe UI" pitchFamily="34" charset="-120"/>
              </a:rPr>
              <a:t>On the streets that most need fixing there is nowhere else to walk. Routing cannot solve them. Only repair can.</a:t>
            </a:r>
            <a:endParaRPr lang="en-US" sz="1200" dirty="0"/>
          </a:p>
        </p:txBody>
      </p:sp>
      <p:sp>
        <p:nvSpPr>
          <p:cNvPr id="8" name="Text 5"/>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out/routes.json — queries[0] and noAlternative. Advisory, never a guarantee; the shortest route is always shown beside the safer one.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The empty state is the feature</a:t>
            </a:r>
            <a:endParaRPr lang="en-US" sz="3000" dirty="0"/>
          </a:p>
        </p:txBody>
      </p:sp>
      <p:pic>
        <p:nvPicPr>
          <p:cNvPr id="3" name="Image 0" descr="C:\Dev\hackathon\roshni\assets\screen-report.png">    </p:cNvPr>
          <p:cNvPicPr>
            <a:picLocks noChangeAspect="1"/>
          </p:cNvPicPr>
          <p:nvPr/>
        </p:nvPicPr>
        <p:blipFill>
          <a:blip r:embed="rId1"/>
          <a:stretch>
            <a:fillRect/>
          </a:stretch>
        </p:blipFill>
        <p:spPr>
          <a:xfrm>
            <a:off x="566928" y="1371600"/>
            <a:ext cx="2321100" cy="4892040"/>
          </a:xfrm>
          <a:prstGeom prst="rect">
            <a:avLst/>
          </a:prstGeom>
        </p:spPr>
      </p:pic>
      <p:sp>
        <p:nvSpPr>
          <p:cNvPr id="4" name="Text 1"/>
          <p:cNvSpPr/>
          <p:nvPr/>
        </p:nvSpPr>
        <p:spPr>
          <a:xfrm>
            <a:off x="3299508" y="1371600"/>
            <a:ext cx="8462419" cy="914400"/>
          </a:xfrm>
          <a:prstGeom prst="rect">
            <a:avLst/>
          </a:prstGeom>
          <a:noFill/>
          <a:ln/>
        </p:spPr>
        <p:txBody>
          <a:bodyPr wrap="square" rtlCol="0" anchor="t"/>
          <a:lstStyle/>
          <a:p>
            <a:pPr indent="0" marL="0">
              <a:lnSpc>
                <a:spcPct val="130000"/>
              </a:lnSpc>
              <a:buNone/>
            </a:pPr>
            <a:r>
              <a:rPr lang="en-US" sz="1400" b="1" dirty="0">
                <a:solidFill>
                  <a:srgbClr val="FFC107"/>
                </a:solidFill>
                <a:latin typeface="Segoe UI" pitchFamily="34" charset="0"/>
                <a:ea typeface="Segoe UI" pitchFamily="34" charset="-122"/>
                <a:cs typeface="Segoe UI" pitchFamily="34" charset="-120"/>
              </a:rPr>
              <a:t>Not “no reports yet.” </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It is </a:t>
            </a:r>
            <a:pPr indent="0" marL="0">
              <a:lnSpc>
                <a:spcPct val="130000"/>
              </a:lnSpc>
              <a:buNone/>
            </a:pPr>
            <a:r>
              <a:rPr lang="en-US" sz="1400" b="1" dirty="0">
                <a:solidFill>
                  <a:srgbClr val="FFFFFF"/>
                </a:solidFill>
                <a:latin typeface="Segoe UI" pitchFamily="34" charset="0"/>
                <a:ea typeface="Segoe UI" pitchFamily="34" charset="-122"/>
                <a:cs typeface="Segoe UI" pitchFamily="34" charset="-120"/>
              </a:rPr>
              <a:t>“streets worth checking tonight”</a:t>
            </a:r>
            <a:pPr indent="0" marL="0">
              <a:lnSpc>
                <a:spcPct val="130000"/>
              </a:lnSpc>
              <a:buNone/>
            </a:pPr>
            <a:r>
              <a:rPr lang="en-US" sz="1400" dirty="0">
                <a:solidFill>
                  <a:srgbClr val="E6EAF0"/>
                </a:solidFill>
                <a:latin typeface="Segoe UI" pitchFamily="34" charset="0"/>
                <a:ea typeface="Segoe UI" pitchFamily="34" charset="-122"/>
                <a:cs typeface="Segoe UI" pitchFamily="34" charset="-120"/>
              </a:rPr>
              <a:t> — the app directs reporting instead of waiting for it.</a:t>
            </a:r>
            <a:endParaRPr lang="en-US" sz="1400" dirty="0"/>
          </a:p>
        </p:txBody>
      </p:sp>
      <p:sp>
        <p:nvSpPr>
          <p:cNvPr id="5" name="Text 2"/>
          <p:cNvSpPr/>
          <p:nvPr/>
        </p:nvSpPr>
        <p:spPr>
          <a:xfrm>
            <a:off x="3299508" y="2377440"/>
            <a:ext cx="8462419" cy="1234440"/>
          </a:xfrm>
          <a:prstGeom prst="rect">
            <a:avLst/>
          </a:prstGeom>
          <a:noFill/>
          <a:ln/>
        </p:spPr>
        <p:txBody>
          <a:bodyPr wrap="square" rtlCol="0" anchor="t"/>
          <a:lstStyle/>
          <a:p>
            <a:pPr indent="0" marL="0">
              <a:lnSpc>
                <a:spcPct val="130000"/>
              </a:lnSpc>
              <a:buNone/>
            </a:pPr>
            <a:r>
              <a:rPr lang="en-US" sz="1300" b="1" dirty="0">
                <a:solidFill>
                  <a:srgbClr val="FFFFFF"/>
                </a:solidFill>
                <a:latin typeface="Segoe UI" pitchFamily="34" charset="0"/>
                <a:ea typeface="Segoe UI" pitchFamily="34" charset="-122"/>
                <a:cs typeface="Segoe UI" pitchFamily="34" charset="-120"/>
              </a:rPr>
              <a:t>94% of our 11,029 segments have no lamp evidence at all</a:t>
            </a:r>
            <a:pPr indent="0" marL="0">
              <a:lnSpc>
                <a:spcPct val="130000"/>
              </a:lnSpc>
              <a:buNone/>
            </a:pPr>
            <a:r>
              <a:rPr lang="en-US" sz="1300" dirty="0">
                <a:solidFill>
                  <a:srgbClr val="E6EAF0"/>
                </a:solidFill>
                <a:latin typeface="Segoe UI" pitchFamily="34" charset="0"/>
                <a:ea typeface="Segoe UI" pitchFamily="34" charset="-122"/>
                <a:cs typeface="Segoe UI" pitchFamily="34" charset="-120"/>
              </a:rPr>
              <a:t> and run on a ward prior alone. That is not a flaw we are hiding — it is why every segment carries a variance, and it is what this screen is for.</a:t>
            </a:r>
            <a:endParaRPr lang="en-US" sz="1300" dirty="0"/>
          </a:p>
        </p:txBody>
      </p:sp>
      <p:sp>
        <p:nvSpPr>
          <p:cNvPr id="6" name="Shape 3"/>
          <p:cNvSpPr/>
          <p:nvPr/>
        </p:nvSpPr>
        <p:spPr>
          <a:xfrm>
            <a:off x="3299508" y="3749040"/>
            <a:ext cx="8462419" cy="2514600"/>
          </a:xfrm>
          <a:prstGeom prst="roundRect">
            <a:avLst>
              <a:gd name="adj" fmla="val 2182"/>
            </a:avLst>
          </a:prstGeom>
          <a:solidFill>
            <a:srgbClr val="121820"/>
          </a:solidFill>
          <a:ln w="12700">
            <a:solidFill>
              <a:srgbClr val="26C6A6"/>
            </a:solidFill>
            <a:prstDash val="solid"/>
          </a:ln>
        </p:spPr>
      </p:sp>
      <p:sp>
        <p:nvSpPr>
          <p:cNvPr id="7" name="Text 4"/>
          <p:cNvSpPr/>
          <p:nvPr/>
        </p:nvSpPr>
        <p:spPr>
          <a:xfrm>
            <a:off x="3555540" y="3931920"/>
            <a:ext cx="7950355" cy="320040"/>
          </a:xfrm>
          <a:prstGeom prst="rect">
            <a:avLst/>
          </a:prstGeom>
          <a:noFill/>
          <a:ln/>
        </p:spPr>
        <p:txBody>
          <a:bodyPr wrap="square" rtlCol="0" anchor="ctr"/>
          <a:lstStyle/>
          <a:p>
            <a:pPr indent="0" marL="0">
              <a:buNone/>
            </a:pPr>
            <a:r>
              <a:rPr lang="en-US" sz="1300" b="1" dirty="0">
                <a:solidFill>
                  <a:srgbClr val="26C6A6"/>
                </a:solidFill>
                <a:latin typeface="Segoe UI Semibold" pitchFamily="34" charset="0"/>
                <a:ea typeface="Segoe UI Semibold" pitchFamily="34" charset="-122"/>
                <a:cs typeface="Segoe UI Semibold" pitchFamily="34" charset="-120"/>
              </a:rPr>
              <a:t>The learning curve, measured</a:t>
            </a:r>
            <a:endParaRPr lang="en-US" sz="1300" dirty="0"/>
          </a:p>
        </p:txBody>
      </p:sp>
      <p:sp>
        <p:nvSpPr>
          <p:cNvPr id="8" name="Text 5"/>
          <p:cNvSpPr/>
          <p:nvPr/>
        </p:nvSpPr>
        <p:spPr>
          <a:xfrm>
            <a:off x="3555540" y="4297680"/>
            <a:ext cx="7950355" cy="1828800"/>
          </a:xfrm>
          <a:prstGeom prst="rect">
            <a:avLst/>
          </a:prstGeom>
          <a:noFill/>
          <a:ln/>
        </p:spPr>
        <p:txBody>
          <a:bodyPr wrap="square" rtlCol="0" anchor="t"/>
          <a:lstStyle/>
          <a:p>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With zero reports the ranking already captures 56%</a:t>
            </a:r>
            <a:pPr indent="0" marL="0">
              <a:lnSpc>
                <a:spcPct val="125000"/>
              </a:lnSpc>
              <a:buNone/>
            </a:pPr>
            <a:r>
              <a:rPr lang="en-US" sz="1150" dirty="0">
                <a:solidFill>
                  <a:srgbClr val="E6EAF0"/>
                </a:solidFill>
                <a:latin typeface="Segoe UI" pitchFamily="34" charset="0"/>
                <a:ea typeface="Segoe UI" pitchFamily="34" charset="-122"/>
                <a:cs typeface="Segoe UI" pitchFamily="34" charset="-120"/>
              </a:rPr>
              <a:t> of what a perfectly-informed ranking would restore. 400 targeted reports take it to </a:t>
            </a:r>
            <a:pPr indent="0" marL="0">
              <a:lnSpc>
                <a:spcPct val="125000"/>
              </a:lnSpc>
              <a:buNone/>
            </a:pPr>
            <a:r>
              <a:rPr lang="en-US" sz="1150" b="1" dirty="0">
                <a:solidFill>
                  <a:srgbClr val="FFFFFF"/>
                </a:solidFill>
                <a:latin typeface="Segoe UI" pitchFamily="34" charset="0"/>
                <a:ea typeface="Segoe UI" pitchFamily="34" charset="-122"/>
                <a:cs typeface="Segoe UI" pitchFamily="34" charset="-120"/>
              </a:rPr>
              <a:t>76%</a:t>
            </a:r>
            <a:pPr indent="0" marL="0">
              <a:lnSpc>
                <a:spcPct val="125000"/>
              </a:lnSpc>
              <a:buNone/>
            </a:pPr>
            <a:r>
              <a:rPr lang="en-US" sz="1150" dirty="0">
                <a:solidFill>
                  <a:srgbClr val="E6EAF0"/>
                </a:solidFill>
                <a:latin typeface="Segoe UI" pitchFamily="34" charset="0"/>
                <a:ea typeface="Segoe UI" pitchFamily="34" charset="-122"/>
                <a:cs typeface="Segoe UI" pitchFamily="34" charset="-120"/>
              </a:rPr>
              <a:t>. 400 random reports reach only 63%.
</a:t>
            </a:r>
            <a:pPr indent="0" marL="0">
              <a:lnSpc>
                <a:spcPct val="125000"/>
              </a:lnSpc>
              <a:buNone/>
            </a:pPr>
            <a:r>
              <a:rPr lang="en-US" sz="1150" dirty="0">
                <a:solidFill>
                  <a:srgbClr val="B1BAC6"/>
                </a:solidFill>
                <a:latin typeface="Segoe UI" pitchFamily="34" charset="0"/>
                <a:ea typeface="Segoe UI" pitchFamily="34" charset="-122"/>
                <a:cs typeface="Segoe UI" pitchFamily="34" charset="-120"/>
              </a:rPr>
              <a:t>Our first targeting rule asked about the streets we knew least. Measured, it lost to random — those are streets no crew would be sent to. The rule that works asks about streets whose optimistic estimate would put them in the queue.</a:t>
            </a:r>
            <a:endParaRPr lang="en-US" sz="1150" dirty="0"/>
          </a:p>
        </p:txBody>
      </p:sp>
      <p:sp>
        <p:nvSpPr>
          <p:cNvPr id="9" name="Text 6"/>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out/curve.json — simulation, labelled as one. 690 of 11,029 segments carry any OSM lamp evidence.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How would you validate a footfall estimate with no official data?</a:t>
            </a:r>
            <a:endParaRPr lang="en-US" sz="3000" dirty="0"/>
          </a:p>
        </p:txBody>
      </p:sp>
      <p:sp>
        <p:nvSpPr>
          <p:cNvPr id="3" name="Text 1"/>
          <p:cNvSpPr/>
          <p:nvPr/>
        </p:nvSpPr>
        <p:spPr>
          <a:xfrm>
            <a:off x="566928" y="1417320"/>
            <a:ext cx="5029200" cy="2286000"/>
          </a:xfrm>
          <a:prstGeom prst="rect">
            <a:avLst/>
          </a:prstGeom>
          <a:noFill/>
          <a:ln/>
        </p:spPr>
        <p:txBody>
          <a:bodyPr wrap="square" rtlCol="0" anchor="t"/>
          <a:lstStyle/>
          <a:p>
            <a:pPr indent="0" marL="0">
              <a:lnSpc>
                <a:spcPct val="130000"/>
              </a:lnSpc>
              <a:buNone/>
            </a:pPr>
            <a:r>
              <a:rPr lang="en-US" sz="1250" dirty="0">
                <a:solidFill>
                  <a:srgbClr val="B1BAC6"/>
                </a:solidFill>
                <a:latin typeface="Segoe UI" pitchFamily="34" charset="0"/>
                <a:ea typeface="Segoe UI" pitchFamily="34" charset="-122"/>
                <a:cs typeface="Segoe UI" pitchFamily="34" charset="-120"/>
              </a:rPr>
              <a:t>They asked about validation, not features. Two structural points first.
</a:t>
            </a:r>
            <a:pPr indent="0" marL="0">
              <a:lnSpc>
                <a:spcPct val="130000"/>
              </a:lnSpc>
              <a:buNone/>
            </a:pPr>
            <a:r>
              <a:rPr lang="en-US" sz="1250" b="1" dirty="0">
                <a:solidFill>
                  <a:srgbClr val="FFC107"/>
                </a:solidFill>
                <a:latin typeface="Segoe UI" pitchFamily="34" charset="0"/>
                <a:ea typeface="Segoe UI" pitchFamily="34" charset="-122"/>
                <a:cs typeface="Segoe UI" pitchFamily="34" charset="-120"/>
              </a:rPr>
              <a:t>One. </a:t>
            </a:r>
            <a:pPr indent="0" marL="0">
              <a:lnSpc>
                <a:spcPct val="130000"/>
              </a:lnSpc>
              <a:buNone/>
            </a:pPr>
            <a:r>
              <a:rPr lang="en-US" sz="1250" dirty="0">
                <a:solidFill>
                  <a:srgbClr val="E6EAF0"/>
                </a:solidFill>
                <a:latin typeface="Segoe UI" pitchFamily="34" charset="0"/>
                <a:ea typeface="Segoe UI" pitchFamily="34" charset="-122"/>
                <a:cs typeface="Segoe UI" pitchFamily="34" charset="-120"/>
              </a:rPr>
              <a:t>Validation needs a signal you did not use to build the estimate. Build an index from POI density and “validate” it against POI density and the circularity is visible in ten seconds.
</a:t>
            </a:r>
            <a:pPr indent="0" marL="0">
              <a:lnSpc>
                <a:spcPct val="130000"/>
              </a:lnSpc>
              <a:buNone/>
            </a:pPr>
            <a:r>
              <a:rPr lang="en-US" sz="1250" b="1" dirty="0">
                <a:solidFill>
                  <a:srgbClr val="FFC107"/>
                </a:solidFill>
                <a:latin typeface="Segoe UI" pitchFamily="34" charset="0"/>
                <a:ea typeface="Segoe UI" pitchFamily="34" charset="-122"/>
                <a:cs typeface="Segoe UI" pitchFamily="34" charset="-120"/>
              </a:rPr>
              <a:t>Two. </a:t>
            </a:r>
            <a:pPr indent="0" marL="0">
              <a:lnSpc>
                <a:spcPct val="130000"/>
              </a:lnSpc>
              <a:buNone/>
            </a:pPr>
            <a:r>
              <a:rPr lang="en-US" sz="1250" dirty="0">
                <a:solidFill>
                  <a:srgbClr val="E6EAF0"/>
                </a:solidFill>
                <a:latin typeface="Segoe UI" pitchFamily="34" charset="0"/>
                <a:ea typeface="Segoe UI" pitchFamily="34" charset="-122"/>
                <a:cs typeface="Segoe UI" pitchFamily="34" charset="-120"/>
              </a:rPr>
              <a:t>You are validating an ordering, not a magnitude. “412 pedestrians an hour” is unfalsifiable. “These streets rank above those” is checkable.</a:t>
            </a:r>
            <a:endParaRPr lang="en-US" sz="1250" dirty="0"/>
          </a:p>
        </p:txBody>
      </p:sp>
      <p:sp>
        <p:nvSpPr>
          <p:cNvPr id="4" name="Text 2"/>
          <p:cNvSpPr/>
          <p:nvPr/>
        </p:nvSpPr>
        <p:spPr>
          <a:xfrm>
            <a:off x="566928" y="3840480"/>
            <a:ext cx="1371600" cy="502920"/>
          </a:xfrm>
          <a:prstGeom prst="rect">
            <a:avLst/>
          </a:prstGeom>
          <a:noFill/>
          <a:ln/>
        </p:spPr>
        <p:txBody>
          <a:bodyPr wrap="square" rtlCol="0" anchor="ct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Convergent</a:t>
            </a:r>
            <a:endParaRPr lang="en-US" sz="1200" dirty="0"/>
          </a:p>
        </p:txBody>
      </p:sp>
      <p:sp>
        <p:nvSpPr>
          <p:cNvPr id="5" name="Text 3"/>
          <p:cNvSpPr/>
          <p:nvPr/>
        </p:nvSpPr>
        <p:spPr>
          <a:xfrm>
            <a:off x="1938528" y="3840480"/>
            <a:ext cx="2468880" cy="502920"/>
          </a:xfrm>
          <a:prstGeom prst="rect">
            <a:avLst/>
          </a:prstGeom>
          <a:noFill/>
          <a:ln/>
        </p:spPr>
        <p:txBody>
          <a:bodyPr wrap="square" rtlCol="0" anchor="ctr"/>
          <a:lstStyle/>
          <a:p>
            <a:pPr indent="0" marL="0">
              <a:lnSpc>
                <a:spcPct val="105000"/>
              </a:lnSpc>
              <a:buNone/>
            </a:pPr>
            <a:r>
              <a:rPr lang="en-US" sz="1000" dirty="0">
                <a:solidFill>
                  <a:srgbClr val="B1BAC6"/>
                </a:solidFill>
                <a:latin typeface="Segoe UI" pitchFamily="34" charset="0"/>
                <a:ea typeface="Segoe UI" pitchFamily="34" charset="-122"/>
                <a:cs typeface="Segoe UI" pitchFamily="34" charset="-120"/>
              </a:rPr>
              <a:t>activity vs structural estimate, Spearman ρ</a:t>
            </a:r>
            <a:endParaRPr lang="en-US" sz="1000" dirty="0"/>
          </a:p>
        </p:txBody>
      </p:sp>
      <p:sp>
        <p:nvSpPr>
          <p:cNvPr id="6" name="Text 4"/>
          <p:cNvSpPr/>
          <p:nvPr/>
        </p:nvSpPr>
        <p:spPr>
          <a:xfrm>
            <a:off x="4453128" y="3840480"/>
            <a:ext cx="1691640" cy="502920"/>
          </a:xfrm>
          <a:prstGeom prst="rect">
            <a:avLst/>
          </a:prstGeom>
          <a:noFill/>
          <a:ln/>
        </p:spPr>
        <p:txBody>
          <a:bodyPr wrap="square" rtlCol="0" anchor="ctr"/>
          <a:lstStyle/>
          <a:p>
            <a:pPr algn="r" indent="0" marL="0">
              <a:buNone/>
            </a:pPr>
            <a:r>
              <a:rPr lang="en-US" sz="1150" dirty="0">
                <a:solidFill>
                  <a:srgbClr val="26C6A6"/>
                </a:solidFill>
                <a:latin typeface="Segoe UI Semibold" pitchFamily="34" charset="0"/>
                <a:ea typeface="Segoe UI Semibold" pitchFamily="34" charset="-122"/>
                <a:cs typeface="Segoe UI Semibold" pitchFamily="34" charset="-120"/>
              </a:rPr>
              <a:t>ρ = +0.302</a:t>
            </a:r>
            <a:endParaRPr lang="en-US" sz="1150" dirty="0"/>
          </a:p>
        </p:txBody>
      </p:sp>
      <p:sp>
        <p:nvSpPr>
          <p:cNvPr id="7" name="Text 5"/>
          <p:cNvSpPr/>
          <p:nvPr/>
        </p:nvSpPr>
        <p:spPr>
          <a:xfrm>
            <a:off x="566928" y="4416552"/>
            <a:ext cx="1371600" cy="502920"/>
          </a:xfrm>
          <a:prstGeom prst="rect">
            <a:avLst/>
          </a:prstGeom>
          <a:noFill/>
          <a:ln/>
        </p:spPr>
        <p:txBody>
          <a:bodyPr wrap="square" rtlCol="0" anchor="ct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Criterion</a:t>
            </a:r>
            <a:endParaRPr lang="en-US" sz="1200" dirty="0"/>
          </a:p>
        </p:txBody>
      </p:sp>
      <p:sp>
        <p:nvSpPr>
          <p:cNvPr id="8" name="Text 6"/>
          <p:cNvSpPr/>
          <p:nvPr/>
        </p:nvSpPr>
        <p:spPr>
          <a:xfrm>
            <a:off x="1938528" y="4416552"/>
            <a:ext cx="2468880" cy="502920"/>
          </a:xfrm>
          <a:prstGeom prst="rect">
            <a:avLst/>
          </a:prstGeom>
          <a:noFill/>
          <a:ln/>
        </p:spPr>
        <p:txBody>
          <a:bodyPr wrap="square" rtlCol="0" anchor="ctr"/>
          <a:lstStyle/>
          <a:p>
            <a:pPr indent="0" marL="0">
              <a:lnSpc>
                <a:spcPct val="105000"/>
              </a:lnSpc>
              <a:buNone/>
            </a:pPr>
            <a:r>
              <a:rPr lang="en-US" sz="1000" dirty="0">
                <a:solidFill>
                  <a:srgbClr val="B1BAC6"/>
                </a:solidFill>
                <a:latin typeface="Segoe UI" pitchFamily="34" charset="0"/>
                <a:ea typeface="Segoe UI" pitchFamily="34" charset="-122"/>
                <a:cs typeface="Segoe UI" pitchFamily="34" charset="-120"/>
              </a:rPr>
              <a:t>risk score vs night pedestrian crashes — never enters the model</a:t>
            </a:r>
            <a:endParaRPr lang="en-US" sz="1000" dirty="0"/>
          </a:p>
        </p:txBody>
      </p:sp>
      <p:sp>
        <p:nvSpPr>
          <p:cNvPr id="9" name="Text 7"/>
          <p:cNvSpPr/>
          <p:nvPr/>
        </p:nvSpPr>
        <p:spPr>
          <a:xfrm>
            <a:off x="4453128" y="4416552"/>
            <a:ext cx="1691640" cy="502920"/>
          </a:xfrm>
          <a:prstGeom prst="rect">
            <a:avLst/>
          </a:prstGeom>
          <a:noFill/>
          <a:ln/>
        </p:spPr>
        <p:txBody>
          <a:bodyPr wrap="square" rtlCol="0" anchor="ctr"/>
          <a:lstStyle/>
          <a:p>
            <a:pPr algn="r" indent="0" marL="0">
              <a:buNone/>
            </a:pPr>
            <a:r>
              <a:rPr lang="en-US" sz="1150" dirty="0">
                <a:solidFill>
                  <a:srgbClr val="7A8696"/>
                </a:solidFill>
                <a:latin typeface="Segoe UI Semibold" pitchFamily="34" charset="0"/>
                <a:ea typeface="Segoe UI Semibold" pitchFamily="34" charset="-122"/>
                <a:cs typeface="Segoe UI Semibold" pitchFamily="34" charset="-120"/>
              </a:rPr>
              <a:t>not yet measured</a:t>
            </a:r>
            <a:endParaRPr lang="en-US" sz="1150" dirty="0"/>
          </a:p>
        </p:txBody>
      </p:sp>
      <p:sp>
        <p:nvSpPr>
          <p:cNvPr id="10" name="Text 8"/>
          <p:cNvSpPr/>
          <p:nvPr/>
        </p:nvSpPr>
        <p:spPr>
          <a:xfrm>
            <a:off x="566928" y="4992624"/>
            <a:ext cx="1371600" cy="502920"/>
          </a:xfrm>
          <a:prstGeom prst="rect">
            <a:avLst/>
          </a:prstGeom>
          <a:noFill/>
          <a:ln/>
        </p:spPr>
        <p:txBody>
          <a:bodyPr wrap="square" rtlCol="0" anchor="ct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Ground truth</a:t>
            </a:r>
            <a:endParaRPr lang="en-US" sz="1200" dirty="0"/>
          </a:p>
        </p:txBody>
      </p:sp>
      <p:sp>
        <p:nvSpPr>
          <p:cNvPr id="11" name="Text 9"/>
          <p:cNvSpPr/>
          <p:nvPr/>
        </p:nvSpPr>
        <p:spPr>
          <a:xfrm>
            <a:off x="1938528" y="4992624"/>
            <a:ext cx="2468880" cy="502920"/>
          </a:xfrm>
          <a:prstGeom prst="rect">
            <a:avLst/>
          </a:prstGeom>
          <a:noFill/>
          <a:ln/>
        </p:spPr>
        <p:txBody>
          <a:bodyPr wrap="square" rtlCol="0" anchor="ctr"/>
          <a:lstStyle/>
          <a:p>
            <a:pPr indent="0" marL="0">
              <a:lnSpc>
                <a:spcPct val="105000"/>
              </a:lnSpc>
              <a:buNone/>
            </a:pPr>
            <a:r>
              <a:rPr lang="en-US" sz="1000" dirty="0">
                <a:solidFill>
                  <a:srgbClr val="B1BAC6"/>
                </a:solidFill>
                <a:latin typeface="Segoe UI" pitchFamily="34" charset="0"/>
                <a:ea typeface="Segoe UI" pitchFamily="34" charset="-122"/>
                <a:cs typeface="Segoe UI" pitchFamily="34" charset="-120"/>
              </a:rPr>
              <a:t>8 stratified segments, 5-min counts at 21:30</a:t>
            </a:r>
            <a:endParaRPr lang="en-US" sz="1000" dirty="0"/>
          </a:p>
        </p:txBody>
      </p:sp>
      <p:sp>
        <p:nvSpPr>
          <p:cNvPr id="12" name="Text 10"/>
          <p:cNvSpPr/>
          <p:nvPr/>
        </p:nvSpPr>
        <p:spPr>
          <a:xfrm>
            <a:off x="4453128" y="4992624"/>
            <a:ext cx="1691640" cy="502920"/>
          </a:xfrm>
          <a:prstGeom prst="rect">
            <a:avLst/>
          </a:prstGeom>
          <a:noFill/>
          <a:ln/>
        </p:spPr>
        <p:txBody>
          <a:bodyPr wrap="square" rtlCol="0" anchor="ctr"/>
          <a:lstStyle/>
          <a:p>
            <a:pPr algn="r" indent="0" marL="0">
              <a:buNone/>
            </a:pPr>
            <a:r>
              <a:rPr lang="en-US" sz="1150" dirty="0">
                <a:solidFill>
                  <a:srgbClr val="7A8696"/>
                </a:solidFill>
                <a:latin typeface="Segoe UI Semibold" pitchFamily="34" charset="0"/>
                <a:ea typeface="Segoe UI Semibold" pitchFamily="34" charset="-122"/>
                <a:cs typeface="Segoe UI Semibold" pitchFamily="34" charset="-120"/>
              </a:rPr>
              <a:t>not yet measured</a:t>
            </a:r>
            <a:endParaRPr lang="en-US" sz="1150" dirty="0"/>
          </a:p>
        </p:txBody>
      </p:sp>
      <p:sp>
        <p:nvSpPr>
          <p:cNvPr id="13" name="Text 11"/>
          <p:cNvSpPr/>
          <p:nvPr/>
        </p:nvSpPr>
        <p:spPr>
          <a:xfrm>
            <a:off x="566928" y="5568696"/>
            <a:ext cx="1371600" cy="502920"/>
          </a:xfrm>
          <a:prstGeom prst="rect">
            <a:avLst/>
          </a:prstGeom>
          <a:noFill/>
          <a:ln/>
        </p:spPr>
        <p:txBody>
          <a:bodyPr wrap="square" rtlCol="0" anchor="ctr"/>
          <a:lstStyle/>
          <a:p>
            <a:pPr indent="0" marL="0">
              <a:buNone/>
            </a:pPr>
            <a:r>
              <a:rPr lang="en-US" sz="1200" dirty="0">
                <a:solidFill>
                  <a:srgbClr val="FFFFFF"/>
                </a:solidFill>
                <a:latin typeface="Segoe UI Semibold" pitchFamily="34" charset="0"/>
                <a:ea typeface="Segoe UI Semibold" pitchFamily="34" charset="-122"/>
                <a:cs typeface="Segoe UI Semibold" pitchFamily="34" charset="-120"/>
              </a:rPr>
              <a:t>Transfer</a:t>
            </a:r>
            <a:endParaRPr lang="en-US" sz="1200" dirty="0"/>
          </a:p>
        </p:txBody>
      </p:sp>
      <p:sp>
        <p:nvSpPr>
          <p:cNvPr id="14" name="Text 12"/>
          <p:cNvSpPr/>
          <p:nvPr/>
        </p:nvSpPr>
        <p:spPr>
          <a:xfrm>
            <a:off x="1938528" y="5568696"/>
            <a:ext cx="2468880" cy="502920"/>
          </a:xfrm>
          <a:prstGeom prst="rect">
            <a:avLst/>
          </a:prstGeom>
          <a:noFill/>
          <a:ln/>
        </p:spPr>
        <p:txBody>
          <a:bodyPr wrap="square" rtlCol="0" anchor="ctr"/>
          <a:lstStyle/>
          <a:p>
            <a:pPr indent="0" marL="0">
              <a:lnSpc>
                <a:spcPct val="105000"/>
              </a:lnSpc>
              <a:buNone/>
            </a:pPr>
            <a:r>
              <a:rPr lang="en-US" sz="1000" dirty="0">
                <a:solidFill>
                  <a:srgbClr val="B1BAC6"/>
                </a:solidFill>
                <a:latin typeface="Segoe UI" pitchFamily="34" charset="0"/>
                <a:ea typeface="Segoe UI" pitchFamily="34" charset="-122"/>
                <a:cs typeface="Segoe UI" pitchFamily="34" charset="-120"/>
              </a:rPr>
              <a:t>fit where data exists, apply where it does not</a:t>
            </a:r>
            <a:endParaRPr lang="en-US" sz="1000" dirty="0"/>
          </a:p>
        </p:txBody>
      </p:sp>
      <p:sp>
        <p:nvSpPr>
          <p:cNvPr id="15" name="Text 13"/>
          <p:cNvSpPr/>
          <p:nvPr/>
        </p:nvSpPr>
        <p:spPr>
          <a:xfrm>
            <a:off x="4453128" y="5568696"/>
            <a:ext cx="1691640" cy="502920"/>
          </a:xfrm>
          <a:prstGeom prst="rect">
            <a:avLst/>
          </a:prstGeom>
          <a:noFill/>
          <a:ln/>
        </p:spPr>
        <p:txBody>
          <a:bodyPr wrap="square" rtlCol="0" anchor="ctr"/>
          <a:lstStyle/>
          <a:p>
            <a:pPr algn="r" indent="0" marL="0">
              <a:buNone/>
            </a:pPr>
            <a:r>
              <a:rPr lang="en-US" sz="1150" dirty="0">
                <a:solidFill>
                  <a:srgbClr val="B1BAC6"/>
                </a:solidFill>
                <a:latin typeface="Segoe UI Semibold" pitchFamily="34" charset="0"/>
                <a:ea typeface="Segoe UI Semibold" pitchFamily="34" charset="-122"/>
                <a:cs typeface="Segoe UI Semibold" pitchFamily="34" charset="-120"/>
              </a:rPr>
              <a:t>designed</a:t>
            </a:r>
            <a:endParaRPr lang="en-US" sz="1150" dirty="0"/>
          </a:p>
        </p:txBody>
      </p:sp>
      <p:sp>
        <p:nvSpPr>
          <p:cNvPr id="16" name="Shape 14"/>
          <p:cNvSpPr/>
          <p:nvPr/>
        </p:nvSpPr>
        <p:spPr>
          <a:xfrm>
            <a:off x="5989320" y="1371600"/>
            <a:ext cx="5623560" cy="4892040"/>
          </a:xfrm>
          <a:prstGeom prst="roundRect">
            <a:avLst>
              <a:gd name="adj" fmla="val 1121"/>
            </a:avLst>
          </a:prstGeom>
          <a:solidFill>
            <a:srgbClr val="121820"/>
          </a:solidFill>
          <a:ln w="12700">
            <a:solidFill>
              <a:srgbClr val="FFC107"/>
            </a:solidFill>
            <a:prstDash val="solid"/>
          </a:ln>
        </p:spPr>
      </p:sp>
      <p:sp>
        <p:nvSpPr>
          <p:cNvPr id="17" name="Text 15"/>
          <p:cNvSpPr/>
          <p:nvPr/>
        </p:nvSpPr>
        <p:spPr>
          <a:xfrm>
            <a:off x="6263640" y="1554480"/>
            <a:ext cx="5074920" cy="365760"/>
          </a:xfrm>
          <a:prstGeom prst="rect">
            <a:avLst/>
          </a:prstGeom>
          <a:noFill/>
          <a:ln/>
        </p:spPr>
        <p:txBody>
          <a:bodyPr wrap="square" rtlCol="0" anchor="ctr"/>
          <a:lstStyle/>
          <a:p>
            <a:pPr indent="0" marL="0">
              <a:buNone/>
            </a:pPr>
            <a:r>
              <a:rPr lang="en-US" sz="1500" b="1" dirty="0">
                <a:solidFill>
                  <a:srgbClr val="FFC107"/>
                </a:solidFill>
                <a:latin typeface="Segoe UI Semibold" pitchFamily="34" charset="0"/>
                <a:ea typeface="Segoe UI Semibold" pitchFamily="34" charset="-122"/>
                <a:cs typeface="Segoe UI Semibold" pitchFamily="34" charset="-120"/>
              </a:rPr>
              <a:t>We got a null. We went looking for why.</a:t>
            </a:r>
            <a:endParaRPr lang="en-US" sz="1500" dirty="0"/>
          </a:p>
        </p:txBody>
      </p:sp>
      <p:sp>
        <p:nvSpPr>
          <p:cNvPr id="18" name="Text 16"/>
          <p:cNvSpPr/>
          <p:nvPr/>
        </p:nvSpPr>
        <p:spPr>
          <a:xfrm>
            <a:off x="6263640" y="2057400"/>
            <a:ext cx="5074920" cy="292608"/>
          </a:xfrm>
          <a:prstGeom prst="rect">
            <a:avLst/>
          </a:prstGeom>
          <a:noFill/>
          <a:ln/>
        </p:spPr>
        <p:txBody>
          <a:bodyPr wrap="square" rtlCol="0" anchor="ct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ρ = 0.03</a:t>
            </a:r>
            <a:endParaRPr lang="en-US" sz="1250" dirty="0"/>
          </a:p>
        </p:txBody>
      </p:sp>
      <p:sp>
        <p:nvSpPr>
          <p:cNvPr id="19" name="Text 17"/>
          <p:cNvSpPr/>
          <p:nvPr/>
        </p:nvSpPr>
        <p:spPr>
          <a:xfrm>
            <a:off x="6263640" y="2331720"/>
            <a:ext cx="5074920" cy="320040"/>
          </a:xfrm>
          <a:prstGeom prst="rect">
            <a:avLst/>
          </a:prstGeom>
          <a:noFill/>
          <a:ln/>
        </p:spPr>
        <p:txBody>
          <a:bodyPr wrap="square" rtlCol="0" anchor="t"/>
          <a:lstStyle/>
          <a:p>
            <a:pPr indent="0" marL="0">
              <a:lnSpc>
                <a:spcPct val="122000"/>
              </a:lnSpc>
              <a:buNone/>
            </a:pPr>
            <a:r>
              <a:rPr lang="en-US" sz="1050" dirty="0">
                <a:solidFill>
                  <a:srgbClr val="B1BAC6"/>
                </a:solidFill>
                <a:latin typeface="Segoe UI" pitchFamily="34" charset="0"/>
                <a:ea typeface="Segoe UI" pitchFamily="34" charset="-122"/>
                <a:cs typeface="Segoe UI" pitchFamily="34" charset="-120"/>
              </a:rPr>
              <a:t>First answer. Two proxies that should have agreed didn't.</a:t>
            </a:r>
            <a:endParaRPr lang="en-US" sz="1050" dirty="0"/>
          </a:p>
        </p:txBody>
      </p:sp>
      <p:sp>
        <p:nvSpPr>
          <p:cNvPr id="20" name="Text 18"/>
          <p:cNvSpPr/>
          <p:nvPr/>
        </p:nvSpPr>
        <p:spPr>
          <a:xfrm>
            <a:off x="6263640" y="2798064"/>
            <a:ext cx="5074920" cy="292608"/>
          </a:xfrm>
          <a:prstGeom prst="rect">
            <a:avLst/>
          </a:prstGeom>
          <a:noFill/>
          <a:ln/>
        </p:spPr>
        <p:txBody>
          <a:bodyPr wrap="square" rtlCol="0" anchor="ct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The hunt</a:t>
            </a:r>
            <a:endParaRPr lang="en-US" sz="1250" dirty="0"/>
          </a:p>
        </p:txBody>
      </p:sp>
      <p:sp>
        <p:nvSpPr>
          <p:cNvPr id="21" name="Text 19"/>
          <p:cNvSpPr/>
          <p:nvPr/>
        </p:nvSpPr>
        <p:spPr>
          <a:xfrm>
            <a:off x="6263640" y="3072384"/>
            <a:ext cx="5074920" cy="713232"/>
          </a:xfrm>
          <a:prstGeom prst="rect">
            <a:avLst/>
          </a:prstGeom>
          <a:noFill/>
          <a:ln/>
        </p:spPr>
        <p:txBody>
          <a:bodyPr wrap="square" rtlCol="0" anchor="t"/>
          <a:lstStyle/>
          <a:p>
            <a:pPr indent="0" marL="0">
              <a:lnSpc>
                <a:spcPct val="122000"/>
              </a:lnSpc>
              <a:buNone/>
            </a:pPr>
            <a:r>
              <a:rPr lang="en-US" sz="1050" dirty="0">
                <a:solidFill>
                  <a:srgbClr val="B1BAC6"/>
                </a:solidFill>
                <a:latin typeface="Segoe UI" pitchFamily="34" charset="0"/>
                <a:ea typeface="Segoe UI" pitchFamily="34" charset="-122"/>
                <a:cs typeface="Segoe UI" pitchFamily="34" charset="-120"/>
              </a:rPr>
              <a:t>Instead of publishing it we went looking — and found the bug. We were keying the walk graph on rounded coordinates, so junctions where two roads genuinely meet were not merging.</a:t>
            </a:r>
            <a:endParaRPr lang="en-US" sz="1050" dirty="0"/>
          </a:p>
        </p:txBody>
      </p:sp>
      <p:sp>
        <p:nvSpPr>
          <p:cNvPr id="22" name="Text 20"/>
          <p:cNvSpPr/>
          <p:nvPr/>
        </p:nvSpPr>
        <p:spPr>
          <a:xfrm>
            <a:off x="6263640" y="3931920"/>
            <a:ext cx="5074920" cy="292608"/>
          </a:xfrm>
          <a:prstGeom prst="rect">
            <a:avLst/>
          </a:prstGeom>
          <a:noFill/>
          <a:ln/>
        </p:spPr>
        <p:txBody>
          <a:bodyPr wrap="square" rtlCol="0" anchor="ctr"/>
          <a:lstStyle/>
          <a:p>
            <a:pPr indent="0" marL="0">
              <a:buNone/>
            </a:pPr>
            <a:r>
              <a:rPr lang="en-US" sz="1250" b="1" dirty="0">
                <a:solidFill>
                  <a:srgbClr val="FFFFFF"/>
                </a:solidFill>
                <a:latin typeface="Segoe UI Semibold" pitchFamily="34" charset="0"/>
                <a:ea typeface="Segoe UI Semibold" pitchFamily="34" charset="-122"/>
                <a:cs typeface="Segoe UI Semibold" pitchFamily="34" charset="-120"/>
              </a:rPr>
              <a:t>55% → 98.4%</a:t>
            </a:r>
            <a:endParaRPr lang="en-US" sz="1250" dirty="0"/>
          </a:p>
        </p:txBody>
      </p:sp>
      <p:sp>
        <p:nvSpPr>
          <p:cNvPr id="23" name="Text 21"/>
          <p:cNvSpPr/>
          <p:nvPr/>
        </p:nvSpPr>
        <p:spPr>
          <a:xfrm>
            <a:off x="6263640" y="4206240"/>
            <a:ext cx="5074920" cy="713232"/>
          </a:xfrm>
          <a:prstGeom prst="rect">
            <a:avLst/>
          </a:prstGeom>
          <a:noFill/>
          <a:ln/>
        </p:spPr>
        <p:txBody>
          <a:bodyPr wrap="square" rtlCol="0" anchor="t"/>
          <a:lstStyle/>
          <a:p>
            <a:pPr indent="0" marL="0">
              <a:lnSpc>
                <a:spcPct val="122000"/>
              </a:lnSpc>
              <a:buNone/>
            </a:pPr>
            <a:r>
              <a:rPr lang="en-US" sz="1050" dirty="0">
                <a:solidFill>
                  <a:srgbClr val="B1BAC6"/>
                </a:solidFill>
                <a:latin typeface="Segoe UI" pitchFamily="34" charset="0"/>
                <a:ea typeface="Segoe UI" pitchFamily="34" charset="-122"/>
                <a:cs typeface="Segoe UI" pitchFamily="34" charset="-120"/>
              </a:rPr>
              <a:t>Our network had shattered into fragments and the betweenness feeding the model was computed over just over half of it. Keyed on OSM node ids instead, re-ran over eight times the area.</a:t>
            </a:r>
            <a:endParaRPr lang="en-US" sz="1050" dirty="0"/>
          </a:p>
        </p:txBody>
      </p:sp>
      <p:sp>
        <p:nvSpPr>
          <p:cNvPr id="24" name="Text 22"/>
          <p:cNvSpPr/>
          <p:nvPr/>
        </p:nvSpPr>
        <p:spPr>
          <a:xfrm>
            <a:off x="6263640" y="5065776"/>
            <a:ext cx="5074920" cy="292608"/>
          </a:xfrm>
          <a:prstGeom prst="rect">
            <a:avLst/>
          </a:prstGeom>
          <a:noFill/>
          <a:ln/>
        </p:spPr>
        <p:txBody>
          <a:bodyPr wrap="square" rtlCol="0" anchor="ctr"/>
          <a:lstStyle/>
          <a:p>
            <a:pPr indent="0" marL="0">
              <a:buNone/>
            </a:pPr>
            <a:r>
              <a:rPr lang="en-US" sz="1250" b="1" dirty="0">
                <a:solidFill>
                  <a:srgbClr val="26C6A6"/>
                </a:solidFill>
                <a:latin typeface="Segoe UI Semibold" pitchFamily="34" charset="0"/>
                <a:ea typeface="Segoe UI Semibold" pitchFamily="34" charset="-122"/>
                <a:cs typeface="Segoe UI Semibold" pitchFamily="34" charset="-120"/>
              </a:rPr>
              <a:t>ρ = 0.30, and 0.44 vs night bus departures</a:t>
            </a:r>
            <a:endParaRPr lang="en-US" sz="1250" dirty="0"/>
          </a:p>
        </p:txBody>
      </p:sp>
      <p:sp>
        <p:nvSpPr>
          <p:cNvPr id="25" name="Text 23"/>
          <p:cNvSpPr/>
          <p:nvPr/>
        </p:nvSpPr>
        <p:spPr>
          <a:xfrm>
            <a:off x="6263640" y="5340096"/>
            <a:ext cx="5074920" cy="713232"/>
          </a:xfrm>
          <a:prstGeom prst="rect">
            <a:avLst/>
          </a:prstGeom>
          <a:noFill/>
          <a:ln/>
        </p:spPr>
        <p:txBody>
          <a:bodyPr wrap="square" rtlCol="0" anchor="t"/>
          <a:lstStyle/>
          <a:p>
            <a:pPr indent="0" marL="0">
              <a:lnSpc>
                <a:spcPct val="122000"/>
              </a:lnSpc>
              <a:buNone/>
            </a:pPr>
            <a:r>
              <a:rPr lang="en-US" sz="1050" dirty="0">
                <a:solidFill>
                  <a:srgbClr val="B1BAC6"/>
                </a:solidFill>
                <a:latin typeface="Segoe UI" pitchFamily="34" charset="0"/>
                <a:ea typeface="Segoe UI" pitchFamily="34" charset="-122"/>
                <a:cs typeface="Segoe UI" pitchFamily="34" charset="-120"/>
              </a:rPr>
              <a:t>Two proxies built from unrelated inputs — one from night commerce, one from pure topology plus bus service — do not agree at 0.30 by accident.</a:t>
            </a:r>
            <a:endParaRPr lang="en-US" sz="1050" dirty="0"/>
          </a:p>
        </p:txBody>
      </p:sp>
      <p:sp>
        <p:nvSpPr>
          <p:cNvPr id="26" name="Text 24"/>
          <p:cNvSpPr/>
          <p:nvPr/>
        </p:nvSpPr>
        <p:spPr>
          <a:xfrm>
            <a:off x="6263640" y="5742432"/>
            <a:ext cx="5074920" cy="320040"/>
          </a:xfrm>
          <a:prstGeom prst="rect">
            <a:avLst/>
          </a:prstGeom>
          <a:noFill/>
          <a:ln/>
        </p:spPr>
        <p:txBody>
          <a:bodyPr wrap="square" rtlCol="0" anchor="ctr"/>
          <a:lstStyle/>
          <a:p>
            <a:pPr indent="0" marL="0">
              <a:buNone/>
            </a:pPr>
            <a:r>
              <a:rPr lang="en-US" sz="1150" i="1" dirty="0">
                <a:solidFill>
                  <a:srgbClr val="FFC107"/>
                </a:solidFill>
                <a:latin typeface="Segoe UI" pitchFamily="34" charset="0"/>
                <a:ea typeface="Segoe UI" pitchFamily="34" charset="-122"/>
                <a:cs typeface="Segoe UI" pitchFamily="34" charset="-120"/>
              </a:rPr>
              <a:t>It is a number we only deserve because we didn't ship the first one.</a:t>
            </a:r>
            <a:endParaRPr lang="en-US" sz="1150" dirty="0"/>
          </a:p>
        </p:txBody>
      </p:sp>
      <p:sp>
        <p:nvSpPr>
          <p:cNvPr id="27" name="Text 25"/>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out/stats.json. Negative controls and a night-bus finding: 405 stops in the bbox, 6,187 departures after 21:00 (6.1% of service), and 119 stops with no night service at all.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The data exists. It's one approval away.</a:t>
            </a:r>
            <a:endParaRPr lang="en-US" sz="3000" dirty="0"/>
          </a:p>
        </p:txBody>
      </p:sp>
      <p:sp>
        <p:nvSpPr>
          <p:cNvPr id="3" name="Text 1"/>
          <p:cNvSpPr/>
          <p:nvPr/>
        </p:nvSpPr>
        <p:spPr>
          <a:xfrm>
            <a:off x="566928" y="1417320"/>
            <a:ext cx="5212080" cy="292608"/>
          </a:xfrm>
          <a:prstGeom prst="rect">
            <a:avLst/>
          </a:prstGeom>
          <a:noFill/>
          <a:ln/>
        </p:spPr>
        <p:txBody>
          <a:bodyPr wrap="square" rtlCol="0" anchor="ctr"/>
          <a:lstStyle/>
          <a:p>
            <a:pPr indent="0" marL="0">
              <a:buNone/>
            </a:pPr>
            <a:r>
              <a:rPr lang="en-US" sz="1100" spc="100" kern="0" dirty="0">
                <a:solidFill>
                  <a:srgbClr val="26C6A6"/>
                </a:solidFill>
                <a:latin typeface="Segoe UI Semibold" pitchFamily="34" charset="0"/>
                <a:ea typeface="Segoe UI Semibold" pitchFamily="34" charset="-122"/>
                <a:cs typeface="Segoe UI Semibold" pitchFamily="34" charset="-120"/>
              </a:rPr>
              <a:t>HAVE — open, downloadable, in hand</a:t>
            </a:r>
            <a:endParaRPr lang="en-US" sz="1100" dirty="0"/>
          </a:p>
        </p:txBody>
      </p:sp>
      <p:sp>
        <p:nvSpPr>
          <p:cNvPr id="4" name="Text 2"/>
          <p:cNvSpPr/>
          <p:nvPr/>
        </p:nvSpPr>
        <p:spPr>
          <a:xfrm>
            <a:off x="566928" y="1783080"/>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126,974 grievances for 2025; six years available</a:t>
            </a:r>
            <a:endParaRPr lang="en-US" sz="1150" dirty="0"/>
          </a:p>
        </p:txBody>
      </p:sp>
      <p:sp>
        <p:nvSpPr>
          <p:cNvPr id="5" name="Text 3"/>
          <p:cNvSpPr/>
          <p:nvPr/>
        </p:nvSpPr>
        <p:spPr>
          <a:xfrm>
            <a:off x="566928" y="2167128"/>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1,211 mapped lamps in the demo bbox, 1,128 labelled working/not-working</a:t>
            </a:r>
            <a:endParaRPr lang="en-US" sz="1150" dirty="0"/>
          </a:p>
        </p:txBody>
      </p:sp>
      <p:sp>
        <p:nvSpPr>
          <p:cNvPr id="6" name="Text 4"/>
          <p:cNvSpPr/>
          <p:nvPr/>
        </p:nvSpPr>
        <p:spPr>
          <a:xfrm>
            <a:off x="566928" y="2551176"/>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Per-lamp KML for the ORR corridor and Bellandur/HSR</a:t>
            </a:r>
            <a:endParaRPr lang="en-US" sz="1150" dirty="0"/>
          </a:p>
        </p:txBody>
      </p:sp>
      <p:sp>
        <p:nvSpPr>
          <p:cNvPr id="7" name="Text 5"/>
          <p:cNvSpPr/>
          <p:nvPr/>
        </p:nvSpPr>
        <p:spPr>
          <a:xfrm>
            <a:off x="566928" y="2935224"/>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Lamp counts for all 198 wards — 421,113 lamps</a:t>
            </a:r>
            <a:endParaRPr lang="en-US" sz="1150" dirty="0"/>
          </a:p>
        </p:txBody>
      </p:sp>
      <p:sp>
        <p:nvSpPr>
          <p:cNvPr id="8" name="Text 6"/>
          <p:cNvSpPr/>
          <p:nvPr/>
        </p:nvSpPr>
        <p:spPr>
          <a:xfrm>
            <a:off x="566928" y="3319272"/>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BMTC GTFS with per-stop departure times</a:t>
            </a:r>
            <a:endParaRPr lang="en-US" sz="1150" dirty="0"/>
          </a:p>
        </p:txBody>
      </p:sp>
      <p:sp>
        <p:nvSpPr>
          <p:cNvPr id="9" name="Text 7"/>
          <p:cNvSpPr/>
          <p:nvPr/>
        </p:nvSpPr>
        <p:spPr>
          <a:xfrm>
            <a:off x="566928" y="3703320"/>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A two-date citizen lamp audit, 469 lamps</a:t>
            </a:r>
            <a:endParaRPr lang="en-US" sz="1150" dirty="0"/>
          </a:p>
        </p:txBody>
      </p:sp>
      <p:sp>
        <p:nvSpPr>
          <p:cNvPr id="10" name="Text 8"/>
          <p:cNvSpPr/>
          <p:nvPr/>
        </p:nvSpPr>
        <p:spPr>
          <a:xfrm>
            <a:off x="566928" y="4087368"/>
            <a:ext cx="5212080" cy="365760"/>
          </a:xfrm>
          <a:prstGeom prst="rect">
            <a:avLst/>
          </a:prstGeom>
          <a:noFill/>
          <a:ln/>
        </p:spPr>
        <p:txBody>
          <a:bodyPr wrap="square" rtlCol="0" anchor="ctr"/>
          <a:lstStyle/>
          <a:p>
            <a:pPr indent="0" marL="0">
              <a:buNone/>
            </a:pPr>
            <a:r>
              <a:rPr lang="en-US" sz="1150" dirty="0">
                <a:solidFill>
                  <a:srgbClr val="E6EAF0"/>
                </a:solidFill>
                <a:latin typeface="Segoe UI" pitchFamily="34" charset="0"/>
                <a:ea typeface="Segoe UI" pitchFamily="34" charset="-122"/>
                <a:cs typeface="Segoe UI" pitchFamily="34" charset="-120"/>
              </a:rPr>
              <a:t>•  Night pedestrian crash reports</a:t>
            </a:r>
            <a:endParaRPr lang="en-US" sz="1150" dirty="0"/>
          </a:p>
        </p:txBody>
      </p:sp>
      <p:sp>
        <p:nvSpPr>
          <p:cNvPr id="11" name="Text 9"/>
          <p:cNvSpPr/>
          <p:nvPr/>
        </p:nvSpPr>
        <p:spPr>
          <a:xfrm>
            <a:off x="6126480" y="1417320"/>
            <a:ext cx="5486400" cy="292608"/>
          </a:xfrm>
          <a:prstGeom prst="rect">
            <a:avLst/>
          </a:prstGeom>
          <a:noFill/>
          <a:ln/>
        </p:spPr>
        <p:txBody>
          <a:bodyPr wrap="square" rtlCol="0" anchor="ctr"/>
          <a:lstStyle/>
          <a:p>
            <a:pPr indent="0" marL="0">
              <a:buNone/>
            </a:pPr>
            <a:r>
              <a:rPr lang="en-US" sz="1100" spc="100" kern="0" dirty="0">
                <a:solidFill>
                  <a:srgbClr val="FFC107"/>
                </a:solidFill>
                <a:latin typeface="Segoe UI Semibold" pitchFamily="34" charset="0"/>
                <a:ea typeface="Segoe UI Semibold" pitchFamily="34" charset="-122"/>
                <a:cs typeface="Segoe UI Semibold" pitchFamily="34" charset="-120"/>
              </a:rPr>
              <a:t>GATED — catalogued, one approval away</a:t>
            </a:r>
            <a:endParaRPr lang="en-US" sz="1100" dirty="0"/>
          </a:p>
        </p:txBody>
      </p:sp>
      <p:sp>
        <p:nvSpPr>
          <p:cNvPr id="12" name="Text 10"/>
          <p:cNvSpPr/>
          <p:nvPr/>
        </p:nvSpPr>
        <p:spPr>
          <a:xfrm>
            <a:off x="6126480" y="1783080"/>
            <a:ext cx="5486400" cy="1371600"/>
          </a:xfrm>
          <a:prstGeom prst="rect">
            <a:avLst/>
          </a:prstGeom>
          <a:noFill/>
          <a:ln/>
        </p:spPr>
        <p:txBody>
          <a:bodyPr wrap="square" rtlCol="0" anchor="t"/>
          <a:lstStyle/>
          <a:p>
            <a:pPr indent="0" marL="0">
              <a:lnSpc>
                <a:spcPct val="125000"/>
              </a:lnSpc>
              <a:buNone/>
            </a:pPr>
            <a:r>
              <a:rPr lang="en-US" sz="1150" dirty="0">
                <a:solidFill>
                  <a:srgbClr val="E6EAF0"/>
                </a:solidFill>
                <a:latin typeface="Segoe UI" pitchFamily="34" charset="0"/>
                <a:ea typeface="Segoe UI" pitchFamily="34" charset="-122"/>
                <a:cs typeface="Segoe UI" pitchFamily="34" charset="-120"/>
              </a:rPr>
              <a:t>IUDX dataset 9b27c09f-1ec6-4acd-89f0-a27f23184017, published by the Electronics City Industrial Township Authority: “Streetlights Location Info in Electronic City, Bengaluru”, with an hourly current-and-voltage companion. Marked Private. The sample record is public:</a:t>
            </a:r>
            <a:endParaRPr lang="en-US" sz="1150" dirty="0"/>
          </a:p>
        </p:txBody>
      </p:sp>
      <p:sp>
        <p:nvSpPr>
          <p:cNvPr id="13" name="Shape 11"/>
          <p:cNvSpPr/>
          <p:nvPr/>
        </p:nvSpPr>
        <p:spPr>
          <a:xfrm>
            <a:off x="6126480" y="3200400"/>
            <a:ext cx="5486400" cy="777240"/>
          </a:xfrm>
          <a:prstGeom prst="roundRect">
            <a:avLst>
              <a:gd name="adj" fmla="val 7059"/>
            </a:avLst>
          </a:prstGeom>
          <a:solidFill>
            <a:srgbClr val="1B232E"/>
          </a:solidFill>
          <a:ln w="12700">
            <a:solidFill>
              <a:srgbClr val="232B36"/>
            </a:solidFill>
            <a:prstDash val="solid"/>
          </a:ln>
        </p:spPr>
      </p:sp>
      <p:sp>
        <p:nvSpPr>
          <p:cNvPr id="14" name="Text 12"/>
          <p:cNvSpPr/>
          <p:nvPr/>
        </p:nvSpPr>
        <p:spPr>
          <a:xfrm>
            <a:off x="6263640" y="3310128"/>
            <a:ext cx="5212080" cy="566928"/>
          </a:xfrm>
          <a:prstGeom prst="rect">
            <a:avLst/>
          </a:prstGeom>
          <a:noFill/>
          <a:ln/>
        </p:spPr>
        <p:txBody>
          <a:bodyPr wrap="square" rtlCol="0" anchor="t"/>
          <a:lstStyle/>
          <a:p>
            <a:pPr indent="0" marL="0">
              <a:lnSpc>
                <a:spcPct val="115000"/>
              </a:lnSpc>
              <a:buNone/>
            </a:pPr>
            <a:r>
              <a:rPr lang="en-US" sz="1050" dirty="0">
                <a:solidFill>
                  <a:srgbClr val="26C6A6"/>
                </a:solidFill>
                <a:latin typeface="Consolas" pitchFamily="34" charset="0"/>
                <a:ea typeface="Consolas" pitchFamily="34" charset="-122"/>
                <a:cs typeface="Consolas" pitchFamily="34" charset="-120"/>
              </a:rPr>
              <a:t>{"deviceID": "L0302", "location": {"type": "Point",</a:t>
            </a:r>
            <a:endParaRPr lang="en-US" sz="1050" dirty="0"/>
          </a:p>
          <a:p>
            <a:pPr indent="0" marL="0">
              <a:lnSpc>
                <a:spcPct val="115000"/>
              </a:lnSpc>
              <a:buNone/>
            </a:pPr>
            <a:r>
              <a:rPr lang="en-US" sz="1050" dirty="0">
                <a:solidFill>
                  <a:srgbClr val="26C6A6"/>
                </a:solidFill>
                <a:latin typeface="Consolas" pitchFamily="34" charset="0"/>
                <a:ea typeface="Consolas" pitchFamily="34" charset="-122"/>
                <a:cs typeface="Consolas" pitchFamily="34" charset="-120"/>
              </a:rPr>
              <a:t> coordinates": [77.666046, 12.841758]}}</a:t>
            </a:r>
            <a:endParaRPr lang="en-US" sz="1050" dirty="0"/>
          </a:p>
        </p:txBody>
      </p:sp>
      <p:sp>
        <p:nvSpPr>
          <p:cNvPr id="15" name="Text 13"/>
          <p:cNvSpPr/>
          <p:nvPr/>
        </p:nvSpPr>
        <p:spPr>
          <a:xfrm>
            <a:off x="6126480" y="4114800"/>
            <a:ext cx="5486400" cy="1874520"/>
          </a:xfrm>
          <a:prstGeom prst="rect">
            <a:avLst/>
          </a:prstGeom>
          <a:noFill/>
          <a:ln/>
        </p:spPr>
        <p:txBody>
          <a:bodyPr wrap="square" rtlCol="0" anchor="t"/>
          <a:lstStyle/>
          <a:p>
            <a:pPr indent="0" marL="0">
              <a:lnSpc>
                <a:spcPct val="128000"/>
              </a:lnSpc>
              <a:buNone/>
            </a:pPr>
            <a:r>
              <a:rPr lang="en-US" sz="1150" b="1" dirty="0">
                <a:solidFill>
                  <a:srgbClr val="FFFFFF"/>
                </a:solidFill>
                <a:latin typeface="Segoe UI" pitchFamily="34" charset="0"/>
                <a:ea typeface="Segoe UI" pitchFamily="34" charset="-122"/>
                <a:cs typeface="Segoe UI" pitchFamily="34" charset="-120"/>
              </a:rPr>
              <a:t>93 Indian cities publish streetlight counts through MoHUA. Zero publish coordinates</a:t>
            </a:r>
            <a:pPr indent="0" marL="0">
              <a:lnSpc>
                <a:spcPct val="128000"/>
              </a:lnSpc>
              <a:buNone/>
            </a:pPr>
            <a:r>
              <a:rPr lang="en-US" sz="1150" dirty="0">
                <a:solidFill>
                  <a:srgbClr val="E6EAF0"/>
                </a:solidFill>
                <a:latin typeface="Segoe UI" pitchFamily="34" charset="0"/>
                <a:ea typeface="Segoe UI" pitchFamily="34" charset="-122"/>
                <a:cs typeface="Segoe UI" pitchFamily="34" charset="-120"/>
              </a:rPr>
              <a:t> — the D24 template is a KPI return, not an asset register.</a:t>
            </a:r>
            <a:endParaRPr lang="en-US" sz="1150" dirty="0"/>
          </a:p>
          <a:p>
            <a:pPr indent="0" marL="0">
              <a:lnSpc>
                <a:spcPct val="128000"/>
              </a:lnSpc>
              <a:buNone/>
            </a:pPr>
            <a:endParaRPr lang="en-US" sz="1150" dirty="0"/>
          </a:p>
          <a:p>
            <a:pPr indent="0" marL="0">
              <a:lnSpc>
                <a:spcPct val="128000"/>
              </a:lnSpc>
              <a:buNone/>
            </a:pPr>
            <a:r>
              <a:rPr lang="en-US" sz="1150" dirty="0">
                <a:solidFill>
                  <a:srgbClr val="E6EAF0"/>
                </a:solidFill>
                <a:latin typeface="Segoe UI" pitchFamily="34" charset="0"/>
                <a:ea typeface="Segoe UI" pitchFamily="34" charset="-122"/>
                <a:cs typeface="Segoe UI" pitchFamily="34" charset="-120"/>
              </a:rPr>
              <a:t>So Roshni's lamp record </a:t>
            </a:r>
            <a:endParaRPr lang="en-US" sz="1150" dirty="0"/>
          </a:p>
          <a:p>
            <a:pPr indent="0" marL="0">
              <a:lnSpc>
                <a:spcPct val="128000"/>
              </a:lnSpc>
              <a:buNone/>
            </a:pPr>
            <a:r>
              <a:rPr lang="en-US" sz="1150" b="1" i="1" dirty="0">
                <a:solidFill>
                  <a:srgbClr val="FFFFFF"/>
                </a:solidFill>
                <a:latin typeface="Segoe UI" pitchFamily="34" charset="0"/>
                <a:ea typeface="Segoe UI" pitchFamily="34" charset="-122"/>
                <a:cs typeface="Segoe UI" pitchFamily="34" charset="-120"/>
              </a:rPr>
              <a:t>is</a:t>
            </a:r>
            <a:pPr indent="0" marL="0">
              <a:lnSpc>
                <a:spcPct val="128000"/>
              </a:lnSpc>
              <a:buNone/>
            </a:pPr>
            <a:r>
              <a:rPr lang="en-US" sz="1150" dirty="0">
                <a:solidFill>
                  <a:srgbClr val="E6EAF0"/>
                </a:solidFill>
                <a:latin typeface="Segoe UI" pitchFamily="34" charset="0"/>
                <a:ea typeface="Segoe UI" pitchFamily="34" charset="-122"/>
                <a:cs typeface="Segoe UI" pitchFamily="34" charset="-120"/>
              </a:rPr>
              <a:t> {deviceID, location} and its telemetry record </a:t>
            </a:r>
            <a:pPr indent="0" marL="0">
              <a:lnSpc>
                <a:spcPct val="128000"/>
              </a:lnSpc>
              <a:buNone/>
            </a:pPr>
            <a:r>
              <a:rPr lang="en-US" sz="1150" b="1" i="1" dirty="0">
                <a:solidFill>
                  <a:srgbClr val="FFFFFF"/>
                </a:solidFill>
                <a:latin typeface="Segoe UI" pitchFamily="34" charset="0"/>
                <a:ea typeface="Segoe UI" pitchFamily="34" charset="-122"/>
                <a:cs typeface="Segoe UI" pitchFamily="34" charset="-120"/>
              </a:rPr>
              <a:t>is</a:t>
            </a:r>
            <a:pPr indent="0" marL="0">
              <a:lnSpc>
                <a:spcPct val="128000"/>
              </a:lnSpc>
              <a:buNone/>
            </a:pPr>
            <a:r>
              <a:rPr lang="en-US" sz="1150" dirty="0">
                <a:solidFill>
                  <a:srgbClr val="E6EAF0"/>
                </a:solidFill>
                <a:latin typeface="Segoe UI" pitchFamily="34" charset="0"/>
                <a:ea typeface="Segoe UI" pitchFamily="34" charset="-122"/>
                <a:cs typeface="Segoe UI" pitchFamily="34" charset="-120"/>
              </a:rPr>
              <a:t> {deviceID, observationDateTime, current, voltage}, copied verbatim from IUDX. “We plug in the day access is granted” is a schema fact, not a promise.</a:t>
            </a:r>
            <a:endParaRPr lang="en-US" sz="1150" dirty="0"/>
          </a:p>
        </p:txBody>
      </p:sp>
      <p:sp>
        <p:nvSpPr>
          <p:cNvPr id="16" name="Text 14"/>
          <p:cNvSpPr/>
          <p:nvPr/>
        </p:nvSpPr>
        <p:spPr>
          <a:xfrm>
            <a:off x="566928" y="6254496"/>
            <a:ext cx="11057839" cy="310896"/>
          </a:xfrm>
          <a:prstGeom prst="rect">
            <a:avLst/>
          </a:prstGeom>
          <a:noFill/>
          <a:ln/>
        </p:spPr>
        <p:txBody>
          <a:bodyPr wrap="square" rtlCol="0" anchor="ctr"/>
          <a:lstStyle/>
          <a:p>
            <a:pPr indent="0" marL="0">
              <a:buNone/>
            </a:pPr>
            <a:r>
              <a:rPr lang="en-US" sz="1000" dirty="0">
                <a:solidFill>
                  <a:srgbClr val="7A8696"/>
                </a:solidFill>
                <a:latin typeface="Segoe UI" pitchFamily="34" charset="0"/>
                <a:ea typeface="Segoe UI" pitchFamily="34" charset="-122"/>
                <a:cs typeface="Segoe UI" pitchFamily="34" charset="-120"/>
              </a:rPr>
              <a:t>The IUDX feed covers Electronic City, which has 4 lamps mapped in OSM. OSM covers the ORR corridor, which has 1,211. Adjacent, non-overlapping ground — the fragmentation story in one line.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Four things we get wrong, on purpose, out loud</a:t>
            </a:r>
            <a:endParaRPr lang="en-US" sz="3000" dirty="0"/>
          </a:p>
        </p:txBody>
      </p:sp>
      <p:sp>
        <p:nvSpPr>
          <p:cNvPr id="3" name="Shape 1"/>
          <p:cNvSpPr/>
          <p:nvPr/>
        </p:nvSpPr>
        <p:spPr>
          <a:xfrm>
            <a:off x="566928" y="1453896"/>
            <a:ext cx="310896" cy="310896"/>
          </a:xfrm>
          <a:prstGeom prst="ellipse">
            <a:avLst/>
          </a:prstGeom>
          <a:solidFill>
            <a:srgbClr val="FFC107"/>
          </a:solidFill>
          <a:ln/>
        </p:spPr>
      </p:sp>
      <p:sp>
        <p:nvSpPr>
          <p:cNvPr id="4" name="Text 2"/>
          <p:cNvSpPr/>
          <p:nvPr/>
        </p:nvSpPr>
        <p:spPr>
          <a:xfrm>
            <a:off x="566928" y="1453896"/>
            <a:ext cx="310896" cy="310896"/>
          </a:xfrm>
          <a:prstGeom prst="rect">
            <a:avLst/>
          </a:prstGeom>
          <a:noFill/>
          <a:ln/>
        </p:spPr>
        <p:txBody>
          <a:bodyPr wrap="square" rtlCol="0" anchor="ctr"/>
          <a:lstStyle/>
          <a:p>
            <a:pPr algn="ctr" indent="0" marL="0">
              <a:buNone/>
            </a:pPr>
            <a:r>
              <a:rPr lang="en-US" sz="1200" b="1" dirty="0">
                <a:solidFill>
                  <a:srgbClr val="0B0F14"/>
                </a:solidFill>
                <a:latin typeface="Segoe UI Semibold" pitchFamily="34" charset="0"/>
                <a:ea typeface="Segoe UI Semibold" pitchFamily="34" charset="-122"/>
                <a:cs typeface="Segoe UI Semibold" pitchFamily="34" charset="-120"/>
              </a:rPr>
              <a:t>1</a:t>
            </a:r>
            <a:endParaRPr lang="en-US" sz="1200" dirty="0"/>
          </a:p>
        </p:txBody>
      </p:sp>
      <p:sp>
        <p:nvSpPr>
          <p:cNvPr id="5" name="Text 3"/>
          <p:cNvSpPr/>
          <p:nvPr/>
        </p:nvSpPr>
        <p:spPr>
          <a:xfrm>
            <a:off x="1024128" y="1417320"/>
            <a:ext cx="4572000" cy="685800"/>
          </a:xfrm>
          <a:prstGeom prst="rect">
            <a:avLst/>
          </a:prstGeom>
          <a:noFill/>
          <a:ln/>
        </p:spPr>
        <p:txBody>
          <a:bodyPr wrap="square" rtlCol="0" anchor="t"/>
          <a:lstStyle/>
          <a:p>
            <a:pPr indent="0" marL="0">
              <a:lnSpc>
                <a:spcPct val="112000"/>
              </a:lnSpc>
              <a:buNone/>
            </a:pPr>
            <a:r>
              <a:rPr lang="en-US" sz="1300" b="1" dirty="0">
                <a:solidFill>
                  <a:srgbClr val="FFFFFF"/>
                </a:solidFill>
                <a:latin typeface="Segoe UI Semibold" pitchFamily="34" charset="0"/>
                <a:ea typeface="Segoe UI Semibold" pitchFamily="34" charset="-122"/>
                <a:cs typeface="Segoe UI Semibold" pitchFamily="34" charset="-120"/>
              </a:rPr>
              <a:t>94% of segments run on a ward prior alone</a:t>
            </a:r>
            <a:endParaRPr lang="en-US" sz="1300" dirty="0"/>
          </a:p>
        </p:txBody>
      </p:sp>
      <p:sp>
        <p:nvSpPr>
          <p:cNvPr id="6" name="Text 4"/>
          <p:cNvSpPr/>
          <p:nvPr/>
        </p:nvSpPr>
        <p:spPr>
          <a:xfrm>
            <a:off x="5486400" y="1417320"/>
            <a:ext cx="6275527" cy="1078992"/>
          </a:xfrm>
          <a:prstGeom prst="rect">
            <a:avLst/>
          </a:prstGeom>
          <a:noFill/>
          <a:ln/>
        </p:spPr>
        <p:txBody>
          <a:bodyPr wrap="square" rtlCol="0" anchor="t"/>
          <a:lstStyle/>
          <a:p>
            <a:pPr indent="0" marL="0">
              <a:lnSpc>
                <a:spcPct val="122000"/>
              </a:lnSpc>
              <a:buNone/>
            </a:pPr>
            <a:r>
              <a:rPr lang="en-US" sz="1100" dirty="0">
                <a:solidFill>
                  <a:srgbClr val="B1BAC6"/>
                </a:solidFill>
                <a:latin typeface="Segoe UI" pitchFamily="34" charset="0"/>
                <a:ea typeface="Segoe UI" pitchFamily="34" charset="-122"/>
                <a:cs typeface="Segoe UI" pitchFamily="34" charset="-120"/>
              </a:rPr>
              <a:t>Every one carries a confidence band that says so; the router avoids the least-certain fifth of the network and the report screen targets it. But most of the map is an estimate, and we would rather say that than have you find it.</a:t>
            </a:r>
            <a:endParaRPr lang="en-US" sz="1100" dirty="0"/>
          </a:p>
        </p:txBody>
      </p:sp>
      <p:sp>
        <p:nvSpPr>
          <p:cNvPr id="7" name="Shape 5"/>
          <p:cNvSpPr/>
          <p:nvPr/>
        </p:nvSpPr>
        <p:spPr>
          <a:xfrm>
            <a:off x="566928" y="2624328"/>
            <a:ext cx="310896" cy="310896"/>
          </a:xfrm>
          <a:prstGeom prst="ellipse">
            <a:avLst/>
          </a:prstGeom>
          <a:solidFill>
            <a:srgbClr val="FFC107"/>
          </a:solidFill>
          <a:ln/>
        </p:spPr>
      </p:sp>
      <p:sp>
        <p:nvSpPr>
          <p:cNvPr id="8" name="Text 6"/>
          <p:cNvSpPr/>
          <p:nvPr/>
        </p:nvSpPr>
        <p:spPr>
          <a:xfrm>
            <a:off x="566928" y="2624328"/>
            <a:ext cx="310896" cy="310896"/>
          </a:xfrm>
          <a:prstGeom prst="rect">
            <a:avLst/>
          </a:prstGeom>
          <a:noFill/>
          <a:ln/>
        </p:spPr>
        <p:txBody>
          <a:bodyPr wrap="square" rtlCol="0" anchor="ctr"/>
          <a:lstStyle/>
          <a:p>
            <a:pPr algn="ctr" indent="0" marL="0">
              <a:buNone/>
            </a:pPr>
            <a:r>
              <a:rPr lang="en-US" sz="1200" b="1" dirty="0">
                <a:solidFill>
                  <a:srgbClr val="0B0F14"/>
                </a:solidFill>
                <a:latin typeface="Segoe UI Semibold" pitchFamily="34" charset="0"/>
                <a:ea typeface="Segoe UI Semibold" pitchFamily="34" charset="-122"/>
                <a:cs typeface="Segoe UI Semibold" pitchFamily="34" charset="-120"/>
              </a:rPr>
              <a:t>2</a:t>
            </a:r>
            <a:endParaRPr lang="en-US" sz="1200" dirty="0"/>
          </a:p>
        </p:txBody>
      </p:sp>
      <p:sp>
        <p:nvSpPr>
          <p:cNvPr id="9" name="Text 7"/>
          <p:cNvSpPr/>
          <p:nvPr/>
        </p:nvSpPr>
        <p:spPr>
          <a:xfrm>
            <a:off x="1024128" y="2587752"/>
            <a:ext cx="4572000" cy="685800"/>
          </a:xfrm>
          <a:prstGeom prst="rect">
            <a:avLst/>
          </a:prstGeom>
          <a:noFill/>
          <a:ln/>
        </p:spPr>
        <p:txBody>
          <a:bodyPr wrap="square" rtlCol="0" anchor="t"/>
          <a:lstStyle/>
          <a:p>
            <a:pPr indent="0" marL="0">
              <a:lnSpc>
                <a:spcPct val="112000"/>
              </a:lnSpc>
              <a:buNone/>
            </a:pPr>
            <a:r>
              <a:rPr lang="en-US" sz="1300" b="1" dirty="0">
                <a:solidFill>
                  <a:srgbClr val="FFFFFF"/>
                </a:solidFill>
                <a:latin typeface="Segoe UI Semibold" pitchFamily="34" charset="0"/>
                <a:ea typeface="Segoe UI Semibold" pitchFamily="34" charset="-122"/>
                <a:cs typeface="Segoe UI Semibold" pitchFamily="34" charset="-120"/>
              </a:rPr>
              <a:t>Our labelled lamps are geographically concentrated</a:t>
            </a:r>
            <a:endParaRPr lang="en-US" sz="1300" dirty="0"/>
          </a:p>
        </p:txBody>
      </p:sp>
      <p:sp>
        <p:nvSpPr>
          <p:cNvPr id="10" name="Text 8"/>
          <p:cNvSpPr/>
          <p:nvPr/>
        </p:nvSpPr>
        <p:spPr>
          <a:xfrm>
            <a:off x="5486400" y="2587752"/>
            <a:ext cx="6275527" cy="1078992"/>
          </a:xfrm>
          <a:prstGeom prst="rect">
            <a:avLst/>
          </a:prstGeom>
          <a:noFill/>
          <a:ln/>
        </p:spPr>
        <p:txBody>
          <a:bodyPr wrap="square" rtlCol="0" anchor="t"/>
          <a:lstStyle/>
          <a:p>
            <a:pPr indent="0" marL="0">
              <a:lnSpc>
                <a:spcPct val="122000"/>
              </a:lnSpc>
              <a:buNone/>
            </a:pPr>
            <a:r>
              <a:rPr lang="en-US" sz="1100" dirty="0">
                <a:solidFill>
                  <a:srgbClr val="B1BAC6"/>
                </a:solidFill>
                <a:latin typeface="Segoe UI" pitchFamily="34" charset="0"/>
                <a:ea typeface="Segoe UI" pitchFamily="34" charset="-122"/>
                <a:cs typeface="Segoe UI" pitchFamily="34" charset="-120"/>
              </a:rPr>
              <a:t>OSM's working/not-working tags come from citizen surveys, and those surveys walked some wards and not others — which is why our top forty cluster. We tested it: 6.4× restricted to surveyed wards, 5.4× with every label deleted. It survives, but the concentration shapes which streets we can be confident about.</a:t>
            </a:r>
            <a:endParaRPr lang="en-US" sz="1100" dirty="0"/>
          </a:p>
        </p:txBody>
      </p:sp>
      <p:sp>
        <p:nvSpPr>
          <p:cNvPr id="11" name="Shape 9"/>
          <p:cNvSpPr/>
          <p:nvPr/>
        </p:nvSpPr>
        <p:spPr>
          <a:xfrm>
            <a:off x="566928" y="3794760"/>
            <a:ext cx="310896" cy="310896"/>
          </a:xfrm>
          <a:prstGeom prst="ellipse">
            <a:avLst/>
          </a:prstGeom>
          <a:solidFill>
            <a:srgbClr val="FFC107"/>
          </a:solidFill>
          <a:ln/>
        </p:spPr>
      </p:sp>
      <p:sp>
        <p:nvSpPr>
          <p:cNvPr id="12" name="Text 10"/>
          <p:cNvSpPr/>
          <p:nvPr/>
        </p:nvSpPr>
        <p:spPr>
          <a:xfrm>
            <a:off x="566928" y="3794760"/>
            <a:ext cx="310896" cy="310896"/>
          </a:xfrm>
          <a:prstGeom prst="rect">
            <a:avLst/>
          </a:prstGeom>
          <a:noFill/>
          <a:ln/>
        </p:spPr>
        <p:txBody>
          <a:bodyPr wrap="square" rtlCol="0" anchor="ctr"/>
          <a:lstStyle/>
          <a:p>
            <a:pPr algn="ctr" indent="0" marL="0">
              <a:buNone/>
            </a:pPr>
            <a:r>
              <a:rPr lang="en-US" sz="1200" b="1" dirty="0">
                <a:solidFill>
                  <a:srgbClr val="0B0F14"/>
                </a:solidFill>
                <a:latin typeface="Segoe UI Semibold" pitchFamily="34" charset="0"/>
                <a:ea typeface="Segoe UI Semibold" pitchFamily="34" charset="-122"/>
                <a:cs typeface="Segoe UI Semibold" pitchFamily="34" charset="-120"/>
              </a:rPr>
              <a:t>3</a:t>
            </a:r>
            <a:endParaRPr lang="en-US" sz="1200" dirty="0"/>
          </a:p>
        </p:txBody>
      </p:sp>
      <p:sp>
        <p:nvSpPr>
          <p:cNvPr id="13" name="Text 11"/>
          <p:cNvSpPr/>
          <p:nvPr/>
        </p:nvSpPr>
        <p:spPr>
          <a:xfrm>
            <a:off x="1024128" y="3758184"/>
            <a:ext cx="4572000" cy="685800"/>
          </a:xfrm>
          <a:prstGeom prst="rect">
            <a:avLst/>
          </a:prstGeom>
          <a:noFill/>
          <a:ln/>
        </p:spPr>
        <p:txBody>
          <a:bodyPr wrap="square" rtlCol="0" anchor="t"/>
          <a:lstStyle/>
          <a:p>
            <a:pPr indent="0" marL="0">
              <a:lnSpc>
                <a:spcPct val="112000"/>
              </a:lnSpc>
              <a:buNone/>
            </a:pPr>
            <a:r>
              <a:rPr lang="en-US" sz="1300" b="1" dirty="0">
                <a:solidFill>
                  <a:srgbClr val="FFFFFF"/>
                </a:solidFill>
                <a:latin typeface="Segoe UI Semibold" pitchFamily="34" charset="0"/>
                <a:ea typeface="Segoe UI Semibold" pitchFamily="34" charset="-122"/>
                <a:cs typeface="Segoe UI Semibold" pitchFamily="34" charset="-120"/>
              </a:rPr>
              <a:t>OSM records opening_hours for 6.7% of POIs here</a:t>
            </a:r>
            <a:endParaRPr lang="en-US" sz="1300" dirty="0"/>
          </a:p>
        </p:txBody>
      </p:sp>
      <p:sp>
        <p:nvSpPr>
          <p:cNvPr id="14" name="Text 12"/>
          <p:cNvSpPr/>
          <p:nvPr/>
        </p:nvSpPr>
        <p:spPr>
          <a:xfrm>
            <a:off x="5486400" y="3758184"/>
            <a:ext cx="6275527" cy="1078992"/>
          </a:xfrm>
          <a:prstGeom prst="rect">
            <a:avLst/>
          </a:prstGeom>
          <a:noFill/>
          <a:ln/>
        </p:spPr>
        <p:txBody>
          <a:bodyPr wrap="square" rtlCol="0" anchor="t"/>
          <a:lstStyle/>
          <a:p>
            <a:pPr indent="0" marL="0">
              <a:lnSpc>
                <a:spcPct val="122000"/>
              </a:lnSpc>
              <a:buNone/>
            </a:pPr>
            <a:r>
              <a:rPr lang="en-US" sz="1100" dirty="0">
                <a:solidFill>
                  <a:srgbClr val="B1BAC6"/>
                </a:solidFill>
                <a:latin typeface="Segoe UI" pitchFamily="34" charset="0"/>
                <a:ea typeface="Segoe UI" pitchFamily="34" charset="-122"/>
                <a:cs typeface="Segoe UI" pitchFamily="34" charset="-120"/>
              </a:rPr>
              <a:t>78 of 1,157 in the core. So we cannot filter night activity by closing hour as designed; we weight by POI class instead. And Google's review counts, which we do not have, undercount thelas and tea stalls — exactly the population most exposed to dark streets.</a:t>
            </a:r>
            <a:endParaRPr lang="en-US" sz="1100" dirty="0"/>
          </a:p>
        </p:txBody>
      </p:sp>
      <p:sp>
        <p:nvSpPr>
          <p:cNvPr id="15" name="Shape 13"/>
          <p:cNvSpPr/>
          <p:nvPr/>
        </p:nvSpPr>
        <p:spPr>
          <a:xfrm>
            <a:off x="566928" y="4965192"/>
            <a:ext cx="310896" cy="310896"/>
          </a:xfrm>
          <a:prstGeom prst="ellipse">
            <a:avLst/>
          </a:prstGeom>
          <a:solidFill>
            <a:srgbClr val="FFC107"/>
          </a:solidFill>
          <a:ln/>
        </p:spPr>
      </p:sp>
      <p:sp>
        <p:nvSpPr>
          <p:cNvPr id="16" name="Text 14"/>
          <p:cNvSpPr/>
          <p:nvPr/>
        </p:nvSpPr>
        <p:spPr>
          <a:xfrm>
            <a:off x="566928" y="4965192"/>
            <a:ext cx="310896" cy="310896"/>
          </a:xfrm>
          <a:prstGeom prst="rect">
            <a:avLst/>
          </a:prstGeom>
          <a:noFill/>
          <a:ln/>
        </p:spPr>
        <p:txBody>
          <a:bodyPr wrap="square" rtlCol="0" anchor="ctr"/>
          <a:lstStyle/>
          <a:p>
            <a:pPr algn="ctr" indent="0" marL="0">
              <a:buNone/>
            </a:pPr>
            <a:r>
              <a:rPr lang="en-US" sz="1200" b="1" dirty="0">
                <a:solidFill>
                  <a:srgbClr val="0B0F14"/>
                </a:solidFill>
                <a:latin typeface="Segoe UI Semibold" pitchFamily="34" charset="0"/>
                <a:ea typeface="Segoe UI Semibold" pitchFamily="34" charset="-122"/>
                <a:cs typeface="Segoe UI Semibold" pitchFamily="34" charset="-120"/>
              </a:rPr>
              <a:t>4</a:t>
            </a:r>
            <a:endParaRPr lang="en-US" sz="1200" dirty="0"/>
          </a:p>
        </p:txBody>
      </p:sp>
      <p:sp>
        <p:nvSpPr>
          <p:cNvPr id="17" name="Text 15"/>
          <p:cNvSpPr/>
          <p:nvPr/>
        </p:nvSpPr>
        <p:spPr>
          <a:xfrm>
            <a:off x="1024128" y="4928616"/>
            <a:ext cx="4572000" cy="685800"/>
          </a:xfrm>
          <a:prstGeom prst="rect">
            <a:avLst/>
          </a:prstGeom>
          <a:noFill/>
          <a:ln/>
        </p:spPr>
        <p:txBody>
          <a:bodyPr wrap="square" rtlCol="0" anchor="t"/>
          <a:lstStyle/>
          <a:p>
            <a:pPr indent="0" marL="0">
              <a:lnSpc>
                <a:spcPct val="112000"/>
              </a:lnSpc>
              <a:buNone/>
            </a:pPr>
            <a:r>
              <a:rPr lang="en-US" sz="1300" b="1" dirty="0">
                <a:solidFill>
                  <a:srgbClr val="FFFFFF"/>
                </a:solidFill>
                <a:latin typeface="Segoe UI Semibold" pitchFamily="34" charset="0"/>
                <a:ea typeface="Segoe UI Semibold" pitchFamily="34" charset="-122"/>
                <a:cs typeface="Segoe UI Semibold" pitchFamily="34" charset="-120"/>
              </a:rPr>
              <a:t>Tree canopy and footpath existence</a:t>
            </a:r>
            <a:endParaRPr lang="en-US" sz="1300" dirty="0"/>
          </a:p>
        </p:txBody>
      </p:sp>
      <p:sp>
        <p:nvSpPr>
          <p:cNvPr id="18" name="Text 16"/>
          <p:cNvSpPr/>
          <p:nvPr/>
        </p:nvSpPr>
        <p:spPr>
          <a:xfrm>
            <a:off x="5486400" y="4928616"/>
            <a:ext cx="6275527" cy="1078992"/>
          </a:xfrm>
          <a:prstGeom prst="rect">
            <a:avLst/>
          </a:prstGeom>
          <a:noFill/>
          <a:ln/>
        </p:spPr>
        <p:txBody>
          <a:bodyPr wrap="square" rtlCol="0" anchor="t"/>
          <a:lstStyle/>
          <a:p>
            <a:pPr indent="0" marL="0">
              <a:lnSpc>
                <a:spcPct val="122000"/>
              </a:lnSpc>
              <a:buNone/>
            </a:pPr>
            <a:r>
              <a:rPr lang="en-US" sz="1100" dirty="0">
                <a:solidFill>
                  <a:srgbClr val="B1BAC6"/>
                </a:solidFill>
                <a:latin typeface="Segoe UI" pitchFamily="34" charset="0"/>
                <a:ea typeface="Segoe UI" pitchFamily="34" charset="-122"/>
                <a:cs typeface="Segoe UI" pitchFamily="34" charset="-120"/>
              </a:rPr>
              <a:t>Canopy is a large effect on how lit a Bengaluru street feels and we have no data for it at all. A lit road with no walkable footpath is not a safe pedestrian route, and OSM sidewalk coverage here is thin.</a:t>
            </a:r>
            <a:endParaRPr lang="en-US" sz="1100" dirty="0"/>
          </a:p>
        </p:txBody>
      </p:sp>
      <p:sp>
        <p:nvSpPr>
          <p:cNvPr id="19" name="Text 17"/>
          <p:cNvSpPr/>
          <p:nvPr/>
        </p:nvSpPr>
        <p:spPr>
          <a:xfrm>
            <a:off x="566928" y="6172200"/>
            <a:ext cx="11057839" cy="365760"/>
          </a:xfrm>
          <a:prstGeom prst="rect">
            <a:avLst/>
          </a:prstGeom>
          <a:noFill/>
          <a:ln/>
        </p:spPr>
        <p:txBody>
          <a:bodyPr wrap="square" rtlCol="0" anchor="ctr"/>
          <a:lstStyle/>
          <a:p>
            <a:pPr indent="0" marL="0">
              <a:buNone/>
            </a:pPr>
            <a:r>
              <a:rPr lang="en-US" sz="1100" i="1" dirty="0">
                <a:solidFill>
                  <a:srgbClr val="FFC107"/>
                </a:solidFill>
                <a:latin typeface="Segoe UI" pitchFamily="34" charset="0"/>
                <a:ea typeface="Segoe UI" pitchFamily="34" charset="-122"/>
                <a:cs typeface="Segoe UI" pitchFamily="34" charset="-120"/>
              </a:rPr>
              <a:t>VIIRS nighttime lights are 500 m per pixel — five to ten city blocks — so they cannot tell you a street is dark. We do not use them that way.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What another week buys</a:t>
            </a:r>
            <a:endParaRPr lang="en-US" sz="3000" dirty="0"/>
          </a:p>
        </p:txBody>
      </p:sp>
      <p:sp>
        <p:nvSpPr>
          <p:cNvPr id="3" name="Text 1"/>
          <p:cNvSpPr/>
          <p:nvPr/>
        </p:nvSpPr>
        <p:spPr>
          <a:xfrm>
            <a:off x="566928" y="1371600"/>
            <a:ext cx="6766560" cy="320040"/>
          </a:xfrm>
          <a:prstGeom prst="rect">
            <a:avLst/>
          </a:prstGeom>
          <a:noFill/>
          <a:ln/>
        </p:spPr>
        <p:txBody>
          <a:bodyPr wrap="square" rtlCol="0" anchor="ctr"/>
          <a:lstStyle/>
          <a:p>
            <a:pPr indent="0" marL="0">
              <a:buNone/>
            </a:pPr>
            <a:r>
              <a:rPr lang="en-US" sz="1200" i="1" dirty="0">
                <a:solidFill>
                  <a:srgbClr val="7A8696"/>
                </a:solidFill>
                <a:latin typeface="Segoe UI" pitchFamily="34" charset="0"/>
                <a:ea typeface="Segoe UI" pitchFamily="34" charset="-122"/>
                <a:cs typeface="Segoe UI" pitchFamily="34" charset="-120"/>
              </a:rPr>
              <a:t>Answered with what we would try to learn, not with features.</a:t>
            </a:r>
            <a:endParaRPr lang="en-US" sz="1200" dirty="0"/>
          </a:p>
        </p:txBody>
      </p:sp>
      <p:sp>
        <p:nvSpPr>
          <p:cNvPr id="4" name="Text 2"/>
          <p:cNvSpPr/>
          <p:nvPr/>
        </p:nvSpPr>
        <p:spPr>
          <a:xfrm>
            <a:off x="566928" y="1874520"/>
            <a:ext cx="6766560" cy="841248"/>
          </a:xfrm>
          <a:prstGeom prst="rect">
            <a:avLst/>
          </a:prstGeom>
          <a:noFill/>
          <a:ln/>
        </p:spPr>
        <p:txBody>
          <a:bodyPr wrap="square" rtlCol="0" anchor="t"/>
          <a:lstStyle/>
          <a:p>
            <a:pPr indent="0" marL="0">
              <a:lnSpc>
                <a:spcPct val="125000"/>
              </a:lnSpc>
              <a:buNone/>
            </a:pPr>
            <a:r>
              <a:rPr lang="en-US" sz="1250" dirty="0">
                <a:solidFill>
                  <a:srgbClr val="E6EAF0"/>
                </a:solidFill>
                <a:latin typeface="Segoe UI" pitchFamily="34" charset="0"/>
                <a:ea typeface="Segoe UI" pitchFamily="34" charset="-122"/>
                <a:cs typeface="Segoe UI" pitchFamily="34" charset="-120"/>
              </a:rPr>
              <a:t>→  Mine the Bengaluru Traffic Police crash reports and close the criterion-validation leg.</a:t>
            </a:r>
            <a:endParaRPr lang="en-US" sz="1250" dirty="0"/>
          </a:p>
        </p:txBody>
      </p:sp>
      <p:sp>
        <p:nvSpPr>
          <p:cNvPr id="5" name="Text 3"/>
          <p:cNvSpPr/>
          <p:nvPr/>
        </p:nvSpPr>
        <p:spPr>
          <a:xfrm>
            <a:off x="566928" y="2770632"/>
            <a:ext cx="6766560" cy="841248"/>
          </a:xfrm>
          <a:prstGeom prst="rect">
            <a:avLst/>
          </a:prstGeom>
          <a:noFill/>
          <a:ln/>
        </p:spPr>
        <p:txBody>
          <a:bodyPr wrap="square" rtlCol="0" anchor="t"/>
          <a:lstStyle/>
          <a:p>
            <a:pPr indent="0" marL="0">
              <a:lnSpc>
                <a:spcPct val="125000"/>
              </a:lnSpc>
              <a:buNone/>
            </a:pPr>
            <a:r>
              <a:rPr lang="en-US" sz="1250" dirty="0">
                <a:solidFill>
                  <a:srgbClr val="E6EAF0"/>
                </a:solidFill>
                <a:latin typeface="Segoe UI" pitchFamily="34" charset="0"/>
                <a:ea typeface="Segoe UI" pitchFamily="34" charset="-122"/>
                <a:cs typeface="Segoe UI" pitchFamily="34" charset="-120"/>
              </a:rPr>
              <a:t>→  Field pedestrian counts on stratified segments — is the ordering right?</a:t>
            </a:r>
            <a:endParaRPr lang="en-US" sz="1250" dirty="0"/>
          </a:p>
        </p:txBody>
      </p:sp>
      <p:sp>
        <p:nvSpPr>
          <p:cNvPr id="6" name="Text 4"/>
          <p:cNvSpPr/>
          <p:nvPr/>
        </p:nvSpPr>
        <p:spPr>
          <a:xfrm>
            <a:off x="566928" y="3666744"/>
            <a:ext cx="6766560" cy="841248"/>
          </a:xfrm>
          <a:prstGeom prst="rect">
            <a:avLst/>
          </a:prstGeom>
          <a:noFill/>
          <a:ln/>
        </p:spPr>
        <p:txBody>
          <a:bodyPr wrap="square" rtlCol="0" anchor="t"/>
          <a:lstStyle/>
          <a:p>
            <a:pPr indent="0" marL="0">
              <a:lnSpc>
                <a:spcPct val="125000"/>
              </a:lnSpc>
              <a:buNone/>
            </a:pPr>
            <a:r>
              <a:rPr lang="en-US" sz="1250" dirty="0">
                <a:solidFill>
                  <a:srgbClr val="E6EAF0"/>
                </a:solidFill>
                <a:latin typeface="Segoe UI" pitchFamily="34" charset="0"/>
                <a:ea typeface="Segoe UI" pitchFamily="34" charset="-122"/>
                <a:cs typeface="Segoe UI" pitchFamily="34" charset="-120"/>
              </a:rPr>
              <a:t>→  Fit the transfer model across wards of genuinely different urban form and report the degradation honestly. Where it does not transfer the system should refuse to guess and ask for a report — that behaviour is already built.</a:t>
            </a:r>
            <a:endParaRPr lang="en-US" sz="1250" dirty="0"/>
          </a:p>
        </p:txBody>
      </p:sp>
      <p:sp>
        <p:nvSpPr>
          <p:cNvPr id="7" name="Text 5"/>
          <p:cNvSpPr/>
          <p:nvPr/>
        </p:nvSpPr>
        <p:spPr>
          <a:xfrm>
            <a:off x="566928" y="4562856"/>
            <a:ext cx="6766560" cy="841248"/>
          </a:xfrm>
          <a:prstGeom prst="rect">
            <a:avLst/>
          </a:prstGeom>
          <a:noFill/>
          <a:ln/>
        </p:spPr>
        <p:txBody>
          <a:bodyPr wrap="square" rtlCol="0" anchor="t"/>
          <a:lstStyle/>
          <a:p>
            <a:pPr indent="0" marL="0">
              <a:lnSpc>
                <a:spcPct val="125000"/>
              </a:lnSpc>
              <a:buNone/>
            </a:pPr>
            <a:r>
              <a:rPr lang="en-US" sz="1250" dirty="0">
                <a:solidFill>
                  <a:srgbClr val="E6EAF0"/>
                </a:solidFill>
                <a:latin typeface="Segoe UI" pitchFamily="34" charset="0"/>
                <a:ea typeface="Segoe UI" pitchFamily="34" charset="-122"/>
                <a:cs typeface="Segoe UI" pitchFamily="34" charset="-120"/>
              </a:rPr>
              <a:t>→  Instrument the resolution loop. BBMP closes 96.4% of electrical complaints, and Roshni is the first thing that can ask: closed, or fixed? A ward line reading “11% of closures were not verified by anyone on the ground” is a metric a commissioner does not have today.</a:t>
            </a:r>
            <a:endParaRPr lang="en-US" sz="1250" dirty="0"/>
          </a:p>
        </p:txBody>
      </p:sp>
      <p:sp>
        <p:nvSpPr>
          <p:cNvPr id="8" name="Shape 6"/>
          <p:cNvSpPr/>
          <p:nvPr/>
        </p:nvSpPr>
        <p:spPr>
          <a:xfrm>
            <a:off x="7635240" y="1783080"/>
            <a:ext cx="3977640" cy="1920240"/>
          </a:xfrm>
          <a:prstGeom prst="roundRect">
            <a:avLst>
              <a:gd name="adj" fmla="val 2857"/>
            </a:avLst>
          </a:prstGeom>
          <a:solidFill>
            <a:srgbClr val="1B232E"/>
          </a:solidFill>
          <a:ln w="12700">
            <a:solidFill>
              <a:srgbClr val="FFC107"/>
            </a:solidFill>
            <a:prstDash val="solid"/>
          </a:ln>
        </p:spPr>
      </p:sp>
      <p:sp>
        <p:nvSpPr>
          <p:cNvPr id="9" name="Text 7"/>
          <p:cNvSpPr/>
          <p:nvPr/>
        </p:nvSpPr>
        <p:spPr>
          <a:xfrm>
            <a:off x="7863840" y="1938528"/>
            <a:ext cx="3520440" cy="320040"/>
          </a:xfrm>
          <a:prstGeom prst="rect">
            <a:avLst/>
          </a:prstGeom>
          <a:noFill/>
          <a:ln/>
        </p:spPr>
        <p:txBody>
          <a:bodyPr wrap="square" rtlCol="0" anchor="ctr"/>
          <a:lstStyle/>
          <a:p>
            <a:pPr indent="0" marL="0">
              <a:buNone/>
            </a:pPr>
            <a:r>
              <a:rPr lang="en-US" sz="1200" spc="100" kern="0" dirty="0">
                <a:solidFill>
                  <a:srgbClr val="7A8696"/>
                </a:solidFill>
                <a:latin typeface="Segoe UI Semibold" pitchFamily="34" charset="0"/>
                <a:ea typeface="Segoe UI Semibold" pitchFamily="34" charset="-122"/>
                <a:cs typeface="Segoe UI Semibold" pitchFamily="34" charset="-120"/>
              </a:rPr>
              <a:t>The ask</a:t>
            </a:r>
            <a:endParaRPr lang="en-US" sz="1200" dirty="0"/>
          </a:p>
        </p:txBody>
      </p:sp>
      <p:sp>
        <p:nvSpPr>
          <p:cNvPr id="10" name="Text 8"/>
          <p:cNvSpPr/>
          <p:nvPr/>
        </p:nvSpPr>
        <p:spPr>
          <a:xfrm>
            <a:off x="7863840" y="2286000"/>
            <a:ext cx="3520440" cy="1280160"/>
          </a:xfrm>
          <a:prstGeom prst="rect">
            <a:avLst/>
          </a:prstGeom>
          <a:noFill/>
          <a:ln/>
        </p:spPr>
        <p:txBody>
          <a:bodyPr wrap="square" rtlCol="0" anchor="t"/>
          <a:lstStyle/>
          <a:p>
            <a:pPr indent="0" marL="0">
              <a:lnSpc>
                <a:spcPct val="130000"/>
              </a:lnSpc>
              <a:buNone/>
            </a:pPr>
            <a:r>
              <a:rPr lang="en-US" sz="1400" dirty="0">
                <a:solidFill>
                  <a:srgbClr val="FFFFFF"/>
                </a:solidFill>
                <a:latin typeface="Segoe UI Semibold" pitchFamily="34" charset="0"/>
                <a:ea typeface="Segoe UI Semibold" pitchFamily="34" charset="-122"/>
                <a:cs typeface="Segoe UI Semibold" pitchFamily="34" charset="-120"/>
              </a:rPr>
              <a:t>The data exists, for our city, one approval away, and we already speak its schema.</a:t>
            </a:r>
            <a:endParaRPr lang="en-US" sz="1400" dirty="0"/>
          </a:p>
          <a:p>
            <a:pPr indent="0" marL="0">
              <a:lnSpc>
                <a:spcPct val="130000"/>
              </a:lnSpc>
              <a:buNone/>
            </a:pPr>
            <a:endParaRPr lang="en-US" sz="1400" dirty="0"/>
          </a:p>
          <a:p>
            <a:pPr indent="0" marL="0">
              <a:lnSpc>
                <a:spcPct val="130000"/>
              </a:lnSpc>
              <a:buNone/>
            </a:pPr>
            <a:r>
              <a:rPr lang="en-US" sz="1400" dirty="0">
                <a:solidFill>
                  <a:srgbClr val="FFFFFF"/>
                </a:solidFill>
                <a:latin typeface="Segoe UI Semibold" pitchFamily="34" charset="0"/>
                <a:ea typeface="Segoe UI Semibold" pitchFamily="34" charset="-122"/>
                <a:cs typeface="Segoe UI Semibold" pitchFamily="34" charset="-120"/>
              </a:rPr>
              <a:t>Approve the IUDX request.</a:t>
            </a:r>
            <a:endParaRPr lang="en-US" sz="1400" dirty="0"/>
          </a:p>
        </p:txBody>
      </p:sp>
      <p:sp>
        <p:nvSpPr>
          <p:cNvPr id="11" name="Text 9"/>
          <p:cNvSpPr/>
          <p:nvPr/>
        </p:nvSpPr>
        <p:spPr>
          <a:xfrm>
            <a:off x="7635240" y="3931920"/>
            <a:ext cx="3977640" cy="1737360"/>
          </a:xfrm>
          <a:prstGeom prst="rect">
            <a:avLst/>
          </a:prstGeom>
          <a:noFill/>
          <a:ln/>
        </p:spPr>
        <p:txBody>
          <a:bodyPr wrap="square" rtlCol="0" anchor="ctr"/>
          <a:lstStyle/>
          <a:p>
            <a:pPr algn="ctr" indent="0" marL="0">
              <a:buNone/>
            </a:pPr>
            <a:r>
              <a:rPr lang="en-US" sz="9600" b="1" dirty="0">
                <a:solidFill>
                  <a:srgbClr val="FFC107"/>
                </a:solidFill>
                <a:latin typeface="Segoe UI Semibold" pitchFamily="34" charset="0"/>
                <a:ea typeface="Segoe UI Semibold" pitchFamily="34" charset="-122"/>
                <a:cs typeface="Segoe UI Semibold" pitchFamily="34" charset="-120"/>
              </a:rPr>
              <a:t>7.7×</a:t>
            </a:r>
            <a:endParaRPr lang="en-US" sz="9600" dirty="0"/>
          </a:p>
        </p:txBody>
      </p:sp>
      <p:sp>
        <p:nvSpPr>
          <p:cNvPr id="12" name="Text 10"/>
          <p:cNvSpPr/>
          <p:nvPr/>
        </p:nvSpPr>
        <p:spPr>
          <a:xfrm>
            <a:off x="7635240" y="5715000"/>
            <a:ext cx="3977640" cy="320040"/>
          </a:xfrm>
          <a:prstGeom prst="rect">
            <a:avLst/>
          </a:prstGeom>
          <a:noFill/>
          <a:ln/>
        </p:spPr>
        <p:txBody>
          <a:bodyPr wrap="square" rtlCol="0" anchor="ctr"/>
          <a:lstStyle/>
          <a:p>
            <a:pPr algn="ctr" indent="0" marL="0">
              <a:buNone/>
            </a:pPr>
            <a:r>
              <a:rPr lang="en-US" sz="1050" dirty="0">
                <a:solidFill>
                  <a:srgbClr val="7A8696"/>
                </a:solidFill>
                <a:latin typeface="Segoe UI" pitchFamily="34" charset="0"/>
                <a:ea typeface="Segoe UI" pitchFamily="34" charset="-122"/>
                <a:cs typeface="Segoe UI" pitchFamily="34" charset="-120"/>
              </a:rPr>
              <a:t>First number they hear. Last number they hear.</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Appendix — design system</a:t>
            </a:r>
            <a:endParaRPr lang="en-US" sz="3000" dirty="0"/>
          </a:p>
        </p:txBody>
      </p:sp>
      <p:pic>
        <p:nvPicPr>
          <p:cNvPr id="3" name="Image 0" descr="C:\Dev\hackathon\roshni\assets\design-system.png">    </p:cNvPr>
          <p:cNvPicPr>
            <a:picLocks noChangeAspect="1"/>
          </p:cNvPicPr>
          <p:nvPr/>
        </p:nvPicPr>
        <p:blipFill>
          <a:blip r:embed="rId1"/>
          <a:stretch>
            <a:fillRect/>
          </a:stretch>
        </p:blipFill>
        <p:spPr>
          <a:xfrm>
            <a:off x="566928" y="1371600"/>
            <a:ext cx="3352800" cy="5029200"/>
          </a:xfrm>
          <a:prstGeom prst="rect">
            <a:avLst/>
          </a:prstGeom>
        </p:spPr>
      </p:pic>
      <p:sp>
        <p:nvSpPr>
          <p:cNvPr id="4" name="Text 1"/>
          <p:cNvSpPr/>
          <p:nvPr/>
        </p:nvSpPr>
        <p:spPr>
          <a:xfrm>
            <a:off x="4376928" y="1371600"/>
            <a:ext cx="7384999" cy="4846320"/>
          </a:xfrm>
          <a:prstGeom prst="rect">
            <a:avLst/>
          </a:prstGeom>
          <a:noFill/>
          <a:ln/>
        </p:spPr>
        <p:txBody>
          <a:bodyPr wrap="square" rtlCol="0" anchor="t"/>
          <a:lstStyle/>
          <a:p>
            <a:pPr indent="0" marL="0">
              <a:lnSpc>
                <a:spcPct val="132000"/>
              </a:lnSpc>
              <a:buNone/>
            </a:pPr>
            <a:r>
              <a:rPr lang="en-US" sz="1250" b="1" dirty="0">
                <a:solidFill>
                  <a:srgbClr val="FFC107"/>
                </a:solidFill>
                <a:latin typeface="Segoe UI" pitchFamily="34" charset="0"/>
                <a:ea typeface="Segoe UI" pitchFamily="34" charset="-122"/>
                <a:cs typeface="Segoe UI" pitchFamily="34" charset="-120"/>
              </a:rPr>
              <a:t>Confidence is the core visual variable, not severity.
</a:t>
            </a:r>
            <a:pPr indent="0" marL="0">
              <a:lnSpc>
                <a:spcPct val="132000"/>
              </a:lnSpc>
              <a:buNone/>
            </a:pPr>
            <a:r>
              <a:rPr lang="en-US" sz="1250" dirty="0">
                <a:solidFill>
                  <a:srgbClr val="E6EAF0"/>
                </a:solidFill>
                <a:latin typeface="Segoe UI" pitchFamily="34" charset="0"/>
                <a:ea typeface="Segoe UI" pitchFamily="34" charset="-122"/>
                <a:cs typeface="Segoe UI" pitchFamily="34" charset="-120"/>
              </a:rPr>
              <a:t>Four states, carried by texture rather than hue, so the map stays readable for the ~8% of male viewers with deuteranopia on exactly the comparison that matters:
</a:t>
            </a:r>
            <a:pPr indent="0" marL="0">
              <a:lnSpc>
                <a:spcPct val="132000"/>
              </a:lnSpc>
              <a:buNone/>
            </a:pPr>
            <a:r>
              <a:rPr lang="en-US" sz="1250" dirty="0">
                <a:solidFill>
                  <a:srgbClr val="FFFFFF"/>
                </a:solidFill>
                <a:latin typeface="Segoe UI" pitchFamily="34" charset="0"/>
                <a:ea typeface="Segoe UI" pitchFamily="34" charset="-122"/>
                <a:cs typeface="Segoe UI" pitchFamily="34" charset="-120"/>
              </a:rPr>
              <a:t>Solid — high confidence, use for decisions
Diagonal hatch — medium, use for planning
Dot pattern — low, use cautiously
Dashed outline — unknown, do not assume
</a:t>
            </a:r>
            <a:pPr indent="0" marL="0">
              <a:lnSpc>
                <a:spcPct val="132000"/>
              </a:lnSpc>
              <a:buNone/>
            </a:pPr>
            <a:r>
              <a:rPr lang="en-US" sz="1250" dirty="0">
                <a:solidFill>
                  <a:srgbClr val="E6EAF0"/>
                </a:solidFill>
                <a:latin typeface="Segoe UI" pitchFamily="34" charset="0"/>
                <a:ea typeface="Segoe UI" pitchFamily="34" charset="-122"/>
                <a:cs typeface="Segoe UI" pitchFamily="34" charset="-120"/>
              </a:rPr>
              <a:t>Darkness runs D0–D5 by lux band, from over 30 lux down to under 0.2. Dark-first, because the app is used at night, outdoors, on a phone.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F14"/>
        </a:solidFill>
      </p:bgPr>
    </p:bg>
    <p:spTree>
      <p:nvGrpSpPr>
        <p:cNvPr id="1" name=""/>
        <p:cNvGrpSpPr/>
        <p:nvPr/>
      </p:nvGrpSpPr>
      <p:grpSpPr>
        <a:xfrm>
          <a:off x="0" y="0"/>
          <a:ext cx="0" cy="0"/>
          <a:chOff x="0" y="0"/>
          <a:chExt cx="0" cy="0"/>
        </a:xfrm>
      </p:grpSpPr>
      <p:sp>
        <p:nvSpPr>
          <p:cNvPr id="2" name="Text 0"/>
          <p:cNvSpPr/>
          <p:nvPr/>
        </p:nvSpPr>
        <p:spPr>
          <a:xfrm>
            <a:off x="566928" y="566928"/>
            <a:ext cx="11057839" cy="868680"/>
          </a:xfrm>
          <a:prstGeom prst="rect">
            <a:avLst/>
          </a:prstGeom>
          <a:noFill/>
          <a:ln/>
        </p:spPr>
        <p:txBody>
          <a:bodyPr wrap="square" rtlCol="0" anchor="t"/>
          <a:lstStyle/>
          <a:p>
            <a:pPr indent="0" marL="0">
              <a:lnSpc>
                <a:spcPct val="100000"/>
              </a:lnSpc>
              <a:buNone/>
            </a:pPr>
            <a:r>
              <a:rPr lang="en-US" sz="3000" b="1" dirty="0">
                <a:solidFill>
                  <a:srgbClr val="FFFFFF"/>
                </a:solidFill>
                <a:latin typeface="Segoe UI Semibold" pitchFamily="34" charset="0"/>
                <a:ea typeface="Segoe UI Semibold" pitchFamily="34" charset="-122"/>
                <a:cs typeface="Segoe UI Semibold" pitchFamily="34" charset="-120"/>
              </a:rPr>
              <a:t>Appendix — every number, and where it came from</a:t>
            </a:r>
            <a:endParaRPr lang="en-US" sz="3000" dirty="0"/>
          </a:p>
        </p:txBody>
      </p:sp>
      <p:sp>
        <p:nvSpPr>
          <p:cNvPr id="3" name="Text 1"/>
          <p:cNvSpPr/>
          <p:nvPr/>
        </p:nvSpPr>
        <p:spPr>
          <a:xfrm>
            <a:off x="566928" y="1371600"/>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126,974 · 39,847 · 31.38% · 236/day</a:t>
            </a:r>
            <a:endParaRPr lang="en-US" sz="1150" dirty="0"/>
          </a:p>
        </p:txBody>
      </p:sp>
      <p:sp>
        <p:nvSpPr>
          <p:cNvPr id="4" name="Text 2"/>
          <p:cNvSpPr/>
          <p:nvPr/>
        </p:nvSpPr>
        <p:spPr>
          <a:xfrm>
            <a:off x="6537960" y="1371600"/>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bbmp_grievances_2025.csv</a:t>
            </a:r>
            <a:endParaRPr lang="en-US" sz="1000" dirty="0"/>
          </a:p>
        </p:txBody>
      </p:sp>
      <p:sp>
        <p:nvSpPr>
          <p:cNvPr id="5" name="Text 3"/>
          <p:cNvSpPr/>
          <p:nvPr/>
        </p:nvSpPr>
        <p:spPr>
          <a:xfrm>
            <a:off x="566928" y="1792224"/>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96.4% · 58.0% closure</a:t>
            </a:r>
            <a:endParaRPr lang="en-US" sz="1150" dirty="0"/>
          </a:p>
        </p:txBody>
      </p:sp>
      <p:sp>
        <p:nvSpPr>
          <p:cNvPr id="6" name="Text 4"/>
          <p:cNvSpPr/>
          <p:nvPr/>
        </p:nvSpPr>
        <p:spPr>
          <a:xfrm>
            <a:off x="6537960" y="1792224"/>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same file, Grievance Status</a:t>
            </a:r>
            <a:endParaRPr lang="en-US" sz="1000" dirty="0"/>
          </a:p>
        </p:txBody>
      </p:sp>
      <p:sp>
        <p:nvSpPr>
          <p:cNvPr id="7" name="Text 5"/>
          <p:cNvSpPr/>
          <p:nvPr/>
        </p:nvSpPr>
        <p:spPr>
          <a:xfrm>
            <a:off x="566928" y="2212848"/>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1,211 · 5,874 · 1,128 labelled · 4 in E-City</a:t>
            </a:r>
            <a:endParaRPr lang="en-US" sz="1150" dirty="0"/>
          </a:p>
        </p:txBody>
      </p:sp>
      <p:sp>
        <p:nvSpPr>
          <p:cNvPr id="8" name="Text 6"/>
          <p:cNvSpPr/>
          <p:nvPr/>
        </p:nvSpPr>
        <p:spPr>
          <a:xfrm>
            <a:off x="6537960" y="2212848"/>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OpenStreetMap via Overpass</a:t>
            </a:r>
            <a:endParaRPr lang="en-US" sz="1000" dirty="0"/>
          </a:p>
        </p:txBody>
      </p:sp>
      <p:sp>
        <p:nvSpPr>
          <p:cNvPr id="9" name="Text 7"/>
          <p:cNvSpPr/>
          <p:nvPr/>
        </p:nvSpPr>
        <p:spPr>
          <a:xfrm>
            <a:off x="566928" y="2633472"/>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421,113 lamps, 198 wards</a:t>
            </a:r>
            <a:endParaRPr lang="en-US" sz="1150" dirty="0"/>
          </a:p>
        </p:txBody>
      </p:sp>
      <p:sp>
        <p:nvSpPr>
          <p:cNvPr id="10" name="Text 8"/>
          <p:cNvSpPr/>
          <p:nvPr/>
        </p:nvSpPr>
        <p:spPr>
          <a:xfrm>
            <a:off x="6537960" y="2633472"/>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streetlights_by_ward.csv</a:t>
            </a:r>
            <a:endParaRPr lang="en-US" sz="1000" dirty="0"/>
          </a:p>
        </p:txBody>
      </p:sp>
      <p:sp>
        <p:nvSpPr>
          <p:cNvPr id="11" name="Text 9"/>
          <p:cNvSpPr/>
          <p:nvPr/>
        </p:nvSpPr>
        <p:spPr>
          <a:xfrm>
            <a:off x="566928" y="3054096"/>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4.0% · 45.9% · 8.0% equilibrium</a:t>
            </a:r>
            <a:endParaRPr lang="en-US" sz="1150" dirty="0"/>
          </a:p>
        </p:txBody>
      </p:sp>
      <p:sp>
        <p:nvSpPr>
          <p:cNvPr id="12" name="Text 10"/>
          <p:cNvSpPr/>
          <p:nvPr/>
        </p:nvSpPr>
        <p:spPr>
          <a:xfrm>
            <a:off x="6537960" y="3054096"/>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streetlights_vasanthanagar_2019.csv, 469 rows</a:t>
            </a:r>
            <a:endParaRPr lang="en-US" sz="1000" dirty="0"/>
          </a:p>
        </p:txBody>
      </p:sp>
      <p:sp>
        <p:nvSpPr>
          <p:cNvPr id="13" name="Text 11"/>
          <p:cNvSpPr/>
          <p:nvPr/>
        </p:nvSpPr>
        <p:spPr>
          <a:xfrm>
            <a:off x="566928" y="3474720"/>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405 stops · 6,187 night departures · 119 with none</a:t>
            </a:r>
            <a:endParaRPr lang="en-US" sz="1150" dirty="0"/>
          </a:p>
        </p:txBody>
      </p:sp>
      <p:sp>
        <p:nvSpPr>
          <p:cNvPr id="14" name="Text 12"/>
          <p:cNvSpPr/>
          <p:nvPr/>
        </p:nvSpPr>
        <p:spPr>
          <a:xfrm>
            <a:off x="6537960" y="3474720"/>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BMTC GTFS trip_list</a:t>
            </a:r>
            <a:endParaRPr lang="en-US" sz="1000" dirty="0"/>
          </a:p>
        </p:txBody>
      </p:sp>
      <p:sp>
        <p:nvSpPr>
          <p:cNvPr id="15" name="Text 13"/>
          <p:cNvSpPr/>
          <p:nvPr/>
        </p:nvSpPr>
        <p:spPr>
          <a:xfrm>
            <a:off x="566928" y="3895344"/>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11,029 segments · 1180 km · 94% prior-only</a:t>
            </a:r>
            <a:endParaRPr lang="en-US" sz="1150" dirty="0"/>
          </a:p>
        </p:txBody>
      </p:sp>
      <p:sp>
        <p:nvSpPr>
          <p:cNvPr id="16" name="Text 14"/>
          <p:cNvSpPr/>
          <p:nvPr/>
        </p:nvSpPr>
        <p:spPr>
          <a:xfrm>
            <a:off x="6537960" y="3895344"/>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data/pipeline.py → out/stats.json</a:t>
            </a:r>
            <a:endParaRPr lang="en-US" sz="1000" dirty="0"/>
          </a:p>
        </p:txBody>
      </p:sp>
      <p:sp>
        <p:nvSpPr>
          <p:cNvPr id="17" name="Text 15"/>
          <p:cNvSpPr/>
          <p:nvPr/>
        </p:nvSpPr>
        <p:spPr>
          <a:xfrm>
            <a:off x="566928" y="4315968"/>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ρ +0.302 · +0.436</a:t>
            </a:r>
            <a:endParaRPr lang="en-US" sz="1150" dirty="0"/>
          </a:p>
        </p:txBody>
      </p:sp>
      <p:sp>
        <p:nvSpPr>
          <p:cNvPr id="18" name="Text 16"/>
          <p:cNvSpPr/>
          <p:nvPr/>
        </p:nvSpPr>
        <p:spPr>
          <a:xfrm>
            <a:off x="6537960" y="4315968"/>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same</a:t>
            </a:r>
            <a:endParaRPr lang="en-US" sz="1000" dirty="0"/>
          </a:p>
        </p:txBody>
      </p:sp>
      <p:sp>
        <p:nvSpPr>
          <p:cNvPr id="19" name="Text 17"/>
          <p:cNvSpPr/>
          <p:nvPr/>
        </p:nvSpPr>
        <p:spPr>
          <a:xfrm>
            <a:off x="566928" y="4736592"/>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7.73× · 4.88× · 1.89× · 6.4× · 5.42×</a:t>
            </a:r>
            <a:endParaRPr lang="en-US" sz="1150" dirty="0"/>
          </a:p>
        </p:txBody>
      </p:sp>
      <p:sp>
        <p:nvSpPr>
          <p:cNvPr id="20" name="Text 18"/>
          <p:cNvSpPr/>
          <p:nvPr/>
        </p:nvSpPr>
        <p:spPr>
          <a:xfrm>
            <a:off x="6537960" y="4736592"/>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out/stats.json counterfactual + sensitivity</a:t>
            </a:r>
            <a:endParaRPr lang="en-US" sz="1000" dirty="0"/>
          </a:p>
        </p:txBody>
      </p:sp>
      <p:sp>
        <p:nvSpPr>
          <p:cNvPr id="21" name="Text 19"/>
          <p:cNvSpPr/>
          <p:nvPr/>
        </p:nvSpPr>
        <p:spPr>
          <a:xfrm>
            <a:off x="566928" y="5157216"/>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6 of 25 with no bypass · median 17.9×</a:t>
            </a:r>
            <a:endParaRPr lang="en-US" sz="1150" dirty="0"/>
          </a:p>
        </p:txBody>
      </p:sp>
      <p:sp>
        <p:nvSpPr>
          <p:cNvPr id="22" name="Text 20"/>
          <p:cNvSpPr/>
          <p:nvPr/>
        </p:nvSpPr>
        <p:spPr>
          <a:xfrm>
            <a:off x="6537960" y="5157216"/>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data/derive_screens.py → out/routes.json</a:t>
            </a:r>
            <a:endParaRPr lang="en-US" sz="1000" dirty="0"/>
          </a:p>
        </p:txBody>
      </p:sp>
      <p:sp>
        <p:nvSpPr>
          <p:cNvPr id="23" name="Text 21"/>
          <p:cNvSpPr/>
          <p:nvPr/>
        </p:nvSpPr>
        <p:spPr>
          <a:xfrm>
            <a:off x="566928" y="5577840"/>
            <a:ext cx="5852160" cy="384048"/>
          </a:xfrm>
          <a:prstGeom prst="rect">
            <a:avLst/>
          </a:prstGeom>
          <a:noFill/>
          <a:ln/>
        </p:spPr>
        <p:txBody>
          <a:bodyPr wrap="square" rtlCol="0" anchor="ctr"/>
          <a:lstStyle/>
          <a:p>
            <a:pPr indent="0" marL="0">
              <a:buNone/>
            </a:pPr>
            <a:r>
              <a:rPr lang="en-US" sz="1150" dirty="0">
                <a:solidFill>
                  <a:srgbClr val="FFFFFF"/>
                </a:solidFill>
                <a:latin typeface="Segoe UI" pitchFamily="34" charset="0"/>
                <a:ea typeface="Segoe UI" pitchFamily="34" charset="-122"/>
                <a:cs typeface="Segoe UI" pitchFamily="34" charset="-120"/>
              </a:rPr>
              <a:t>curve 56% → 76% targeted vs 63% random</a:t>
            </a:r>
            <a:endParaRPr lang="en-US" sz="1150" dirty="0"/>
          </a:p>
        </p:txBody>
      </p:sp>
      <p:sp>
        <p:nvSpPr>
          <p:cNvPr id="24" name="Text 22"/>
          <p:cNvSpPr/>
          <p:nvPr/>
        </p:nvSpPr>
        <p:spPr>
          <a:xfrm>
            <a:off x="6537960" y="5577840"/>
            <a:ext cx="5223967" cy="384048"/>
          </a:xfrm>
          <a:prstGeom prst="rect">
            <a:avLst/>
          </a:prstGeom>
          <a:noFill/>
          <a:ln/>
        </p:spPr>
        <p:txBody>
          <a:bodyPr wrap="square" rtlCol="0" anchor="ctr"/>
          <a:lstStyle/>
          <a:p>
            <a:pPr indent="0" marL="0">
              <a:buNone/>
            </a:pPr>
            <a:r>
              <a:rPr lang="en-US" sz="1000" dirty="0">
                <a:solidFill>
                  <a:srgbClr val="B1BAC6"/>
                </a:solidFill>
                <a:latin typeface="Consolas" pitchFamily="34" charset="0"/>
                <a:ea typeface="Consolas" pitchFamily="34" charset="-122"/>
                <a:cs typeface="Consolas" pitchFamily="34" charset="-120"/>
              </a:rPr>
              <a:t>out/curve.json</a:t>
            </a:r>
            <a:endParaRPr lang="en-US" sz="1000" dirty="0"/>
          </a:p>
        </p:txBody>
      </p:sp>
      <p:sp>
        <p:nvSpPr>
          <p:cNvPr id="25" name="Text 23"/>
          <p:cNvSpPr/>
          <p:nvPr/>
        </p:nvSpPr>
        <p:spPr>
          <a:xfrm>
            <a:off x="566928" y="6126480"/>
            <a:ext cx="11057839" cy="365760"/>
          </a:xfrm>
          <a:prstGeom prst="rect">
            <a:avLst/>
          </a:prstGeom>
          <a:noFill/>
          <a:ln/>
        </p:spPr>
        <p:txBody>
          <a:bodyPr wrap="square" rtlCol="0" anchor="ctr"/>
          <a:lstStyle/>
          <a:p>
            <a:pPr indent="0" marL="0">
              <a:buNone/>
            </a:pPr>
            <a:r>
              <a:rPr lang="en-US" sz="1100" i="1" dirty="0">
                <a:solidFill>
                  <a:srgbClr val="FFC107"/>
                </a:solidFill>
                <a:latin typeface="Segoe UI" pitchFamily="34" charset="0"/>
                <a:ea typeface="Segoe UI" pitchFamily="34" charset="-122"/>
                <a:cs typeface="Segoe UI" pitchFamily="34" charset="-120"/>
              </a:rPr>
              <a:t>Everything above is recomputed by two scripts and committed. Nothing is quoted from a blog post.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Roshni — the streetlight repair queue, reordered by who is actually walking</dc:title>
  <dc:subject>PptxGenJS Presentation</dc:subject>
  <dc:creator>Roshni</dc:creator>
  <cp:lastModifiedBy>Roshni</cp:lastModifiedBy>
  <cp:revision>1</cp:revision>
  <dcterms:created xsi:type="dcterms:W3CDTF">2026-08-21T23:39:05Z</dcterms:created>
  <dcterms:modified xsi:type="dcterms:W3CDTF">2026-08-21T23:39:05Z</dcterms:modified>
</cp:coreProperties>
</file>